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7" r:id="rId2"/>
    <p:sldId id="268" r:id="rId18"/>
    <p:sldId id="269" r:id="rId19"/>
    <p:sldId id="257" r:id="rId3"/>
    <p:sldId id="258" r:id="rId4"/>
    <p:sldId id="259" r:id="rId5"/>
    <p:sldId id="260" r:id="rId6"/>
    <p:sldId id="261" r:id="rId7"/>
    <p:sldId id="262" r:id="rId8"/>
    <p:sldId id="263" r:id="rId9"/>
    <p:sldId id="264" r:id="rId10"/>
    <p:sldId id="266" r:id="rId12"/>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4.xml"/><Relationship Id="rId4" Type="http://schemas.openxmlformats.org/officeDocument/2006/relationships/slide" Target="slides/slide5.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tsumugu_sys_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lineChart>
        <c:grouping val="standard"/>
        <c:varyColors val="0"/>
        <c:ser>
          <c:idx val="0"/>
          <c:order val="0"/>
          <c:tx>
            <c:strRef>
              <c:f>Sheet1!$B$1</c:f>
              <c:strCache>
                <c:ptCount val="1"/>
                <c:pt idx="0">
                  <c:v>政策金利（％）</c:v>
                </c:pt>
              </c:strCache>
            </c:strRef>
          </c:tx>
          <c:spPr>
            <a:ln w="38100" cap="flat">
              <a:solidFill>
                <a:srgbClr val="0017C1"/>
              </a:solidFill>
              <a:prstDash val="solid"/>
              <a:round/>
            </a:ln>
            <a:effectLst/>
          </c:spPr>
          <c:marker>
            <c:symbol val="circle"/>
            <c:size val="7"/>
            <c:spPr>
              <a:solidFill>
                <a:srgbClr val="0017C1"/>
              </a:solidFill>
              <a:ln w="9525" cap="flat">
                <a:solidFill>
                  <a:srgbClr val="0017C1"/>
                </a:solidFill>
                <a:prstDash val="solid"/>
                <a:round/>
              </a:ln>
              <a:effectLst/>
            </c:spPr>
          </c:marker>
          <c:cat>
            <c:strRef>
              <c:f>Sheet1!$A$2:$A$6</c:f>
              <c:strCache>
                <c:ptCount val="5"/>
                <c:pt idx="0">
                  <c:v>2016年1月
導入</c:v>
                </c:pt>
                <c:pt idx="1">
                  <c:v>2024年3月
解除</c:v>
                </c:pt>
                <c:pt idx="2">
                  <c:v>2024年7月</c:v>
                </c:pt>
                <c:pt idx="3">
                  <c:v>2025年1月</c:v>
                </c:pt>
                <c:pt idx="4">
                  <c:v>2026年6月</c:v>
                </c:pt>
              </c:strCache>
            </c:strRef>
          </c:cat>
          <c:val>
            <c:numRef>
              <c:f>Sheet1!$B$2:$B$6</c:f>
              <c:numCache>
                <c:formatCode>General</c:formatCode>
                <c:ptCount val="5"/>
                <c:pt idx="0">
                  <c:v>-0.1</c:v>
                </c:pt>
                <c:pt idx="1">
                  <c:v>0.1</c:v>
                </c:pt>
                <c:pt idx="2">
                  <c:v>0.25</c:v>
                </c:pt>
                <c:pt idx="3">
                  <c:v>0.5</c:v>
                </c:pt>
                <c:pt idx="4">
                  <c:v>1</c:v>
                </c:pt>
              </c:numCache>
            </c:numRef>
          </c:val>
          <c:smooth val="0"/>
          <c:extLst>
            <c:ext xmlns:c16="http://schemas.microsoft.com/office/drawing/2014/chart" uri="{C3380CC4-5D6E-409C-BE32-E72D297353CC}">
              <c16:uniqueId val="{00000000-2F8E-4551-93BF-3D2C6C51DB2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CCCCCC"/>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max val="1.25"/>
          <c:min val="-0.5"/>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CCCCCC"/>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前年同期</c:v>
                </c:pt>
              </c:strCache>
            </c:strRef>
          </c:tx>
          <c:spPr>
            <a:solidFill>
              <a:srgbClr val="CCCCCC"/>
            </a:solidFill>
            <a:effectLst/>
          </c:spPr>
          <c:invertIfNegative val="0"/>
          <c:cat>
            <c:strRef>
              <c:f>Sheet1!$A$2:$A$3</c:f>
              <c:strCache>
                <c:ptCount val="2"/>
                <c:pt idx="0">
                  <c:v>全国銀行平均</c:v>
                </c:pt>
                <c:pt idx="1">
                  <c:v>地方銀行（含む第二地銀）</c:v>
                </c:pt>
              </c:strCache>
            </c:strRef>
          </c:cat>
          <c:val>
            <c:numRef>
              <c:f>Sheet1!$B$2:$B$3</c:f>
              <c:numCache>
                <c:formatCode>General</c:formatCode>
                <c:ptCount val="2"/>
                <c:pt idx="0">
                  <c:v>60.6</c:v>
                </c:pt>
                <c:pt idx="1">
                  <c:v>73.900000000000006</c:v>
                </c:pt>
              </c:numCache>
            </c:numRef>
          </c:val>
          <c:extLst>
            <c:ext xmlns:c16="http://schemas.microsoft.com/office/drawing/2014/chart" uri="{C3380CC4-5D6E-409C-BE32-E72D297353CC}">
              <c16:uniqueId val="{00000000-95F5-4104-8396-0056E26B8A25}"/>
            </c:ext>
          </c:extLst>
        </c:ser>
        <c:ser>
          <c:idx val="1"/>
          <c:order val="1"/>
          <c:tx>
            <c:strRef>
              <c:f>Sheet1!$C$1</c:f>
              <c:strCache>
                <c:ptCount val="1"/>
                <c:pt idx="0">
                  <c:v>2026年1〜3月期</c:v>
                </c:pt>
              </c:strCache>
            </c:strRef>
          </c:tx>
          <c:spPr>
            <a:solidFill>
              <a:schemeClr val="accent1">
                <a:lumMod val="60000"/>
                <a:lumOff val="40000"/>
              </a:schemeClr>
            </a:solidFill>
            <a:effectLst/>
          </c:spPr>
          <c:invertIfNegative val="0"/>
          <c:cat>
            <c:strRef>
              <c:f>Sheet1!$A$2:$A$3</c:f>
              <c:strCache>
                <c:ptCount val="2"/>
                <c:pt idx="0">
                  <c:v>全国銀行平均</c:v>
                </c:pt>
                <c:pt idx="1">
                  <c:v>地方銀行（含む第二地銀）</c:v>
                </c:pt>
              </c:strCache>
            </c:strRef>
          </c:cat>
          <c:val>
            <c:numRef>
              <c:f>Sheet1!$C$2:$C$3</c:f>
              <c:numCache>
                <c:formatCode>General</c:formatCode>
                <c:ptCount val="2"/>
                <c:pt idx="0">
                  <c:v>62.6</c:v>
                </c:pt>
                <c:pt idx="1">
                  <c:v>75.8</c:v>
                </c:pt>
              </c:numCache>
            </c:numRef>
          </c:val>
          <c:extLst>
            <c:ext xmlns:c16="http://schemas.microsoft.com/office/drawing/2014/chart" uri="{C3380CC4-5D6E-409C-BE32-E72D297353CC}">
              <c16:uniqueId val="{00000001-95F5-4104-8396-0056E26B8A25}"/>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CCCCC"/>
            </a:solidFill>
            <a:prstDash val="solid"/>
            <a:round/>
          </a:ln>
        </c:spPr>
        <c:txPr>
          <a:bodyPr/>
          <a:lstStyle/>
          <a:p>
            <a:pPr>
              <a:defRPr sz="12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max val="9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CCCCCC"/>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66666"/>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Noto Sans JP"/>
              </a:defRPr>
            </a:pPr>
            <a:r>
              <a:rPr sz="1300" b="0" i="0" u="none" strike="noStrike">
                <a:solidFill>
                  <a:srgbClr val="1A1A1A"/>
                </a:solidFill>
                <a:latin typeface="Noto Sans JP"/>
              </a:rPr>
              <a:t>年ごとの効果と費用（中位・万円）</a:t>
            </a:r>
          </a:p>
        </c:rich>
      </c:tx>
      <c:layout/>
      <c:overlay val="0"/>
    </c:title>
    <c:autoTitleDeleted val="0"/>
    <c:plotArea>
      <c:layout/>
      <c:barChart>
        <c:barDir val="col"/>
        <c:grouping val="clustered"/>
        <c:varyColors val="0"/>
        <c:ser>
          <c:idx val="0"/>
          <c:order val="0"/>
          <c:tx>
            <c:strRef>
              <c:f>Sheet1!$B$1</c:f>
              <c:strCache>
                <c:ptCount val="1"/>
                <c:pt idx="0">
                  <c:v>効果</c:v>
                </c:pt>
              </c:strCache>
            </c:strRef>
          </c:tx>
          <c:spPr>
            <a:solidFill>
              <a:srgbClr val="0017C1"/>
            </a:solidFill>
            <a:effectLst/>
          </c:spPr>
          <c:invertIfNegative val="0"/>
          <c:dLbls>
            <c:numFmt formatCode="#,##0" sourceLinked="0"/>
            <c:txPr>
              <a:bodyPr/>
              <a:lstStyle/>
              <a:p>
                <a:pPr>
                  <a:defRPr b="0" i="0" strike="noStrike" sz="1100" u="none">
                    <a:solidFill>
                      <a:srgbClr val="1A1A1A"/>
                    </a:solidFill>
                    <a:latin typeface="Noto Sans JP"/>
                  </a:defRPr>
                </a:pPr>
              </a:p>
            </c:txPr>
            <c:showLegendKey val="0"/>
            <c:showVal val="1"/>
            <c:showCatName val="0"/>
            <c:showSerName val="0"/>
            <c:showPercent val="0"/>
            <c:showBubbleSize val="0"/>
            <c:showLeaderLines val="0"/>
          </c:dLbls>
          <c:cat>
            <c:multiLvlStrRef>
              <c:f>Sheet1!$A$2:$A$4</c:f>
              <c:multiLvlStrCache>
                <c:ptCount val="3"/>
                <c:lvl>
                  <c:pt idx="0">
                    <c:v>1 年目</c:v>
                  </c:pt>
                  <c:pt idx="1">
                    <c:v>2 年目</c:v>
                  </c:pt>
                  <c:pt idx="2">
                    <c:v>3 年目</c:v>
                  </c:pt>
                </c:lvl>
              </c:multiLvlStrCache>
            </c:multiLvlStrRef>
          </c:cat>
          <c:val>
            <c:numRef>
              <c:f>Sheet1!$B$2:$B$4</c:f>
              <c:numCache>
                <c:formatCode>General</c:formatCode>
                <c:ptCount val="3"/>
                <c:pt idx="0">
                  <c:v>3495</c:v>
                </c:pt>
                <c:pt idx="1">
                  <c:v>8155</c:v>
                </c:pt>
                <c:pt idx="2">
                  <c:v>11650</c:v>
                </c:pt>
              </c:numCache>
            </c:numRef>
          </c:val>
        </c:ser>
        <c:ser>
          <c:idx val="1"/>
          <c:order val="1"/>
          <c:tx>
            <c:strRef>
              <c:f>Sheet1!$C$1</c:f>
              <c:strCache>
                <c:ptCount val="1"/>
                <c:pt idx="0">
                  <c:v>費用</c:v>
                </c:pt>
              </c:strCache>
            </c:strRef>
          </c:tx>
          <c:spPr>
            <a:solidFill>
              <a:srgbClr val="BBBBBB"/>
            </a:solidFill>
            <a:effectLst/>
          </c:spPr>
          <c:invertIfNegative val="0"/>
          <c:dLbls>
            <c:numFmt formatCode="#,##0" sourceLinked="0"/>
            <c:txPr>
              <a:bodyPr/>
              <a:lstStyle/>
              <a:p>
                <a:pPr>
                  <a:defRPr b="0" i="0" strike="noStrike" sz="1100" u="none">
                    <a:solidFill>
                      <a:srgbClr val="1A1A1A"/>
                    </a:solidFill>
                    <a:latin typeface="Noto Sans JP"/>
                  </a:defRPr>
                </a:pPr>
              </a:p>
            </c:txPr>
            <c:showLegendKey val="0"/>
            <c:showVal val="1"/>
            <c:showCatName val="0"/>
            <c:showSerName val="0"/>
            <c:showPercent val="0"/>
            <c:showBubbleSize val="0"/>
            <c:showLeaderLines val="0"/>
          </c:dLbls>
          <c:cat>
            <c:multiLvlStrRef>
              <c:f>Sheet1!$A$2:$A$4</c:f>
              <c:multiLvlStrCache>
                <c:ptCount val="3"/>
                <c:lvl>
                  <c:pt idx="0">
                    <c:v>1 年目</c:v>
                  </c:pt>
                  <c:pt idx="1">
                    <c:v>2 年目</c:v>
                  </c:pt>
                  <c:pt idx="2">
                    <c:v>3 年目</c:v>
                  </c:pt>
                </c:lvl>
              </c:multiLvlStrCache>
            </c:multiLvlStrRef>
          </c:cat>
          <c:val>
            <c:numRef>
              <c:f>Sheet1!$C$2:$C$4</c:f>
              <c:numCache>
                <c:formatCode>General</c:formatCode>
                <c:ptCount val="3"/>
                <c:pt idx="0">
                  <c:v>3500</c:v>
                </c:pt>
                <c:pt idx="1">
                  <c:v>700</c:v>
                </c:pt>
                <c:pt idx="2">
                  <c:v>700</c:v>
                </c:pt>
              </c:numCache>
            </c:numRef>
          </c:val>
        </c:ser>
        <c:dLbls>
          <c:numFmt formatCode="#,##0" sourceLinked="0"/>
          <c:txPr>
            <a:bodyPr/>
            <a:lstStyle/>
            <a:p>
              <a:pPr>
                <a:defRPr b="0" i="0" strike="noStrike" sz="1100" u="none">
                  <a:solidFill>
                    <a:srgbClr val="1A1A1A"/>
                  </a:solidFill>
                  <a:latin typeface="Noto Sans JP"/>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66666"/>
                </a:solidFill>
                <a:latin typeface="Noto Sans JP"/>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6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latin typeface="Noto Sans JP"/>
              <a:cs typeface="Noto Sans JP"/>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1411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日本経済新聞「日銀0.75%へ利上げ決定、30年ぶり水準」、大和総研「政策金利1.00％への引き上げ～2026年6月の日銀金融政策決定会合～」、日本総研「2026年の地方銀行を取り巻くビジネス環境の展望」。グラフの節目は公表された利上げ時点を示す簡略図であり、各月の細かな変動は省略してい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出典：日本総研「銀行の預貸率上昇の２つの背景」（全国銀行60.6%→62.6%、地方銀行73.9%→75.8%、2026年1〜3月期・前年同期比）、同「2026年の地方銀行を取り巻くビジネス環境の展望」（小規模地銀の課題）。</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第1章のまとめ。環境変化（金利上昇・預貸率回復）から、第2章（現場の実態）への橋渡し。</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現場の実態として、気づきが記録・共有される保証がない構造を示す。第2章の起点。</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属人化が引き起こす弊害を3つに整理。過去の議論にある後継者不在・品質事故の予兆見逃しの構造と対応する。</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第2章のまとめ。第3章（解決の方向性）への橋渡し。</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第3章の起点。暗黙知を組織知に変えるための条件を整理。</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ソリューションコンセプト。与信管理ではなく支援目的であることを明記し、設計原則と整合させる。</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クロージング。冒頭の環境変化に立ち返り、次のアクションを提示する。デザイン：デジタル庁デザインシステムの資料をもとに、スライド用に編集・加工（https://design.digital.go.jp/）。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から。なぜ：貸出の機会が増えた今、地場企業とのつながりが差になるのに、地場企業は承継に不安を抱え、行内で承継に取り組める人は限られている。何を：ベテランの知見を言葉にし、LLMで経験の浅い担当者にも届けるツムグ。承継に取り組める人を増やします。どうやって：日報がクエリになり示唆が返る。事業の継続を意識した営業を文化にします。投資対効果：企業が続けば貸出が続き、支援は手数料にもなる。3年で費用4,900万円に対し中位で約2.3億円。一言でいうと、貸し続けられる環境を自ら作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トーリーの全体像です。外部環境：貸出の機会が増え、地場企業とのつながりが差になる一方、地場企業は承継問題を抱える。内部環境：承継に取り組める人は限られ、異動で知見は属人化している。そこでツムグ。ベテランの知見を言葉にし、LLMで経験の浅い担当者にも届けて、取り組める人を増やす。日報がクエリとなって示唆が返り、事業の継続を意識した営業が文化になる。企業が続けば貸出が続き、支援は手数料にもなる。そしてその先、銀行は地域のつなぎ役になる。融資するかしないかだけの銀行は先細る。だからこそ、貸し続けられる環境を自ら作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ここからシステムパート。前段で挙げた3つの条件に、ツムグがどう応えるかをお話しします。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段の3つの条件への答えです。残る：新しい欄はつくらず、いつもの日報を読む。書く手間は音声入力などで減らす。引き継がれる：前任者の記録を訪問前にまとめて読める。つながる：記録が重なったときだけ知らせ、人と事例につなぐ。判断は人が行い、与信や評価には使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関係の深さの話を、最初はなぜ事業承継に絞るのか。理由は3つ。廃業すると取引そのものが消える、兆しが数年かけて現れるので担当交代で消えやすい、そして行内に支援の出口がある。後継者不在は約半数、準備に最長10年、後継者難倒産の4割は不測の事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画面は3つの場面に分かれます。訪問前は予兆と根拠、次の世代につなぎたいもの、会話のヒント。訪問後は日報を登録すると判定・次にすること・相談する・参考にするが返ります。支店長と本部は、点数ではなく支援の段階で状況を見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術は講義で扱ったものが中心です。日報がクエリになり、AIが過去の記録・事例・人を集めて読み、予兆とアドバイスを書きます。ただし知らせるかどうかの線引きは、現場の知見を訳したルールで決めます。公開中のデモはキーを入れていないので、AIの部分は模擬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の構成です。担当者・支店長・本部は、SFAの画面の中のツムグの表示領域を使います。パイロットではStreamlitで模擬しています。日報を登録すると、処理の反応層が抽出から次の一手までを順に行います。日報とは別に、ナレッジ層が公的サイトを集め、TF-IDFの索引を作ります。データはSQLiteの1ファイルで、行内データ・日報・ナレッジ・判定・監査ログを持ちます。外とのつながりは、公的サイト、任意のLLM、最初に取り込む合成データの3つ。融資・格付け・人事評価のシステムとはつなぎ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予兆の判断は、データだけでも、一人のベテランの言葉だけでもありません。日報や担当の移り変わりといった記録の事実に、現場だからわかる知見、つまり何を予兆とみなすか、どう重なると意味があるか、いつ黙るかを当てはめます。ベテランの勘を言葉にして形式知にし、それを条件に訳して判定します。基準は本部が書いて見直し、現場でくり返し出ている話から予兆を増やし、担当者の反応で確かめる。一人の勘に頼らず、組織で育てる仕組み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入力はいつもの日報1件。登録すると、抽出・照合・判定・検索・人軸・次の一手の順に処理し、4つのまとまりで返します。データの行き先も決めています。日報は次に開く人の材料に、相談すると相手が記録を読めるようになり、すべての操作は監査ログに残ります。与信には流し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ライブデモ。①佐々木さんでカナイ精工を開き、前任者の記録と、次の世代につなぎたい技術（斎藤工場長の薄板加工）を見せる。②日報を登録。雑談の一言が過去の記録と重なって判定4に。伝聞は未確認の印。③太田電装では予兆が1つなので黙る。知らせないことも設計。④くり返し出ている話は本部が判断。⑤時間があれば支店長の対話の状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いちばん大きな変化は入力です。最初は日報とは別に一言や気づき欄を書いてもらう案でした。でも追加の入力は使われない。合成データを見直すと、予兆のもとは業務報告に書かれる事実でした。だから欄をなくしました。もう一つ、判定の当てはめ方も変えました。企画書ではLLMがベテランの言葉を毎回読んで判断する形でしたが、言葉を条件に訳し、知らせるかどうかはプログラムが決める形にしました。毎回同じ答えが出て根拠を示せるからです。変えなかったのは、予兆の判断に現場の知見を使うこと。経緯は変更記録に残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銀行は金利で収益を上げる。でも、融資するかしないかを判断するだけでは先細ります。かといって、収益の悪い企業に貸し続けることはできない。だからこそ、支援して貸し続けられる状態を自ら作る。ツムグがあれば、経験の浅い担当者もベテランの知見を借りて動け、いつもの営業活動が企業が続くための記録になり、示唆が育ちます。なお、ツムグの情報は融資の判断には使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効果は前段で挙げた3つ、関係の継続性・支援機会の早期発見・担当者の負担軽減です。立場ごとに見ると、担当者が先に得をするから記録が集まり、そこから支店・本部・銀行の効果が生まれます。KPIは記録数にし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段の言葉で言うと、守りは取引の乗り換えや消失を防ぐこと、攻めは増えた貸出機会を案件に変えること。中位の前提で3年の効果は約2.3億円、費用の4.8倍、2年目に回収です。ただし守りは約3割で、それだけでは費用と同程度。7割は攻めの効果です。保守的な前提だと3年で回収しきれないので、段階ごとに判断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お願いするのは第1段階のパイロットです。初期2,800万円と運用700万円×3年で4,900万円。読む、書くのが楽に、つながる、の順に進め、それぞれの終わりで続ける・直す・やめるを判断します。つながるが期待通りでなくても、読む・書くの価値と、判定基準・データ接続の知見は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有用性が証明された後の広がり方です。起点は事業承継の支援。承継は停滞から成長へのきっかけにもなるので、次に成長を支える支援へ深まります。また、事業の承継は経営者個人の相続でもあるので、法人と個人の担当がつながります。こうして支援の幅が広がるたびに収益の機会が増え、その積み重ねで、銀行は自然と地域のつなぎ役になります。継ぐ人がいない企業と受け手をつなげるのは、地域の企業をいちばん多く知る地域の銀行です。ただし企業同士をつなぐ前には、お客さまの同意と、与信に使わない約束を地域にも広げることが条件です。外販は、関係の深さという差を手放さないよう、最後の選択肢にとど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貸し続けられる環境を、自ら作る。承継に取り組める人を増やし、手間は増やさず、与信・評価には使わない。企業が続けば、雇用と技術が守られ、銀行は貸出を続けられる。その第一歩としてパイロットの承認をお願い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数字の出所と、どれを実測に置き換えるかを答えるときに使う。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外販を聞かれたときに使う。広がり方の本命は地域のつなぎ役で、外販は最後の選択肢。同じ地域で競う銀行に出すと、関係の深さという差を手放すことになる。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セキュリティや個人情報についてのチームとしての考え方。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全員回答制。担当に関係なく、全員が答えられるように練習しておく。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71AD5C3-70D9-21C6-DFF6-97ABCDE2C2A8}"/>
              </a:ext>
            </a:extLst>
          </p:cNvPr>
          <p:cNvSpPr/>
          <p:nvPr/>
        </p:nvSpPr>
        <p:spPr>
          <a:xfrm>
            <a:off x="0" y="0"/>
            <a:ext cx="12192000"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Text 0">
            <a:extLst>
              <a:ext uri="{FF2B5EF4-FFF2-40B4-BE49-F238E27FC236}">
                <a16:creationId xmlns:a16="http://schemas.microsoft.com/office/drawing/2014/main" id="{6B7A4DD8-3330-456B-E4A9-7F5A71240944}"/>
              </a:ext>
            </a:extLst>
          </p:cNvPr>
          <p:cNvSpPr/>
          <p:nvPr/>
        </p:nvSpPr>
        <p:spPr>
          <a:xfrm>
            <a:off x="731520" y="2103120"/>
            <a:ext cx="10728930" cy="1828800"/>
          </a:xfrm>
          <a:prstGeom prst="rect">
            <a:avLst/>
          </a:prstGeom>
          <a:noFill/>
          <a:ln/>
        </p:spPr>
        <p:txBody>
          <a:bodyPr wrap="square" rtlCol="0" anchor="ctr"/>
          <a:lstStyle/>
          <a:p>
            <a:pPr marL="0" indent="0" algn="l">
              <a:lnSpc>
                <a:spcPct val="130000"/>
              </a:lnSpc>
              <a:buNone/>
            </a:pPr>
            <a:r>
              <a:rPr lang="ja-JP" altLang="en-US" sz="3600" b="1" dirty="0">
                <a:latin typeface="Noto Sans JP" pitchFamily="34" charset="0"/>
                <a:ea typeface="Noto Sans JP" pitchFamily="34" charset="-122"/>
              </a:rPr>
              <a:t>デジタル時代により強固な顧客との絆を“ツムグ”</a:t>
            </a:r>
            <a:endParaRPr lang="en-US" sz="3600" dirty="0"/>
          </a:p>
        </p:txBody>
      </p:sp>
      <p:sp>
        <p:nvSpPr>
          <p:cNvPr id="5" name="Shape 1">
            <a:extLst>
              <a:ext uri="{FF2B5EF4-FFF2-40B4-BE49-F238E27FC236}">
                <a16:creationId xmlns:a16="http://schemas.microsoft.com/office/drawing/2014/main" id="{DE5F9D42-441A-6EF6-B665-7C1D74542DDD}"/>
              </a:ext>
            </a:extLst>
          </p:cNvPr>
          <p:cNvSpPr/>
          <p:nvPr/>
        </p:nvSpPr>
        <p:spPr>
          <a:xfrm>
            <a:off x="731520" y="4251960"/>
            <a:ext cx="2194560" cy="0"/>
          </a:xfrm>
          <a:prstGeom prst="line">
            <a:avLst/>
          </a:prstGeom>
          <a:noFill/>
          <a:ln w="25400">
            <a:solidFill>
              <a:srgbClr val="D9E6FF"/>
            </a:solidFill>
            <a:prstDash val="solid"/>
          </a:ln>
        </p:spPr>
        <p:txBody>
          <a:bodyPr/>
          <a:p/>
        </p:txBody>
      </p:sp>
      <p:sp>
        <p:nvSpPr>
          <p:cNvPr id="7" name="Text 2">
            <a:extLst>
              <a:ext uri="{FF2B5EF4-FFF2-40B4-BE49-F238E27FC236}">
                <a16:creationId xmlns:a16="http://schemas.microsoft.com/office/drawing/2014/main" id="{0803E4A3-43A5-2151-EB55-60A1DE93DF75}"/>
              </a:ext>
            </a:extLst>
          </p:cNvPr>
          <p:cNvSpPr/>
          <p:nvPr/>
        </p:nvSpPr>
        <p:spPr>
          <a:xfrm>
            <a:off x="731520" y="4480560"/>
            <a:ext cx="10728930" cy="548640"/>
          </a:xfrm>
          <a:prstGeom prst="rect">
            <a:avLst/>
          </a:prstGeom>
          <a:noFill/>
          <a:ln/>
        </p:spPr>
        <p:txBody>
          <a:bodyPr wrap="square" rtlCol="0" anchor="ctr"/>
          <a:lstStyle/>
          <a:p>
            <a:pPr marL="0" indent="0" algn="l">
              <a:buNone/>
            </a:pPr>
            <a:r>
              <a:rPr lang="en-US" sz="2200" dirty="0">
                <a:latin typeface="Noto Sans JP" pitchFamily="34" charset="0"/>
                <a:ea typeface="Noto Sans JP" pitchFamily="34" charset="-122"/>
                <a:cs typeface="Noto Sans JP" pitchFamily="34" charset="-120"/>
              </a:rPr>
              <a:t>金利のある世界への回帰と、地方銀行の収益構造の転換点</a:t>
            </a:r>
            <a:endParaRPr lang="en-US" sz="2200" dirty="0"/>
          </a:p>
        </p:txBody>
      </p:sp>
      <p:sp>
        <p:nvSpPr>
          <p:cNvPr id="9" name="Text 3">
            <a:extLst>
              <a:ext uri="{FF2B5EF4-FFF2-40B4-BE49-F238E27FC236}">
                <a16:creationId xmlns:a16="http://schemas.microsoft.com/office/drawing/2014/main" id="{22CF68F9-AC18-A1AB-411E-42534D0AFFA6}"/>
              </a:ext>
            </a:extLst>
          </p:cNvPr>
          <p:cNvSpPr/>
          <p:nvPr/>
        </p:nvSpPr>
        <p:spPr>
          <a:xfrm>
            <a:off x="731520" y="6126480"/>
            <a:ext cx="5486400" cy="365760"/>
          </a:xfrm>
          <a:prstGeom prst="rect">
            <a:avLst/>
          </a:prstGeom>
          <a:noFill/>
          <a:ln/>
        </p:spPr>
        <p:txBody>
          <a:bodyPr wrap="square" rtlCol="0" anchor="ctr"/>
          <a:lstStyle/>
          <a:p>
            <a:pPr marL="0" indent="0" algn="l">
              <a:buNone/>
            </a:pPr>
            <a:r>
              <a:rPr lang="ja-JP" altLang="en-US" sz="1200" dirty="0">
                <a:latin typeface="Noto Sans JP" pitchFamily="34" charset="0"/>
                <a:ea typeface="Noto Sans JP" pitchFamily="34" charset="-122"/>
                <a:cs typeface="Noto Sans JP" pitchFamily="34" charset="-120"/>
              </a:rPr>
              <a:t>もしのゆ～ツムグ</a:t>
            </a:r>
            <a:r>
              <a:rPr lang="en-US" sz="1200" dirty="0" err="1">
                <a:latin typeface="Noto Sans JP" pitchFamily="34" charset="0"/>
                <a:ea typeface="Noto Sans JP" pitchFamily="34" charset="-122"/>
                <a:cs typeface="Noto Sans JP" pitchFamily="34" charset="-120"/>
              </a:rPr>
              <a:t>プロジェクト</a:t>
            </a:r>
            <a:r>
              <a:rPr lang="ja-JP" altLang="en-US" sz="1200" dirty="0">
                <a:latin typeface="Noto Sans JP" pitchFamily="34" charset="0"/>
                <a:ea typeface="Noto Sans JP" pitchFamily="34" charset="-122"/>
                <a:cs typeface="Noto Sans JP" pitchFamily="34" charset="-120"/>
              </a:rPr>
              <a:t>～</a:t>
            </a:r>
            <a:endParaRPr lang="en-US" sz="1200" dirty="0"/>
          </a:p>
        </p:txBody>
      </p:sp>
    </p:spTree>
    <p:extLst>
      <p:ext uri="{BB962C8B-B14F-4D97-AF65-F5344CB8AC3E}">
        <p14:creationId xmlns:p14="http://schemas.microsoft.com/office/powerpoint/2010/main" val="1558967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エグゼクティブサマリ</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Shape 2"/>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5" name="Text 3"/>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サマリ</a:t>
            </a:r>
            <a:endParaRPr lang="en-US" sz="1200" dirty="0"/>
          </a:p>
        </p:txBody>
      </p:sp>
      <p:sp>
        <p:nvSpPr>
          <p:cNvPr id="6" name="Text 4"/>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a:t>
            </a:r>
            <a:endParaRPr lang="en-US" sz="1200" dirty="0"/>
          </a:p>
        </p:txBody>
      </p:sp>
      <p:sp>
        <p:nvSpPr>
          <p:cNvPr id="7" name="Shape 5"/>
          <p:cNvSpPr/>
          <p:nvPr/>
        </p:nvSpPr>
        <p:spPr>
          <a:xfrm>
            <a:off x="612648" y="1691640"/>
            <a:ext cx="1645920" cy="868680"/>
          </a:xfrm>
          <a:prstGeom prst="rect">
            <a:avLst/>
          </a:prstGeom>
          <a:solidFill>
            <a:srgbClr val="0017C1"/>
          </a:solidFill>
          <a:ln w="12700">
            <a:solidFill>
              <a:srgbClr val="0017C1"/>
            </a:solidFill>
            <a:prstDash val="solid"/>
          </a:ln>
        </p:spPr>
        <p:txBody>
          <a:bodyPr/>
          <a:p/>
        </p:txBody>
      </p:sp>
      <p:sp>
        <p:nvSpPr>
          <p:cNvPr id="8" name="Text 6"/>
          <p:cNvSpPr txBox="1"/>
          <p:nvPr/>
        </p:nvSpPr>
        <p:spPr>
          <a:xfrm>
            <a:off x="612648" y="1801368"/>
            <a:ext cx="1645920" cy="731520"/>
          </a:xfrm>
          <a:prstGeom prst="rect">
            <a:avLst/>
          </a:prstGeom>
          <a:noFill/>
          <a:ln/>
        </p:spPr>
        <p:txBody>
          <a:bodyPr wrap="square" lIns="0" tIns="0" rIns="0" bIns="0" rtlCol="0" anchor="t"/>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WHY</a:t>
            </a:r>
            <a:endParaRPr lang="en-US" sz="2000" dirty="0"/>
          </a:p>
          <a:p>
            <a:pPr algn="ctr" indent="0" marL="0">
              <a:buNone/>
            </a:pPr>
            <a:r>
              <a:rPr lang="en-US" sz="1100" dirty="0">
                <a:solidFill>
                  <a:srgbClr val="FFFFFF"/>
                </a:solidFill>
                <a:latin typeface="Noto Sans JP" pitchFamily="34" charset="0"/>
                <a:ea typeface="Noto Sans JP" pitchFamily="34" charset="-122"/>
                <a:cs typeface="Noto Sans JP" pitchFamily="34" charset="-120"/>
              </a:rPr>
              <a:t>なぜ</a:t>
            </a:r>
            <a:endParaRPr lang="en-US" sz="2000" dirty="0"/>
          </a:p>
        </p:txBody>
      </p:sp>
      <p:sp>
        <p:nvSpPr>
          <p:cNvPr id="9" name="Shape 7"/>
          <p:cNvSpPr/>
          <p:nvPr/>
        </p:nvSpPr>
        <p:spPr>
          <a:xfrm>
            <a:off x="2395728" y="1691640"/>
            <a:ext cx="9189720" cy="868680"/>
          </a:xfrm>
          <a:prstGeom prst="rect">
            <a:avLst/>
          </a:prstGeom>
          <a:solidFill>
            <a:srgbClr val="E8F1FE"/>
          </a:solidFill>
          <a:ln w="12700">
            <a:solidFill>
              <a:srgbClr val="E8F1FE"/>
            </a:solidFill>
            <a:prstDash val="solid"/>
          </a:ln>
        </p:spPr>
        <p:txBody>
          <a:bodyPr/>
          <a:p/>
        </p:txBody>
      </p:sp>
      <p:sp>
        <p:nvSpPr>
          <p:cNvPr id="10" name="Text 8"/>
          <p:cNvSpPr txBox="1"/>
          <p:nvPr/>
        </p:nvSpPr>
        <p:spPr>
          <a:xfrm>
            <a:off x="2578608" y="1691640"/>
            <a:ext cx="8823960" cy="868680"/>
          </a:xfrm>
          <a:prstGeom prst="rect">
            <a:avLst/>
          </a:prstGeom>
          <a:noFill/>
          <a:ln/>
        </p:spPr>
        <p:txBody>
          <a:bodyPr wrap="square" lIns="0" tIns="0" rIns="0" bIns="0" rtlCol="0" anchor="ctr"/>
          <a:lstStyle/>
          <a:p>
            <a:pPr indent="0" marL="0">
              <a:lnSpc>
                <a:spcPct val="115000"/>
              </a:lnSpc>
              <a:buNone/>
            </a:pPr>
            <a:r>
              <a:rPr lang="en-US" sz="1500" dirty="0">
                <a:solidFill>
                  <a:srgbClr val="1A1A1A"/>
                </a:solidFill>
                <a:latin typeface="Noto Sans JP" pitchFamily="34" charset="0"/>
                <a:ea typeface="Noto Sans JP" pitchFamily="34" charset="-122"/>
                <a:cs typeface="Noto Sans JP" pitchFamily="34" charset="-120"/>
              </a:rPr>
              <a:t>貸出の機会が増えた今、地場企業とのつながりの深さが銀行の差になる。だが地場企業は承継に不安を抱え、行内で承継に取り組める人は限られ、知見は異動のたびに失われる</a:t>
            </a:r>
            <a:endParaRPr lang="en-US" sz="1500" dirty="0"/>
          </a:p>
        </p:txBody>
      </p:sp>
      <p:sp>
        <p:nvSpPr>
          <p:cNvPr id="11" name="Shape 9"/>
          <p:cNvSpPr/>
          <p:nvPr/>
        </p:nvSpPr>
        <p:spPr>
          <a:xfrm>
            <a:off x="612648" y="2679192"/>
            <a:ext cx="1645920" cy="868680"/>
          </a:xfrm>
          <a:prstGeom prst="rect">
            <a:avLst/>
          </a:prstGeom>
          <a:solidFill>
            <a:srgbClr val="0017C1"/>
          </a:solidFill>
          <a:ln w="12700">
            <a:solidFill>
              <a:srgbClr val="0017C1"/>
            </a:solidFill>
            <a:prstDash val="solid"/>
          </a:ln>
        </p:spPr>
        <p:txBody>
          <a:bodyPr/>
          <a:p/>
        </p:txBody>
      </p:sp>
      <p:sp>
        <p:nvSpPr>
          <p:cNvPr id="12" name="Text 10"/>
          <p:cNvSpPr txBox="1"/>
          <p:nvPr/>
        </p:nvSpPr>
        <p:spPr>
          <a:xfrm>
            <a:off x="612648" y="2788920"/>
            <a:ext cx="1645920" cy="731520"/>
          </a:xfrm>
          <a:prstGeom prst="rect">
            <a:avLst/>
          </a:prstGeom>
          <a:noFill/>
          <a:ln/>
        </p:spPr>
        <p:txBody>
          <a:bodyPr wrap="square" lIns="0" tIns="0" rIns="0" bIns="0" rtlCol="0" anchor="t"/>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WHAT</a:t>
            </a:r>
            <a:endParaRPr lang="en-US" sz="2000" dirty="0"/>
          </a:p>
          <a:p>
            <a:pPr algn="ctr" indent="0" marL="0">
              <a:buNone/>
            </a:pPr>
            <a:r>
              <a:rPr lang="en-US" sz="1100" dirty="0">
                <a:solidFill>
                  <a:srgbClr val="FFFFFF"/>
                </a:solidFill>
                <a:latin typeface="Noto Sans JP" pitchFamily="34" charset="0"/>
                <a:ea typeface="Noto Sans JP" pitchFamily="34" charset="-122"/>
                <a:cs typeface="Noto Sans JP" pitchFamily="34" charset="-120"/>
              </a:rPr>
              <a:t>何を</a:t>
            </a:r>
            <a:endParaRPr lang="en-US" sz="2000" dirty="0"/>
          </a:p>
        </p:txBody>
      </p:sp>
      <p:sp>
        <p:nvSpPr>
          <p:cNvPr id="13" name="Shape 11"/>
          <p:cNvSpPr/>
          <p:nvPr/>
        </p:nvSpPr>
        <p:spPr>
          <a:xfrm>
            <a:off x="2395728" y="2679192"/>
            <a:ext cx="9189720" cy="868680"/>
          </a:xfrm>
          <a:prstGeom prst="rect">
            <a:avLst/>
          </a:prstGeom>
          <a:solidFill>
            <a:srgbClr val="E8F1FE"/>
          </a:solidFill>
          <a:ln w="12700">
            <a:solidFill>
              <a:srgbClr val="E8F1FE"/>
            </a:solidFill>
            <a:prstDash val="solid"/>
          </a:ln>
        </p:spPr>
        <p:txBody>
          <a:bodyPr/>
          <a:p/>
        </p:txBody>
      </p:sp>
      <p:sp>
        <p:nvSpPr>
          <p:cNvPr id="14" name="Text 12"/>
          <p:cNvSpPr txBox="1"/>
          <p:nvPr/>
        </p:nvSpPr>
        <p:spPr>
          <a:xfrm>
            <a:off x="2578608" y="2679192"/>
            <a:ext cx="8823960" cy="868680"/>
          </a:xfrm>
          <a:prstGeom prst="rect">
            <a:avLst/>
          </a:prstGeom>
          <a:noFill/>
          <a:ln/>
        </p:spPr>
        <p:txBody>
          <a:bodyPr wrap="square" lIns="0" tIns="0" rIns="0" bIns="0" rtlCol="0" anchor="ctr"/>
          <a:lstStyle/>
          <a:p>
            <a:pPr indent="0" marL="0">
              <a:lnSpc>
                <a:spcPct val="115000"/>
              </a:lnSpc>
              <a:buNone/>
            </a:pPr>
            <a:r>
              <a:rPr lang="en-US" sz="1500" dirty="0">
                <a:solidFill>
                  <a:srgbClr val="1A1A1A"/>
                </a:solidFill>
                <a:latin typeface="Noto Sans JP" pitchFamily="34" charset="0"/>
                <a:ea typeface="Noto Sans JP" pitchFamily="34" charset="-122"/>
                <a:cs typeface="Noto Sans JP" pitchFamily="34" charset="-120"/>
              </a:rPr>
              <a:t>ベテランの勘と判断基準を言葉にし、LLM で経験の浅い担当者にも知見と示唆を届ける「ツムグ」。承継に取り組める人を増やす。書くのはいつもの日報だけ</a:t>
            </a:r>
            <a:endParaRPr lang="en-US" sz="1500" dirty="0"/>
          </a:p>
        </p:txBody>
      </p:sp>
      <p:sp>
        <p:nvSpPr>
          <p:cNvPr id="15" name="Shape 13"/>
          <p:cNvSpPr/>
          <p:nvPr/>
        </p:nvSpPr>
        <p:spPr>
          <a:xfrm>
            <a:off x="612648" y="3666744"/>
            <a:ext cx="1645920" cy="868680"/>
          </a:xfrm>
          <a:prstGeom prst="rect">
            <a:avLst/>
          </a:prstGeom>
          <a:solidFill>
            <a:srgbClr val="0017C1"/>
          </a:solidFill>
          <a:ln w="12700">
            <a:solidFill>
              <a:srgbClr val="0017C1"/>
            </a:solidFill>
            <a:prstDash val="solid"/>
          </a:ln>
        </p:spPr>
        <p:txBody>
          <a:bodyPr/>
          <a:p/>
        </p:txBody>
      </p:sp>
      <p:sp>
        <p:nvSpPr>
          <p:cNvPr id="16" name="Text 14"/>
          <p:cNvSpPr txBox="1"/>
          <p:nvPr/>
        </p:nvSpPr>
        <p:spPr>
          <a:xfrm>
            <a:off x="612648" y="3776472"/>
            <a:ext cx="1645920" cy="731520"/>
          </a:xfrm>
          <a:prstGeom prst="rect">
            <a:avLst/>
          </a:prstGeom>
          <a:noFill/>
          <a:ln/>
        </p:spPr>
        <p:txBody>
          <a:bodyPr wrap="square" lIns="0" tIns="0" rIns="0" bIns="0" rtlCol="0" anchor="t"/>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HOW</a:t>
            </a:r>
            <a:endParaRPr lang="en-US" sz="2000" dirty="0"/>
          </a:p>
          <a:p>
            <a:pPr algn="ctr" indent="0" marL="0">
              <a:buNone/>
            </a:pPr>
            <a:r>
              <a:rPr lang="en-US" sz="1100" dirty="0">
                <a:solidFill>
                  <a:srgbClr val="FFFFFF"/>
                </a:solidFill>
                <a:latin typeface="Noto Sans JP" pitchFamily="34" charset="0"/>
                <a:ea typeface="Noto Sans JP" pitchFamily="34" charset="-122"/>
                <a:cs typeface="Noto Sans JP" pitchFamily="34" charset="-120"/>
              </a:rPr>
              <a:t>どうやって</a:t>
            </a:r>
            <a:endParaRPr lang="en-US" sz="2000" dirty="0"/>
          </a:p>
        </p:txBody>
      </p:sp>
      <p:sp>
        <p:nvSpPr>
          <p:cNvPr id="17" name="Shape 15"/>
          <p:cNvSpPr/>
          <p:nvPr/>
        </p:nvSpPr>
        <p:spPr>
          <a:xfrm>
            <a:off x="2395728" y="3666744"/>
            <a:ext cx="9189720" cy="868680"/>
          </a:xfrm>
          <a:prstGeom prst="rect">
            <a:avLst/>
          </a:prstGeom>
          <a:solidFill>
            <a:srgbClr val="E8F1FE"/>
          </a:solidFill>
          <a:ln w="12700">
            <a:solidFill>
              <a:srgbClr val="E8F1FE"/>
            </a:solidFill>
            <a:prstDash val="solid"/>
          </a:ln>
        </p:spPr>
        <p:txBody>
          <a:bodyPr/>
          <a:p/>
        </p:txBody>
      </p:sp>
      <p:sp>
        <p:nvSpPr>
          <p:cNvPr id="18" name="Text 16"/>
          <p:cNvSpPr txBox="1"/>
          <p:nvPr/>
        </p:nvSpPr>
        <p:spPr>
          <a:xfrm>
            <a:off x="2578608" y="3666744"/>
            <a:ext cx="8823960" cy="868680"/>
          </a:xfrm>
          <a:prstGeom prst="rect">
            <a:avLst/>
          </a:prstGeom>
          <a:noFill/>
          <a:ln/>
        </p:spPr>
        <p:txBody>
          <a:bodyPr wrap="square" lIns="0" tIns="0" rIns="0" bIns="0" rtlCol="0" anchor="ctr"/>
          <a:lstStyle/>
          <a:p>
            <a:pPr indent="0" marL="0">
              <a:lnSpc>
                <a:spcPct val="115000"/>
              </a:lnSpc>
              <a:buNone/>
            </a:pPr>
            <a:r>
              <a:rPr lang="en-US" sz="1500" dirty="0">
                <a:solidFill>
                  <a:srgbClr val="1A1A1A"/>
                </a:solidFill>
                <a:latin typeface="Noto Sans JP" pitchFamily="34" charset="0"/>
                <a:ea typeface="Noto Sans JP" pitchFamily="34" charset="-122"/>
                <a:cs typeface="Noto Sans JP" pitchFamily="34" charset="-120"/>
              </a:rPr>
              <a:t>日々の日報がクエリとなり、貯まった記録から示唆が返る。事業の継続を意識した営業を文化にする。ツムグの情報は融資の判断には使わない</a:t>
            </a:r>
            <a:endParaRPr lang="en-US" sz="1500" dirty="0"/>
          </a:p>
        </p:txBody>
      </p:sp>
      <p:sp>
        <p:nvSpPr>
          <p:cNvPr id="19" name="Shape 17"/>
          <p:cNvSpPr/>
          <p:nvPr/>
        </p:nvSpPr>
        <p:spPr>
          <a:xfrm>
            <a:off x="612648" y="4654296"/>
            <a:ext cx="1645920" cy="868680"/>
          </a:xfrm>
          <a:prstGeom prst="rect">
            <a:avLst/>
          </a:prstGeom>
          <a:solidFill>
            <a:srgbClr val="0017C1"/>
          </a:solidFill>
          <a:ln w="12700">
            <a:solidFill>
              <a:srgbClr val="0017C1"/>
            </a:solidFill>
            <a:prstDash val="solid"/>
          </a:ln>
        </p:spPr>
        <p:txBody>
          <a:bodyPr/>
          <a:p/>
        </p:txBody>
      </p:sp>
      <p:sp>
        <p:nvSpPr>
          <p:cNvPr id="20" name="Text 18"/>
          <p:cNvSpPr txBox="1"/>
          <p:nvPr/>
        </p:nvSpPr>
        <p:spPr>
          <a:xfrm>
            <a:off x="612648" y="4764024"/>
            <a:ext cx="1645920" cy="731520"/>
          </a:xfrm>
          <a:prstGeom prst="rect">
            <a:avLst/>
          </a:prstGeom>
          <a:noFill/>
          <a:ln/>
        </p:spPr>
        <p:txBody>
          <a:bodyPr wrap="square" lIns="0" tIns="0" rIns="0" bIns="0" rtlCol="0" anchor="t"/>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ROI</a:t>
            </a:r>
            <a:endParaRPr lang="en-US" sz="2000" dirty="0"/>
          </a:p>
          <a:p>
            <a:pPr algn="ctr" indent="0" marL="0">
              <a:buNone/>
            </a:pPr>
            <a:r>
              <a:rPr lang="en-US" sz="1100" dirty="0">
                <a:solidFill>
                  <a:srgbClr val="FFFFFF"/>
                </a:solidFill>
                <a:latin typeface="Noto Sans JP" pitchFamily="34" charset="0"/>
                <a:ea typeface="Noto Sans JP" pitchFamily="34" charset="-122"/>
                <a:cs typeface="Noto Sans JP" pitchFamily="34" charset="-120"/>
              </a:rPr>
              <a:t>投資対効果</a:t>
            </a:r>
            <a:endParaRPr lang="en-US" sz="2000" dirty="0"/>
          </a:p>
        </p:txBody>
      </p:sp>
      <p:sp>
        <p:nvSpPr>
          <p:cNvPr id="21" name="Shape 19"/>
          <p:cNvSpPr/>
          <p:nvPr/>
        </p:nvSpPr>
        <p:spPr>
          <a:xfrm>
            <a:off x="2395728" y="4654296"/>
            <a:ext cx="9189720" cy="868680"/>
          </a:xfrm>
          <a:prstGeom prst="rect">
            <a:avLst/>
          </a:prstGeom>
          <a:solidFill>
            <a:srgbClr val="E8F1FE"/>
          </a:solidFill>
          <a:ln w="12700">
            <a:solidFill>
              <a:srgbClr val="E8F1FE"/>
            </a:solidFill>
            <a:prstDash val="solid"/>
          </a:ln>
        </p:spPr>
        <p:txBody>
          <a:bodyPr/>
          <a:p/>
        </p:txBody>
      </p:sp>
      <p:sp>
        <p:nvSpPr>
          <p:cNvPr id="22" name="Text 20"/>
          <p:cNvSpPr txBox="1"/>
          <p:nvPr/>
        </p:nvSpPr>
        <p:spPr>
          <a:xfrm>
            <a:off x="2578608" y="4654296"/>
            <a:ext cx="8823960" cy="868680"/>
          </a:xfrm>
          <a:prstGeom prst="rect">
            <a:avLst/>
          </a:prstGeom>
          <a:noFill/>
          <a:ln/>
        </p:spPr>
        <p:txBody>
          <a:bodyPr wrap="square" lIns="0" tIns="0" rIns="0" bIns="0" rtlCol="0" anchor="ctr"/>
          <a:lstStyle/>
          <a:p>
            <a:pPr indent="0" marL="0">
              <a:lnSpc>
                <a:spcPct val="115000"/>
              </a:lnSpc>
              <a:buNone/>
            </a:pPr>
            <a:r>
              <a:rPr lang="en-US" sz="1500" dirty="0">
                <a:solidFill>
                  <a:srgbClr val="1A1A1A"/>
                </a:solidFill>
                <a:latin typeface="Noto Sans JP" pitchFamily="34" charset="0"/>
                <a:ea typeface="Noto Sans JP" pitchFamily="34" charset="-122"/>
                <a:cs typeface="Noto Sans JP" pitchFamily="34" charset="-120"/>
              </a:rPr>
              <a:t>企業が続けば貸出が続き、承継・相続の支援は手数料になる。3 年の費用 4,900 万円に対し、中位の試算で効果は約 2.3 億円（約 4.8 倍）、2 年目に回収</a:t>
            </a:r>
            <a:endParaRPr lang="en-US" sz="1500" dirty="0"/>
          </a:p>
        </p:txBody>
      </p:sp>
      <p:sp>
        <p:nvSpPr>
          <p:cNvPr id="23" name="Shape 21"/>
          <p:cNvSpPr/>
          <p:nvPr/>
        </p:nvSpPr>
        <p:spPr>
          <a:xfrm>
            <a:off x="612648" y="5669280"/>
            <a:ext cx="10972800" cy="566928"/>
          </a:xfrm>
          <a:prstGeom prst="rect">
            <a:avLst/>
          </a:prstGeom>
          <a:solidFill>
            <a:srgbClr val="8EA9DB"/>
          </a:solidFill>
          <a:ln w="12700">
            <a:solidFill>
              <a:srgbClr val="8EA9DB"/>
            </a:solidFill>
            <a:prstDash val="solid"/>
          </a:ln>
        </p:spPr>
        <p:txBody>
          <a:bodyPr/>
          <a:p/>
        </p:txBody>
      </p:sp>
      <p:sp>
        <p:nvSpPr>
          <p:cNvPr id="24" name="Text 22"/>
          <p:cNvSpPr txBox="1"/>
          <p:nvPr/>
        </p:nvSpPr>
        <p:spPr>
          <a:xfrm>
            <a:off x="886968" y="5669280"/>
            <a:ext cx="10424160" cy="566928"/>
          </a:xfrm>
          <a:prstGeom prst="rect">
            <a:avLst/>
          </a:prstGeom>
          <a:noFill/>
          <a:ln/>
        </p:spPr>
        <p:txBody>
          <a:bodyPr wrap="square" lIns="0" tIns="0" rIns="0" bIns="0" rtlCol="0" anchor="ctr"/>
          <a:lstStyle/>
          <a:p>
            <a:pPr indent="0" marL="0">
              <a:buNone/>
            </a:pPr>
            <a:r>
              <a:rPr lang="en-US" sz="1800" b="1" dirty="0">
                <a:solidFill>
                  <a:srgbClr val="FFFFFF"/>
                </a:solidFill>
                <a:latin typeface="Noto Sans JP" pitchFamily="34" charset="0"/>
                <a:ea typeface="Noto Sans JP" pitchFamily="34" charset="-122"/>
                <a:cs typeface="Noto Sans JP" pitchFamily="34" charset="-120"/>
              </a:rPr>
              <a:t>貸し続けられる環境を、自ら作る。</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ツムグのストーリー</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なぜ銀行がツムグに投資するのか。外部環境から、その先の広がりまで</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サマリ</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3</a:t>
            </a:r>
            <a:endParaRPr lang="en-US" sz="1200" dirty="0"/>
          </a:p>
        </p:txBody>
      </p:sp>
      <p:sp>
        <p:nvSpPr>
          <p:cNvPr id="8" name="Shape 6"/>
          <p:cNvSpPr/>
          <p:nvPr/>
        </p:nvSpPr>
        <p:spPr>
          <a:xfrm>
            <a:off x="612648" y="2240280"/>
            <a:ext cx="3444240" cy="132588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95528" y="2377440"/>
            <a:ext cx="3078480" cy="1097280"/>
          </a:xfrm>
          <a:prstGeom prst="rect">
            <a:avLst/>
          </a:prstGeom>
          <a:noFill/>
          <a:ln/>
        </p:spPr>
        <p:txBody>
          <a:bodyPr wrap="square" lIns="0" tIns="0" rIns="0" bIns="0" rtlCol="0" anchor="t"/>
          <a:lstStyle/>
          <a:p>
            <a:pPr indent="0" marL="0">
              <a:lnSpc>
                <a:spcPct val="120000"/>
              </a:lnSpc>
              <a:buNone/>
            </a:pPr>
            <a:r>
              <a:rPr lang="en-US" sz="1600" b="1" dirty="0">
                <a:solidFill>
                  <a:srgbClr val="666666"/>
                </a:solidFill>
                <a:latin typeface="Noto Sans JP" pitchFamily="34" charset="0"/>
                <a:ea typeface="Noto Sans JP" pitchFamily="34" charset="-122"/>
                <a:cs typeface="Noto Sans JP" pitchFamily="34" charset="-120"/>
              </a:rPr>
              <a:t>1　外部環境</a:t>
            </a:r>
            <a:endParaRPr lang="en-US" sz="1600" dirty="0"/>
          </a:p>
          <a:p>
            <a:pPr indent="0" marL="0">
              <a:lnSpc>
                <a:spcPct val="120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250" dirty="0">
                <a:solidFill>
                  <a:srgbClr val="1A1A1A"/>
                </a:solidFill>
                <a:latin typeface="Noto Sans JP" pitchFamily="34" charset="0"/>
                <a:ea typeface="Noto Sans JP" pitchFamily="34" charset="-122"/>
                <a:cs typeface="Noto Sans JP" pitchFamily="34" charset="-120"/>
              </a:rPr>
              <a:t>貸出の機会が増え、地場企業とのつながりの深さが差になる。一方、地場企業は高齢化と承継問題を抱える</a:t>
            </a:r>
            <a:endParaRPr lang="en-US" sz="1600" dirty="0"/>
          </a:p>
        </p:txBody>
      </p:sp>
      <p:sp>
        <p:nvSpPr>
          <p:cNvPr id="10" name="Shape 8"/>
          <p:cNvSpPr/>
          <p:nvPr/>
        </p:nvSpPr>
        <p:spPr>
          <a:xfrm>
            <a:off x="4093464" y="2903220"/>
            <a:ext cx="246888" cy="0"/>
          </a:xfrm>
          <a:prstGeom prst="line">
            <a:avLst/>
          </a:prstGeom>
          <a:noFill/>
          <a:ln w="19050">
            <a:solidFill>
              <a:srgbClr val="666666"/>
            </a:solidFill>
            <a:prstDash val="solid"/>
            <a:tailEnd type="triangle"/>
          </a:ln>
        </p:spPr>
        <p:txBody>
          <a:bodyPr/>
          <a:p/>
        </p:txBody>
      </p:sp>
      <p:sp>
        <p:nvSpPr>
          <p:cNvPr id="11" name="Shape 9"/>
          <p:cNvSpPr/>
          <p:nvPr/>
        </p:nvSpPr>
        <p:spPr>
          <a:xfrm>
            <a:off x="4376928" y="2240280"/>
            <a:ext cx="3444240" cy="1325880"/>
          </a:xfrm>
          <a:prstGeom prst="rect">
            <a:avLst/>
          </a:prstGeom>
          <a:solidFill>
            <a:srgbClr val="F2F2F2"/>
          </a:solidFill>
          <a:ln w="12700">
            <a:solidFill>
              <a:srgbClr val="F2F2F2"/>
            </a:solidFill>
            <a:prstDash val="solid"/>
          </a:ln>
        </p:spPr>
        <p:txBody>
          <a:bodyPr/>
          <a:p/>
        </p:txBody>
      </p:sp>
      <p:sp>
        <p:nvSpPr>
          <p:cNvPr id="12" name="Text 10"/>
          <p:cNvSpPr txBox="1"/>
          <p:nvPr/>
        </p:nvSpPr>
        <p:spPr>
          <a:xfrm>
            <a:off x="4559808" y="2377440"/>
            <a:ext cx="3078480" cy="1097280"/>
          </a:xfrm>
          <a:prstGeom prst="rect">
            <a:avLst/>
          </a:prstGeom>
          <a:noFill/>
          <a:ln/>
        </p:spPr>
        <p:txBody>
          <a:bodyPr wrap="square" lIns="0" tIns="0" rIns="0" bIns="0" rtlCol="0" anchor="t"/>
          <a:lstStyle/>
          <a:p>
            <a:pPr indent="0" marL="0">
              <a:lnSpc>
                <a:spcPct val="120000"/>
              </a:lnSpc>
              <a:buNone/>
            </a:pPr>
            <a:r>
              <a:rPr lang="en-US" sz="1600" b="1" dirty="0">
                <a:solidFill>
                  <a:srgbClr val="666666"/>
                </a:solidFill>
                <a:latin typeface="Noto Sans JP" pitchFamily="34" charset="0"/>
                <a:ea typeface="Noto Sans JP" pitchFamily="34" charset="-122"/>
                <a:cs typeface="Noto Sans JP" pitchFamily="34" charset="-120"/>
              </a:rPr>
              <a:t>2　内部環境</a:t>
            </a:r>
            <a:endParaRPr lang="en-US" sz="1600" dirty="0"/>
          </a:p>
          <a:p>
            <a:pPr indent="0" marL="0">
              <a:lnSpc>
                <a:spcPct val="120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250" dirty="0">
                <a:solidFill>
                  <a:srgbClr val="1A1A1A"/>
                </a:solidFill>
                <a:latin typeface="Noto Sans JP" pitchFamily="34" charset="0"/>
                <a:ea typeface="Noto Sans JP" pitchFamily="34" charset="-122"/>
                <a:cs typeface="Noto Sans JP" pitchFamily="34" charset="-120"/>
              </a:rPr>
              <a:t>承継の課題に取り組める人は限られる。定期異動も多く、スキルと知見は個人の中にとどまる</a:t>
            </a:r>
            <a:endParaRPr lang="en-US" sz="1600" dirty="0"/>
          </a:p>
        </p:txBody>
      </p:sp>
      <p:sp>
        <p:nvSpPr>
          <p:cNvPr id="13" name="Shape 11"/>
          <p:cNvSpPr/>
          <p:nvPr/>
        </p:nvSpPr>
        <p:spPr>
          <a:xfrm>
            <a:off x="7857744" y="2903220"/>
            <a:ext cx="246888" cy="0"/>
          </a:xfrm>
          <a:prstGeom prst="line">
            <a:avLst/>
          </a:prstGeom>
          <a:noFill/>
          <a:ln w="19050">
            <a:solidFill>
              <a:srgbClr val="666666"/>
            </a:solidFill>
            <a:prstDash val="solid"/>
            <a:tailEnd type="triangle"/>
          </a:ln>
        </p:spPr>
        <p:txBody>
          <a:bodyPr/>
          <a:p/>
        </p:txBody>
      </p:sp>
      <p:sp>
        <p:nvSpPr>
          <p:cNvPr id="14" name="Shape 12"/>
          <p:cNvSpPr/>
          <p:nvPr/>
        </p:nvSpPr>
        <p:spPr>
          <a:xfrm>
            <a:off x="8141208" y="2240280"/>
            <a:ext cx="3444240" cy="1325880"/>
          </a:xfrm>
          <a:prstGeom prst="rect">
            <a:avLst/>
          </a:prstGeom>
          <a:solidFill>
            <a:srgbClr val="E8F1FE"/>
          </a:solidFill>
          <a:ln w="12700">
            <a:solidFill>
              <a:srgbClr val="E8F1FE"/>
            </a:solidFill>
            <a:prstDash val="solid"/>
          </a:ln>
        </p:spPr>
        <p:txBody>
          <a:bodyPr/>
          <a:p/>
        </p:txBody>
      </p:sp>
      <p:sp>
        <p:nvSpPr>
          <p:cNvPr id="15" name="Text 13"/>
          <p:cNvSpPr txBox="1"/>
          <p:nvPr/>
        </p:nvSpPr>
        <p:spPr>
          <a:xfrm>
            <a:off x="8324088" y="2377440"/>
            <a:ext cx="3078480" cy="1097280"/>
          </a:xfrm>
          <a:prstGeom prst="rect">
            <a:avLst/>
          </a:prstGeom>
          <a:noFill/>
          <a:ln/>
        </p:spPr>
        <p:txBody>
          <a:bodyPr wrap="square" lIns="0" tIns="0" rIns="0" bIns="0" rtlCol="0" anchor="t"/>
          <a:lstStyle/>
          <a:p>
            <a:pPr indent="0" marL="0">
              <a:lnSpc>
                <a:spcPct val="120000"/>
              </a:lnSpc>
              <a:buNone/>
            </a:pPr>
            <a:r>
              <a:rPr lang="en-US" sz="1600" b="1" dirty="0">
                <a:solidFill>
                  <a:srgbClr val="0017C1"/>
                </a:solidFill>
                <a:latin typeface="Noto Sans JP" pitchFamily="34" charset="0"/>
                <a:ea typeface="Noto Sans JP" pitchFamily="34" charset="-122"/>
                <a:cs typeface="Noto Sans JP" pitchFamily="34" charset="-120"/>
              </a:rPr>
              <a:t>3　解決策：ツムグ</a:t>
            </a:r>
            <a:endParaRPr lang="en-US" sz="1600" dirty="0"/>
          </a:p>
          <a:p>
            <a:pPr indent="0" marL="0">
              <a:lnSpc>
                <a:spcPct val="120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250" dirty="0">
                <a:solidFill>
                  <a:srgbClr val="1A1A1A"/>
                </a:solidFill>
                <a:latin typeface="Noto Sans JP" pitchFamily="34" charset="0"/>
                <a:ea typeface="Noto Sans JP" pitchFamily="34" charset="-122"/>
                <a:cs typeface="Noto Sans JP" pitchFamily="34" charset="-120"/>
              </a:rPr>
              <a:t>ベテランの勘と判断基準を言葉にし、LLM で経験の浅い担当者にも届ける。書くのはいつもの日報だけ</a:t>
            </a:r>
            <a:endParaRPr lang="en-US" sz="1600" dirty="0"/>
          </a:p>
        </p:txBody>
      </p:sp>
      <p:sp>
        <p:nvSpPr>
          <p:cNvPr id="16" name="Shape 14"/>
          <p:cNvSpPr/>
          <p:nvPr/>
        </p:nvSpPr>
        <p:spPr>
          <a:xfrm>
            <a:off x="612648" y="3794760"/>
            <a:ext cx="3444240" cy="1325880"/>
          </a:xfrm>
          <a:prstGeom prst="rect">
            <a:avLst/>
          </a:prstGeom>
          <a:solidFill>
            <a:srgbClr val="E8F1FE"/>
          </a:solidFill>
          <a:ln w="12700">
            <a:solidFill>
              <a:srgbClr val="E8F1FE"/>
            </a:solidFill>
            <a:prstDash val="solid"/>
          </a:ln>
        </p:spPr>
        <p:txBody>
          <a:bodyPr/>
          <a:p/>
        </p:txBody>
      </p:sp>
      <p:sp>
        <p:nvSpPr>
          <p:cNvPr id="17" name="Text 15"/>
          <p:cNvSpPr txBox="1"/>
          <p:nvPr/>
        </p:nvSpPr>
        <p:spPr>
          <a:xfrm>
            <a:off x="795528" y="3931920"/>
            <a:ext cx="3078480" cy="1097280"/>
          </a:xfrm>
          <a:prstGeom prst="rect">
            <a:avLst/>
          </a:prstGeom>
          <a:noFill/>
          <a:ln/>
        </p:spPr>
        <p:txBody>
          <a:bodyPr wrap="square" lIns="0" tIns="0" rIns="0" bIns="0" rtlCol="0" anchor="t"/>
          <a:lstStyle/>
          <a:p>
            <a:pPr indent="0" marL="0">
              <a:lnSpc>
                <a:spcPct val="120000"/>
              </a:lnSpc>
              <a:buNone/>
            </a:pPr>
            <a:r>
              <a:rPr lang="en-US" sz="1600" b="1" dirty="0">
                <a:solidFill>
                  <a:srgbClr val="0017C1"/>
                </a:solidFill>
                <a:latin typeface="Noto Sans JP" pitchFamily="34" charset="0"/>
                <a:ea typeface="Noto Sans JP" pitchFamily="34" charset="-122"/>
                <a:cs typeface="Noto Sans JP" pitchFamily="34" charset="-120"/>
              </a:rPr>
              <a:t>4　文化</a:t>
            </a:r>
            <a:endParaRPr lang="en-US" sz="1600" dirty="0"/>
          </a:p>
          <a:p>
            <a:pPr indent="0" marL="0">
              <a:lnSpc>
                <a:spcPct val="120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250" dirty="0">
                <a:solidFill>
                  <a:srgbClr val="1A1A1A"/>
                </a:solidFill>
                <a:latin typeface="Noto Sans JP" pitchFamily="34" charset="0"/>
                <a:ea typeface="Noto Sans JP" pitchFamily="34" charset="-122"/>
                <a:cs typeface="Noto Sans JP" pitchFamily="34" charset="-120"/>
              </a:rPr>
              <a:t>日報がクエリとなり、貯まった記録から示唆が返る。事業の継続を意識した営業が当たり前になる</a:t>
            </a:r>
            <a:endParaRPr lang="en-US" sz="1600" dirty="0"/>
          </a:p>
        </p:txBody>
      </p:sp>
      <p:sp>
        <p:nvSpPr>
          <p:cNvPr id="18" name="Shape 16"/>
          <p:cNvSpPr/>
          <p:nvPr/>
        </p:nvSpPr>
        <p:spPr>
          <a:xfrm>
            <a:off x="4093464" y="4457700"/>
            <a:ext cx="246888" cy="0"/>
          </a:xfrm>
          <a:prstGeom prst="line">
            <a:avLst/>
          </a:prstGeom>
          <a:noFill/>
          <a:ln w="19050">
            <a:solidFill>
              <a:srgbClr val="666666"/>
            </a:solidFill>
            <a:prstDash val="solid"/>
            <a:tailEnd type="triangle"/>
          </a:ln>
        </p:spPr>
        <p:txBody>
          <a:bodyPr/>
          <a:p/>
        </p:txBody>
      </p:sp>
      <p:sp>
        <p:nvSpPr>
          <p:cNvPr id="19" name="Shape 17"/>
          <p:cNvSpPr/>
          <p:nvPr/>
        </p:nvSpPr>
        <p:spPr>
          <a:xfrm>
            <a:off x="4376928" y="3794760"/>
            <a:ext cx="3444240" cy="1325880"/>
          </a:xfrm>
          <a:prstGeom prst="rect">
            <a:avLst/>
          </a:prstGeom>
          <a:solidFill>
            <a:srgbClr val="E6F5EC"/>
          </a:solidFill>
          <a:ln w="12700">
            <a:solidFill>
              <a:srgbClr val="E6F5EC"/>
            </a:solidFill>
            <a:prstDash val="solid"/>
          </a:ln>
        </p:spPr>
        <p:txBody>
          <a:bodyPr/>
          <a:p/>
        </p:txBody>
      </p:sp>
      <p:sp>
        <p:nvSpPr>
          <p:cNvPr id="20" name="Text 18"/>
          <p:cNvSpPr txBox="1"/>
          <p:nvPr/>
        </p:nvSpPr>
        <p:spPr>
          <a:xfrm>
            <a:off x="4559808" y="3931920"/>
            <a:ext cx="3078480" cy="1097280"/>
          </a:xfrm>
          <a:prstGeom prst="rect">
            <a:avLst/>
          </a:prstGeom>
          <a:noFill/>
          <a:ln/>
        </p:spPr>
        <p:txBody>
          <a:bodyPr wrap="square" lIns="0" tIns="0" rIns="0" bIns="0" rtlCol="0" anchor="t"/>
          <a:lstStyle/>
          <a:p>
            <a:pPr indent="0" marL="0">
              <a:lnSpc>
                <a:spcPct val="120000"/>
              </a:lnSpc>
              <a:buNone/>
            </a:pPr>
            <a:r>
              <a:rPr lang="en-US" sz="1600" b="1" dirty="0">
                <a:solidFill>
                  <a:srgbClr val="197A4B"/>
                </a:solidFill>
                <a:latin typeface="Noto Sans JP" pitchFamily="34" charset="0"/>
                <a:ea typeface="Noto Sans JP" pitchFamily="34" charset="-122"/>
                <a:cs typeface="Noto Sans JP" pitchFamily="34" charset="-120"/>
              </a:rPr>
              <a:t>5　収益</a:t>
            </a:r>
            <a:endParaRPr lang="en-US" sz="1600" dirty="0"/>
          </a:p>
          <a:p>
            <a:pPr indent="0" marL="0">
              <a:lnSpc>
                <a:spcPct val="120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250" dirty="0">
                <a:solidFill>
                  <a:srgbClr val="1A1A1A"/>
                </a:solidFill>
                <a:latin typeface="Noto Sans JP" pitchFamily="34" charset="0"/>
                <a:ea typeface="Noto Sans JP" pitchFamily="34" charset="-122"/>
                <a:cs typeface="Noto Sans JP" pitchFamily="34" charset="-120"/>
              </a:rPr>
              <a:t>企業が続けば、雇用と技術が守られ、貸出が続く。承継・相続の支援は手数料に。信頼で取引が安定する</a:t>
            </a:r>
            <a:endParaRPr lang="en-US" sz="1600" dirty="0"/>
          </a:p>
        </p:txBody>
      </p:sp>
      <p:sp>
        <p:nvSpPr>
          <p:cNvPr id="21" name="Shape 19"/>
          <p:cNvSpPr/>
          <p:nvPr/>
        </p:nvSpPr>
        <p:spPr>
          <a:xfrm>
            <a:off x="7857744" y="4457700"/>
            <a:ext cx="246888" cy="0"/>
          </a:xfrm>
          <a:prstGeom prst="line">
            <a:avLst/>
          </a:prstGeom>
          <a:noFill/>
          <a:ln w="19050">
            <a:solidFill>
              <a:srgbClr val="666666"/>
            </a:solidFill>
            <a:prstDash val="solid"/>
            <a:tailEnd type="triangle"/>
          </a:ln>
        </p:spPr>
        <p:txBody>
          <a:bodyPr/>
          <a:p/>
        </p:txBody>
      </p:sp>
      <p:sp>
        <p:nvSpPr>
          <p:cNvPr id="22" name="Shape 20"/>
          <p:cNvSpPr/>
          <p:nvPr/>
        </p:nvSpPr>
        <p:spPr>
          <a:xfrm>
            <a:off x="8141208" y="3794760"/>
            <a:ext cx="3444240" cy="1325880"/>
          </a:xfrm>
          <a:prstGeom prst="rect">
            <a:avLst/>
          </a:prstGeom>
          <a:solidFill>
            <a:srgbClr val="E6F5EC"/>
          </a:solidFill>
          <a:ln w="12700">
            <a:solidFill>
              <a:srgbClr val="E6F5EC"/>
            </a:solidFill>
            <a:prstDash val="solid"/>
          </a:ln>
        </p:spPr>
        <p:txBody>
          <a:bodyPr/>
          <a:p/>
        </p:txBody>
      </p:sp>
      <p:sp>
        <p:nvSpPr>
          <p:cNvPr id="23" name="Text 21"/>
          <p:cNvSpPr txBox="1"/>
          <p:nvPr/>
        </p:nvSpPr>
        <p:spPr>
          <a:xfrm>
            <a:off x="8324088" y="3931920"/>
            <a:ext cx="3078480" cy="1097280"/>
          </a:xfrm>
          <a:prstGeom prst="rect">
            <a:avLst/>
          </a:prstGeom>
          <a:noFill/>
          <a:ln/>
        </p:spPr>
        <p:txBody>
          <a:bodyPr wrap="square" lIns="0" tIns="0" rIns="0" bIns="0" rtlCol="0" anchor="t"/>
          <a:lstStyle/>
          <a:p>
            <a:pPr indent="0" marL="0">
              <a:lnSpc>
                <a:spcPct val="120000"/>
              </a:lnSpc>
              <a:buNone/>
            </a:pPr>
            <a:r>
              <a:rPr lang="en-US" sz="1600" b="1" dirty="0">
                <a:solidFill>
                  <a:srgbClr val="197A4B"/>
                </a:solidFill>
                <a:latin typeface="Noto Sans JP" pitchFamily="34" charset="0"/>
                <a:ea typeface="Noto Sans JP" pitchFamily="34" charset="-122"/>
                <a:cs typeface="Noto Sans JP" pitchFamily="34" charset="-120"/>
              </a:rPr>
              <a:t>6　その先</a:t>
            </a:r>
            <a:endParaRPr lang="en-US" sz="1600" dirty="0"/>
          </a:p>
          <a:p>
            <a:pPr indent="0" marL="0">
              <a:lnSpc>
                <a:spcPct val="120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250" dirty="0">
                <a:solidFill>
                  <a:srgbClr val="1A1A1A"/>
                </a:solidFill>
                <a:latin typeface="Noto Sans JP" pitchFamily="34" charset="0"/>
                <a:ea typeface="Noto Sans JP" pitchFamily="34" charset="-122"/>
                <a:cs typeface="Noto Sans JP" pitchFamily="34" charset="-120"/>
              </a:rPr>
              <a:t>承継 → 成長 → 相続へと支援が深まり、銀行は地域の企業と企業をつなぐ役になる</a:t>
            </a:r>
            <a:endParaRPr lang="en-US" sz="1600" dirty="0"/>
          </a:p>
        </p:txBody>
      </p:sp>
      <p:sp>
        <p:nvSpPr>
          <p:cNvPr id="24" name="Shape 22"/>
          <p:cNvSpPr/>
          <p:nvPr/>
        </p:nvSpPr>
        <p:spPr>
          <a:xfrm>
            <a:off x="612648" y="5394960"/>
            <a:ext cx="10972800" cy="777240"/>
          </a:xfrm>
          <a:prstGeom prst="rect">
            <a:avLst/>
          </a:prstGeom>
          <a:solidFill>
            <a:srgbClr val="8EA9DB"/>
          </a:solidFill>
          <a:ln w="12700">
            <a:solidFill>
              <a:srgbClr val="8EA9DB"/>
            </a:solidFill>
            <a:prstDash val="solid"/>
          </a:ln>
        </p:spPr>
        <p:txBody>
          <a:bodyPr/>
          <a:p/>
        </p:txBody>
      </p:sp>
      <p:sp>
        <p:nvSpPr>
          <p:cNvPr id="25" name="Text 23"/>
          <p:cNvSpPr txBox="1"/>
          <p:nvPr/>
        </p:nvSpPr>
        <p:spPr>
          <a:xfrm>
            <a:off x="886968" y="5394960"/>
            <a:ext cx="10424160" cy="777240"/>
          </a:xfrm>
          <a:prstGeom prst="rect">
            <a:avLst/>
          </a:prstGeom>
          <a:noFill/>
          <a:ln/>
        </p:spPr>
        <p:txBody>
          <a:bodyPr wrap="square" lIns="0" tIns="0" rIns="0" bIns="0" rtlCol="0" anchor="ctr"/>
          <a:lstStyle/>
          <a:p>
            <a:pPr indent="0" marL="0">
              <a:buNone/>
            </a:pPr>
            <a:r>
              <a:rPr lang="en-US" sz="2000" b="1" dirty="0">
                <a:solidFill>
                  <a:srgbClr val="FFFFFF"/>
                </a:solidFill>
                <a:latin typeface="Noto Sans JP" pitchFamily="34" charset="0"/>
                <a:ea typeface="Noto Sans JP" pitchFamily="34" charset="-122"/>
                <a:cs typeface="Noto Sans JP" pitchFamily="34" charset="-120"/>
              </a:rPr>
              <a:t>貸し続けられる環境を、自ら作る。　</a:t>
            </a:r>
            <a:pPr indent="0" marL="0">
              <a:buNone/>
            </a:pPr>
            <a:r>
              <a:rPr lang="en-US" sz="1300" dirty="0">
                <a:solidFill>
                  <a:srgbClr val="FFFFFF"/>
                </a:solidFill>
                <a:latin typeface="Noto Sans JP" pitchFamily="34" charset="0"/>
                <a:ea typeface="Noto Sans JP" pitchFamily="34" charset="-122"/>
                <a:cs typeface="Noto Sans JP" pitchFamily="34" charset="-120"/>
              </a:rPr>
              <a:t>融資するか、しないかを判断するだけの銀行は先細る</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預金に金利がつく時代に戻った</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4" name="Text 2"/>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業界構造の変化</a:t>
            </a:r>
            <a:endParaRPr lang="en-US" sz="1200" dirty="0"/>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4</a:t>
            </a:r>
            <a:endParaRPr lang="en-US" sz="1200" dirty="0"/>
          </a:p>
        </p:txBody>
      </p:sp>
      <p:sp>
        <p:nvSpPr>
          <p:cNvPr id="6" name="Text 4"/>
          <p:cNvSpPr/>
          <p:nvPr/>
        </p:nvSpPr>
        <p:spPr>
          <a:xfrm>
            <a:off x="609630" y="1752630"/>
            <a:ext cx="10972709" cy="82296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日銀はマイナス金利政策の解除後、段階的な利上げを続けている。2026年6月に政策金利は1.00％へ到達し、年内さらなる引き上げも見込まれている。</a:t>
            </a:r>
            <a:endParaRPr lang="en-US" sz="1800" dirty="0"/>
          </a:p>
        </p:txBody>
      </p:sp>
      <p:graphicFrame>
        <p:nvGraphicFramePr>
          <p:cNvPr id="7" name="Chart 0"/>
          <p:cNvGraphicFramePr/>
          <p:nvPr/>
        </p:nvGraphicFramePr>
        <p:xfrm>
          <a:off x="609630" y="2758470"/>
          <a:ext cx="10972709" cy="32918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1190484"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貸出機会は増え始めているが、銀行ごとの差が広がっている</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5</a:t>
            </a:r>
            <a:endParaRPr lang="en-US" sz="1200" dirty="0"/>
          </a:p>
        </p:txBody>
      </p:sp>
      <p:sp>
        <p:nvSpPr>
          <p:cNvPr id="6" name="Text 4"/>
          <p:cNvSpPr/>
          <p:nvPr/>
        </p:nvSpPr>
        <p:spPr>
          <a:xfrm>
            <a:off x="609630" y="1752630"/>
            <a:ext cx="11059856" cy="82296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預貸率（預金に対する貸出の割合）は2000年代以降低下を続けてきたが、2023年頃を底に上昇へ転じた。企業の投資意欲の高まりが背景にある。</a:t>
            </a:r>
            <a:endParaRPr lang="en-US" sz="1800" dirty="0"/>
          </a:p>
        </p:txBody>
      </p:sp>
      <p:graphicFrame>
        <p:nvGraphicFramePr>
          <p:cNvPr id="7" name="Chart 0"/>
          <p:cNvGraphicFramePr/>
          <p:nvPr>
            <p:extLst>
              <p:ext uri="{D42A27DB-BD31-4B8C-83A1-F6EECF244321}">
                <p14:modId xmlns:p14="http://schemas.microsoft.com/office/powerpoint/2010/main" val="4292639426"/>
              </p:ext>
            </p:extLst>
          </p:nvPr>
        </p:nvGraphicFramePr>
        <p:xfrm>
          <a:off x="609630" y="2758470"/>
          <a:ext cx="69494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833390" y="2758470"/>
            <a:ext cx="3748949" cy="3200400"/>
          </a:xfrm>
          <a:prstGeom prst="roundRect">
            <a:avLst>
              <a:gd name="adj" fmla="val 1714"/>
            </a:avLst>
          </a:prstGeom>
          <a:solidFill>
            <a:srgbClr val="FBF5E0"/>
          </a:solidFill>
          <a:ln/>
        </p:spPr>
        <p:txBody>
          <a:bodyPr/>
          <a:p/>
        </p:txBody>
      </p:sp>
      <p:sp>
        <p:nvSpPr>
          <p:cNvPr id="9" name="Text 6"/>
          <p:cNvSpPr/>
          <p:nvPr/>
        </p:nvSpPr>
        <p:spPr>
          <a:xfrm>
            <a:off x="8061990" y="2987070"/>
            <a:ext cx="3291749" cy="365760"/>
          </a:xfrm>
          <a:prstGeom prst="rect">
            <a:avLst/>
          </a:prstGeom>
          <a:noFill/>
          <a:ln/>
        </p:spPr>
        <p:txBody>
          <a:bodyPr wrap="square" rtlCol="0" anchor="t"/>
          <a:lstStyle/>
          <a:p>
            <a:pPr marL="0" indent="0" algn="l">
              <a:lnSpc>
                <a:spcPct val="150000"/>
              </a:lnSpc>
              <a:buNone/>
            </a:pPr>
            <a:r>
              <a:rPr lang="en-US" sz="1650" b="1" dirty="0">
                <a:solidFill>
                  <a:srgbClr val="806300"/>
                </a:solidFill>
                <a:latin typeface="Noto Sans JP" pitchFamily="34" charset="0"/>
                <a:ea typeface="Noto Sans JP" pitchFamily="34" charset="-122"/>
                <a:cs typeface="Noto Sans JP" pitchFamily="34" charset="-120"/>
              </a:rPr>
              <a:t>ただし上昇の中身には差がある</a:t>
            </a:r>
            <a:endParaRPr lang="en-US" sz="1650" dirty="0"/>
          </a:p>
        </p:txBody>
      </p:sp>
      <p:sp>
        <p:nvSpPr>
          <p:cNvPr id="10" name="Text 7"/>
          <p:cNvSpPr/>
          <p:nvPr/>
        </p:nvSpPr>
        <p:spPr>
          <a:xfrm>
            <a:off x="8061990" y="3489990"/>
            <a:ext cx="3291749" cy="1891907"/>
          </a:xfrm>
          <a:prstGeom prst="rect">
            <a:avLst/>
          </a:prstGeom>
          <a:noFill/>
          <a:ln/>
        </p:spPr>
        <p:txBody>
          <a:bodyPr wrap="square" rtlCol="0" anchor="t"/>
          <a:lstStyle/>
          <a:p>
            <a:pPr marL="228600" indent="-228600">
              <a:lnSpc>
                <a:spcPct val="130000"/>
              </a:lnSpc>
              <a:buSzPct val="100000"/>
              <a:buChar char="●"/>
            </a:pPr>
            <a:r>
              <a:rPr lang="en-US" sz="1500" dirty="0">
                <a:solidFill>
                  <a:srgbClr val="1A1A1A"/>
                </a:solidFill>
                <a:latin typeface="Noto Sans JP" pitchFamily="34" charset="0"/>
                <a:ea typeface="Noto Sans JP" pitchFamily="34" charset="-122"/>
                <a:cs typeface="Noto Sans JP" pitchFamily="34" charset="-120"/>
              </a:rPr>
              <a:t>小規模な地方銀行では、利ざやの改善が遅れ、貸出の伸び悩みや預金の減少も見られる</a:t>
            </a:r>
            <a:endParaRPr lang="en-US" sz="1500" dirty="0"/>
          </a:p>
          <a:p>
            <a:pPr marL="228600" indent="-228600">
              <a:lnSpc>
                <a:spcPct val="130000"/>
              </a:lnSpc>
              <a:buSzPct val="100000"/>
              <a:buChar char="●"/>
            </a:pPr>
            <a:r>
              <a:rPr lang="en-US" sz="1500" dirty="0">
                <a:solidFill>
                  <a:srgbClr val="1A1A1A"/>
                </a:solidFill>
                <a:latin typeface="Noto Sans JP" pitchFamily="34" charset="0"/>
                <a:ea typeface="Noto Sans JP" pitchFamily="34" charset="-122"/>
                <a:cs typeface="Noto Sans JP" pitchFamily="34" charset="-120"/>
              </a:rPr>
              <a:t>同じ「金利のある世界」でも、貸出機会を捉えられる銀行とそうでない銀行の差が広がっている</a:t>
            </a:r>
            <a:endParaRPr lang="en-US" sz="1500" dirty="0"/>
          </a:p>
        </p:txBody>
      </p:sp>
      <p:sp>
        <p:nvSpPr>
          <p:cNvPr id="12" name="Text 2">
            <a:extLst>
              <a:ext uri="{FF2B5EF4-FFF2-40B4-BE49-F238E27FC236}">
                <a16:creationId xmlns:a16="http://schemas.microsoft.com/office/drawing/2014/main" id="{11DE47B2-C4F9-F299-D42A-6A10E3525681}"/>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業界構造の変化</a:t>
            </a:r>
            <a:endParaRPr lang="en-US" sz="1200" dirty="0"/>
          </a:p>
        </p:txBody>
      </p:sp>
      <p:sp>
        <p:nvSpPr>
          <p:cNvPr id="15" name="テキスト ボックス 14">
            <a:extLst>
              <a:ext uri="{FF2B5EF4-FFF2-40B4-BE49-F238E27FC236}">
                <a16:creationId xmlns:a16="http://schemas.microsoft.com/office/drawing/2014/main" id="{7C8D4E3E-B1B3-5EB3-8D85-97A72CE1EEC8}"/>
              </a:ext>
            </a:extLst>
          </p:cNvPr>
          <p:cNvSpPr txBox="1"/>
          <p:nvPr/>
        </p:nvSpPr>
        <p:spPr>
          <a:xfrm>
            <a:off x="609630" y="2597155"/>
            <a:ext cx="567784" cy="261610"/>
          </a:xfrm>
          <a:prstGeom prst="rect">
            <a:avLst/>
          </a:prstGeom>
          <a:noFill/>
        </p:spPr>
        <p:txBody>
          <a:bodyPr wrap="none" rtlCol="0">
            <a:spAutoFit/>
          </a:bodyPr>
          <a:lstStyle/>
          <a:p>
            <a:r>
              <a:rPr kumimoji="1" lang="ja-JP" altLang="en-US" sz="1100" dirty="0"/>
              <a:t>（</a:t>
            </a:r>
            <a:r>
              <a:rPr kumimoji="1" lang="en-US" altLang="ja-JP" sz="1100" dirty="0"/>
              <a:t>%</a:t>
            </a:r>
            <a:r>
              <a:rPr kumimoji="1" lang="ja-JP" altLang="en-US" sz="1100" dirty="0"/>
              <a:t>）</a:t>
            </a:r>
          </a:p>
        </p:txBody>
      </p:sp>
      <p:sp>
        <p:nvSpPr>
          <p:cNvPr id="16" name="テキスト ボックス 15">
            <a:extLst>
              <a:ext uri="{FF2B5EF4-FFF2-40B4-BE49-F238E27FC236}">
                <a16:creationId xmlns:a16="http://schemas.microsoft.com/office/drawing/2014/main" id="{8614D3B9-810F-EF97-FEB0-4FE46AC82C2D}"/>
              </a:ext>
            </a:extLst>
          </p:cNvPr>
          <p:cNvSpPr txBox="1"/>
          <p:nvPr/>
        </p:nvSpPr>
        <p:spPr>
          <a:xfrm>
            <a:off x="9074331" y="5519057"/>
            <a:ext cx="1425390" cy="369332"/>
          </a:xfrm>
          <a:prstGeom prst="rect">
            <a:avLst/>
          </a:prstGeom>
          <a:noFill/>
        </p:spPr>
        <p:txBody>
          <a:bodyPr wrap="none" rtlCol="0">
            <a:spAutoFit/>
          </a:bodyPr>
          <a:lstStyle/>
          <a:p>
            <a:r>
              <a:rPr kumimoji="1" lang="ja-JP" altLang="en-US" b="1" dirty="0"/>
              <a:t>競争激化🔥</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収益の分かれ目は、貸出先を見つけ、関係を深められるかどうかに移った</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6</a:t>
            </a:r>
            <a:endParaRPr lang="en-US" sz="1200" dirty="0"/>
          </a:p>
        </p:txBody>
      </p:sp>
      <p:sp>
        <p:nvSpPr>
          <p:cNvPr id="6" name="Text 4"/>
          <p:cNvSpPr/>
          <p:nvPr/>
        </p:nvSpPr>
        <p:spPr>
          <a:xfrm>
            <a:off x="609630" y="1752630"/>
            <a:ext cx="10972709" cy="1188720"/>
          </a:xfrm>
          <a:prstGeom prst="rect">
            <a:avLst/>
          </a:prstGeom>
          <a:noFill/>
          <a:ln/>
        </p:spPr>
        <p:txBody>
          <a:bodyPr wrap="square" rtlCol="0" anchor="t"/>
          <a:lstStyle/>
          <a:p>
            <a:pPr marL="0" indent="0" algn="l">
              <a:lnSpc>
                <a:spcPct val="150000"/>
              </a:lnSpc>
              <a:buNone/>
            </a:pPr>
            <a:r>
              <a:rPr lang="en-US" sz="1800" dirty="0" err="1">
                <a:solidFill>
                  <a:srgbClr val="1A1A1A"/>
                </a:solidFill>
                <a:latin typeface="Noto Sans JP" pitchFamily="34" charset="0"/>
                <a:ea typeface="Noto Sans JP" pitchFamily="34" charset="-122"/>
                <a:cs typeface="Noto Sans JP" pitchFamily="34" charset="-120"/>
              </a:rPr>
              <a:t>金利が上がったことは</a:t>
            </a:r>
            <a:r>
              <a:rPr lang="ja-JP" altLang="en-US" sz="1800" dirty="0">
                <a:solidFill>
                  <a:srgbClr val="1A1A1A"/>
                </a:solidFill>
                <a:latin typeface="Noto Sans JP" pitchFamily="34" charset="0"/>
                <a:ea typeface="Noto Sans JP" pitchFamily="34" charset="-122"/>
                <a:cs typeface="Noto Sans JP" pitchFamily="34" charset="-120"/>
              </a:rPr>
              <a:t>、</a:t>
            </a:r>
            <a:r>
              <a:rPr lang="en-US" sz="1800" dirty="0" err="1">
                <a:solidFill>
                  <a:srgbClr val="1A1A1A"/>
                </a:solidFill>
                <a:latin typeface="Noto Sans JP" pitchFamily="34" charset="0"/>
                <a:ea typeface="Noto Sans JP" pitchFamily="34" charset="-122"/>
                <a:cs typeface="Noto Sans JP" pitchFamily="34" charset="-120"/>
              </a:rPr>
              <a:t>地方銀行にとって追い風である</a:t>
            </a:r>
            <a:r>
              <a:rPr lang="ja-JP" altLang="en-US" dirty="0">
                <a:solidFill>
                  <a:srgbClr val="1A1A1A"/>
                </a:solidFill>
                <a:latin typeface="Noto Sans JP" pitchFamily="34" charset="0"/>
                <a:ea typeface="Noto Sans JP" pitchFamily="34" charset="-122"/>
                <a:cs typeface="Noto Sans JP" pitchFamily="34" charset="-120"/>
              </a:rPr>
              <a:t>。</a:t>
            </a:r>
            <a:r>
              <a:rPr lang="en-US" sz="1800" dirty="0" err="1">
                <a:solidFill>
                  <a:srgbClr val="1A1A1A"/>
                </a:solidFill>
                <a:latin typeface="Noto Sans JP" pitchFamily="34" charset="0"/>
                <a:ea typeface="Noto Sans JP" pitchFamily="34" charset="-122"/>
                <a:cs typeface="Noto Sans JP" pitchFamily="34" charset="-120"/>
              </a:rPr>
              <a:t>しかし</a:t>
            </a:r>
            <a:r>
              <a:rPr lang="ja-JP" altLang="en-US" sz="1800" dirty="0">
                <a:solidFill>
                  <a:srgbClr val="1A1A1A"/>
                </a:solidFill>
                <a:latin typeface="Noto Sans JP" pitchFamily="34" charset="0"/>
                <a:ea typeface="Noto Sans JP" pitchFamily="34" charset="-122"/>
                <a:cs typeface="Noto Sans JP" pitchFamily="34" charset="-120"/>
              </a:rPr>
              <a:t>、</a:t>
            </a:r>
            <a:r>
              <a:rPr lang="en-US" sz="1800" dirty="0" err="1">
                <a:solidFill>
                  <a:srgbClr val="1A1A1A"/>
                </a:solidFill>
                <a:latin typeface="Noto Sans JP" pitchFamily="34" charset="0"/>
                <a:ea typeface="Noto Sans JP" pitchFamily="34" charset="-122"/>
                <a:cs typeface="Noto Sans JP" pitchFamily="34" charset="-120"/>
              </a:rPr>
              <a:t>それだけでは収益は伸びない</a:t>
            </a:r>
            <a:r>
              <a:rPr lang="en-US" sz="1800" dirty="0">
                <a:solidFill>
                  <a:srgbClr val="1A1A1A"/>
                </a:solidFill>
                <a:latin typeface="Noto Sans JP" pitchFamily="34" charset="0"/>
                <a:ea typeface="Noto Sans JP" pitchFamily="34" charset="-122"/>
                <a:cs typeface="Noto Sans JP" pitchFamily="34" charset="-120"/>
              </a:rPr>
              <a:t>。</a:t>
            </a:r>
          </a:p>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預貸率の回復が示すように、貸出機会そのものは増え始めている一方、その機会を実際に捉えられるかどうかで銀行間の差が広がり始めている。</a:t>
            </a:r>
            <a:endParaRPr lang="en-US" sz="1800" dirty="0"/>
          </a:p>
        </p:txBody>
      </p:sp>
      <p:sp>
        <p:nvSpPr>
          <p:cNvPr id="7" name="Shape 5"/>
          <p:cNvSpPr/>
          <p:nvPr/>
        </p:nvSpPr>
        <p:spPr>
          <a:xfrm>
            <a:off x="609630" y="3215670"/>
            <a:ext cx="5120594" cy="2011680"/>
          </a:xfrm>
          <a:prstGeom prst="roundRect">
            <a:avLst>
              <a:gd name="adj" fmla="val 2727"/>
            </a:avLst>
          </a:prstGeom>
          <a:solidFill>
            <a:srgbClr val="F2F2F2"/>
          </a:solidFill>
          <a:ln/>
        </p:spPr>
        <p:txBody>
          <a:bodyPr/>
          <a:p/>
        </p:txBody>
      </p:sp>
      <p:sp>
        <p:nvSpPr>
          <p:cNvPr id="8" name="Text 6"/>
          <p:cNvSpPr/>
          <p:nvPr/>
        </p:nvSpPr>
        <p:spPr>
          <a:xfrm>
            <a:off x="883950" y="3444270"/>
            <a:ext cx="4571954" cy="365760"/>
          </a:xfrm>
          <a:prstGeom prst="rect">
            <a:avLst/>
          </a:prstGeom>
          <a:noFill/>
          <a:ln/>
        </p:spPr>
        <p:txBody>
          <a:bodyPr wrap="square" rtlCol="0" anchor="t"/>
          <a:lstStyle/>
          <a:p>
            <a:pPr marL="0" indent="0" algn="l">
              <a:lnSpc>
                <a:spcPct val="150000"/>
              </a:lnSpc>
              <a:buNone/>
            </a:pPr>
            <a:r>
              <a:rPr lang="en-US" sz="2200" b="1" dirty="0">
                <a:solidFill>
                  <a:srgbClr val="666666"/>
                </a:solidFill>
                <a:latin typeface="Noto Sans JP" pitchFamily="34" charset="0"/>
                <a:ea typeface="Noto Sans JP" pitchFamily="34" charset="-122"/>
                <a:cs typeface="Noto Sans JP" pitchFamily="34" charset="-120"/>
              </a:rPr>
              <a:t>捉えられない銀行</a:t>
            </a:r>
            <a:endParaRPr lang="en-US" sz="2200" dirty="0"/>
          </a:p>
        </p:txBody>
      </p:sp>
      <p:sp>
        <p:nvSpPr>
          <p:cNvPr id="9" name="Text 7"/>
          <p:cNvSpPr/>
          <p:nvPr/>
        </p:nvSpPr>
        <p:spPr>
          <a:xfrm>
            <a:off x="883950" y="3992910"/>
            <a:ext cx="4571954" cy="1097280"/>
          </a:xfrm>
          <a:prstGeom prst="rect">
            <a:avLst/>
          </a:prstGeom>
          <a:noFill/>
          <a:ln/>
        </p:spPr>
        <p:txBody>
          <a:bodyPr wrap="square" rtlCol="0" anchor="t"/>
          <a:lstStyle/>
          <a:p>
            <a:pPr marL="228600" indent="-228600">
              <a:lnSpc>
                <a:spcPct val="140000"/>
              </a:lnSpc>
              <a:buSzPct val="100000"/>
              <a:buChar char="●"/>
            </a:pPr>
            <a:r>
              <a:rPr lang="en-US" sz="1600" dirty="0">
                <a:solidFill>
                  <a:srgbClr val="1A1A1A"/>
                </a:solidFill>
                <a:latin typeface="Noto Sans JP" pitchFamily="34" charset="0"/>
                <a:ea typeface="Noto Sans JP" pitchFamily="34" charset="-122"/>
                <a:cs typeface="Noto Sans JP" pitchFamily="34" charset="-120"/>
              </a:rPr>
              <a:t>良い貸出・支援先を見つけられない</a:t>
            </a:r>
            <a:endParaRPr lang="en-US" sz="1600" dirty="0"/>
          </a:p>
          <a:p>
            <a:pPr marL="228600" indent="-228600">
              <a:lnSpc>
                <a:spcPct val="140000"/>
              </a:lnSpc>
              <a:buSzPct val="100000"/>
              <a:buChar char="●"/>
            </a:pPr>
            <a:r>
              <a:rPr lang="en-US" sz="1600" dirty="0">
                <a:solidFill>
                  <a:srgbClr val="1A1A1A"/>
                </a:solidFill>
                <a:latin typeface="Noto Sans JP" pitchFamily="34" charset="0"/>
                <a:ea typeface="Noto Sans JP" pitchFamily="34" charset="-122"/>
                <a:cs typeface="Noto Sans JP" pitchFamily="34" charset="-120"/>
              </a:rPr>
              <a:t>預金は集まっても、活かす先がない</a:t>
            </a:r>
            <a:endParaRPr lang="en-US" sz="1600" dirty="0"/>
          </a:p>
        </p:txBody>
      </p:sp>
      <p:sp>
        <p:nvSpPr>
          <p:cNvPr id="10" name="Shape 8"/>
          <p:cNvSpPr/>
          <p:nvPr/>
        </p:nvSpPr>
        <p:spPr>
          <a:xfrm>
            <a:off x="6461745" y="3215670"/>
            <a:ext cx="5120594" cy="2011680"/>
          </a:xfrm>
          <a:prstGeom prst="roundRect">
            <a:avLst>
              <a:gd name="adj" fmla="val 2727"/>
            </a:avLst>
          </a:prstGeom>
          <a:solidFill>
            <a:srgbClr val="E8F1FE"/>
          </a:solidFill>
          <a:ln/>
        </p:spPr>
        <p:txBody>
          <a:bodyPr/>
          <a:p/>
        </p:txBody>
      </p:sp>
      <p:sp>
        <p:nvSpPr>
          <p:cNvPr id="11" name="Text 9"/>
          <p:cNvSpPr/>
          <p:nvPr/>
        </p:nvSpPr>
        <p:spPr>
          <a:xfrm>
            <a:off x="6736065" y="3444270"/>
            <a:ext cx="4571954" cy="365760"/>
          </a:xfrm>
          <a:prstGeom prst="rect">
            <a:avLst/>
          </a:prstGeom>
          <a:noFill/>
          <a:ln/>
        </p:spPr>
        <p:txBody>
          <a:bodyPr wrap="square" rtlCol="0" anchor="t"/>
          <a:lstStyle/>
          <a:p>
            <a:pPr marL="0" indent="0" algn="l">
              <a:lnSpc>
                <a:spcPct val="150000"/>
              </a:lnSpc>
              <a:buNone/>
            </a:pPr>
            <a:r>
              <a:rPr lang="en-US" sz="2200" b="1" dirty="0">
                <a:solidFill>
                  <a:srgbClr val="0017C1"/>
                </a:solidFill>
                <a:latin typeface="Noto Sans JP" pitchFamily="34" charset="0"/>
                <a:ea typeface="Noto Sans JP" pitchFamily="34" charset="-122"/>
                <a:cs typeface="Noto Sans JP" pitchFamily="34" charset="-120"/>
              </a:rPr>
              <a:t>捉えられる銀行</a:t>
            </a:r>
            <a:endParaRPr lang="en-US" sz="2200" dirty="0"/>
          </a:p>
        </p:txBody>
      </p:sp>
      <p:sp>
        <p:nvSpPr>
          <p:cNvPr id="12" name="Text 10"/>
          <p:cNvSpPr/>
          <p:nvPr/>
        </p:nvSpPr>
        <p:spPr>
          <a:xfrm>
            <a:off x="6736065" y="3992910"/>
            <a:ext cx="4571954" cy="1097280"/>
          </a:xfrm>
          <a:prstGeom prst="rect">
            <a:avLst/>
          </a:prstGeom>
          <a:noFill/>
          <a:ln/>
        </p:spPr>
        <p:txBody>
          <a:bodyPr wrap="square" rtlCol="0" anchor="t"/>
          <a:lstStyle/>
          <a:p>
            <a:pPr marL="228600" indent="-228600">
              <a:lnSpc>
                <a:spcPct val="140000"/>
              </a:lnSpc>
              <a:buSzPct val="100000"/>
              <a:buChar char="●"/>
            </a:pPr>
            <a:r>
              <a:rPr lang="en-US" sz="1600" dirty="0">
                <a:solidFill>
                  <a:srgbClr val="1A1A1A"/>
                </a:solidFill>
                <a:latin typeface="Noto Sans JP" pitchFamily="34" charset="0"/>
                <a:ea typeface="Noto Sans JP" pitchFamily="34" charset="-122"/>
                <a:cs typeface="Noto Sans JP" pitchFamily="34" charset="-120"/>
              </a:rPr>
              <a:t>地域企業の変化にいち早く気づき、関係を深められる</a:t>
            </a:r>
            <a:endParaRPr lang="en-US" sz="1600" dirty="0"/>
          </a:p>
          <a:p>
            <a:pPr marL="228600" indent="-228600">
              <a:lnSpc>
                <a:spcPct val="140000"/>
              </a:lnSpc>
              <a:buSzPct val="100000"/>
              <a:buChar char="●"/>
            </a:pPr>
            <a:r>
              <a:rPr lang="en-US" sz="1600" dirty="0">
                <a:solidFill>
                  <a:srgbClr val="1A1A1A"/>
                </a:solidFill>
                <a:latin typeface="Noto Sans JP" pitchFamily="34" charset="0"/>
                <a:ea typeface="Noto Sans JP" pitchFamily="34" charset="-122"/>
                <a:cs typeface="Noto Sans JP" pitchFamily="34" charset="-120"/>
              </a:rPr>
              <a:t>預金・貸出の双方を地域内で循環させられる</a:t>
            </a:r>
            <a:endParaRPr lang="en-US" sz="1600" dirty="0"/>
          </a:p>
        </p:txBody>
      </p:sp>
      <p:sp>
        <p:nvSpPr>
          <p:cNvPr id="13" name="Text 11"/>
          <p:cNvSpPr/>
          <p:nvPr/>
        </p:nvSpPr>
        <p:spPr>
          <a:xfrm>
            <a:off x="609630" y="5519087"/>
            <a:ext cx="10972709" cy="579090"/>
          </a:xfrm>
          <a:prstGeom prst="rect">
            <a:avLst/>
          </a:prstGeom>
          <a:noFill/>
          <a:ln/>
        </p:spPr>
        <p:txBody>
          <a:bodyPr wrap="square" rtlCol="0" anchor="t"/>
          <a:lstStyle/>
          <a:p>
            <a:pPr marL="0" indent="0" algn="l">
              <a:lnSpc>
                <a:spcPct val="150000"/>
              </a:lnSpc>
              <a:buNone/>
            </a:pPr>
            <a:r>
              <a:rPr lang="en-US" sz="2200" b="1" dirty="0" err="1">
                <a:solidFill>
                  <a:srgbClr val="1A1A1A"/>
                </a:solidFill>
                <a:latin typeface="Noto Sans JP" pitchFamily="34" charset="0"/>
                <a:ea typeface="Noto Sans JP" pitchFamily="34" charset="-122"/>
                <a:cs typeface="Noto Sans JP" pitchFamily="34" charset="-120"/>
              </a:rPr>
              <a:t>この差を生むのは「既存顧客との関係の深さ」である</a:t>
            </a:r>
            <a:r>
              <a:rPr lang="en-US" sz="2200" b="1" dirty="0">
                <a:solidFill>
                  <a:srgbClr val="1A1A1A"/>
                </a:solidFill>
                <a:latin typeface="Noto Sans JP" pitchFamily="34" charset="0"/>
                <a:ea typeface="Noto Sans JP" pitchFamily="34" charset="-122"/>
                <a:cs typeface="Noto Sans JP" pitchFamily="34" charset="-120"/>
              </a:rPr>
              <a:t>。</a:t>
            </a:r>
          </a:p>
          <a:p>
            <a:pPr marL="0" indent="0" algn="l">
              <a:lnSpc>
                <a:spcPct val="150000"/>
              </a:lnSpc>
              <a:buNone/>
            </a:pPr>
            <a:r>
              <a:rPr lang="ja-JP" altLang="en-US" sz="2200" b="1" dirty="0">
                <a:solidFill>
                  <a:srgbClr val="1A1A1A"/>
                </a:solidFill>
                <a:latin typeface="Noto Sans JP" pitchFamily="34" charset="0"/>
                <a:ea typeface="Noto Sans JP" pitchFamily="34" charset="-122"/>
              </a:rPr>
              <a:t>関係が浅いとすぐに他行にスイッチされてしまうリスク増大。</a:t>
            </a:r>
            <a:endParaRPr lang="en-US" sz="2200" dirty="0"/>
          </a:p>
        </p:txBody>
      </p:sp>
      <p:sp>
        <p:nvSpPr>
          <p:cNvPr id="15" name="Text 2">
            <a:extLst>
              <a:ext uri="{FF2B5EF4-FFF2-40B4-BE49-F238E27FC236}">
                <a16:creationId xmlns:a16="http://schemas.microsoft.com/office/drawing/2014/main" id="{AE61570A-8738-2827-F81B-0C4AFA661D98}"/>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業界構造の変化</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その「関係の深さ」は、今は担当者個人に依存している</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7</a:t>
            </a:r>
            <a:endParaRPr lang="en-US" sz="1200" dirty="0"/>
          </a:p>
        </p:txBody>
      </p:sp>
      <p:sp>
        <p:nvSpPr>
          <p:cNvPr id="6" name="Text 4"/>
          <p:cNvSpPr/>
          <p:nvPr/>
        </p:nvSpPr>
        <p:spPr>
          <a:xfrm>
            <a:off x="609630" y="1752630"/>
            <a:ext cx="10972709" cy="100584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貸出先・支援先を見つけるために本来必要なのは、既存顧客との関係の深さと、企業ごとの小さな変化への気づきである。しかし現状、その情報の多くは担当者個人の訪問記録や記憶の中にとどまっている。</a:t>
            </a:r>
            <a:endParaRPr lang="en-US" sz="1800" dirty="0"/>
          </a:p>
        </p:txBody>
      </p:sp>
      <p:sp>
        <p:nvSpPr>
          <p:cNvPr id="7" name="Shape 5"/>
          <p:cNvSpPr/>
          <p:nvPr/>
        </p:nvSpPr>
        <p:spPr>
          <a:xfrm>
            <a:off x="609630" y="3124230"/>
            <a:ext cx="3352770" cy="2377440"/>
          </a:xfrm>
          <a:prstGeom prst="roundRect">
            <a:avLst>
              <a:gd name="adj" fmla="val 2308"/>
            </a:avLst>
          </a:prstGeom>
          <a:solidFill>
            <a:srgbClr val="F2F2F2"/>
          </a:solidFill>
          <a:ln/>
        </p:spPr>
        <p:txBody>
          <a:bodyPr/>
          <a:p/>
        </p:txBody>
      </p:sp>
      <p:sp>
        <p:nvSpPr>
          <p:cNvPr id="8" name="Text 6"/>
          <p:cNvSpPr/>
          <p:nvPr/>
        </p:nvSpPr>
        <p:spPr>
          <a:xfrm>
            <a:off x="838230" y="3307110"/>
            <a:ext cx="548640" cy="457200"/>
          </a:xfrm>
          <a:prstGeom prst="rect">
            <a:avLst/>
          </a:prstGeom>
          <a:noFill/>
          <a:ln/>
        </p:spPr>
        <p:txBody>
          <a:bodyPr wrap="square" rtlCol="0" anchor="ctr"/>
          <a:lstStyle/>
          <a:p>
            <a:pPr marL="0" indent="0">
              <a:buNone/>
            </a:pPr>
            <a:r>
              <a:rPr lang="en-US" sz="2000" b="1" dirty="0">
                <a:solidFill>
                  <a:srgbClr val="0017C1"/>
                </a:solidFill>
                <a:latin typeface="Noto Sans JP" pitchFamily="34" charset="0"/>
                <a:ea typeface="Noto Sans JP" pitchFamily="34" charset="-122"/>
                <a:cs typeface="Noto Sans JP" pitchFamily="34" charset="-120"/>
              </a:rPr>
              <a:t>1</a:t>
            </a:r>
            <a:endParaRPr lang="en-US" sz="2000" dirty="0"/>
          </a:p>
        </p:txBody>
      </p:sp>
      <p:sp>
        <p:nvSpPr>
          <p:cNvPr id="9" name="Text 7"/>
          <p:cNvSpPr/>
          <p:nvPr/>
        </p:nvSpPr>
        <p:spPr>
          <a:xfrm>
            <a:off x="838230" y="3901470"/>
            <a:ext cx="2895570" cy="457200"/>
          </a:xfrm>
          <a:prstGeom prst="rect">
            <a:avLst/>
          </a:prstGeom>
          <a:noFill/>
          <a:ln/>
        </p:spPr>
        <p:txBody>
          <a:bodyPr wrap="square" rtlCol="0" anchor="t"/>
          <a:lstStyle/>
          <a:p>
            <a:pPr marL="0" indent="0" algn="l">
              <a:lnSpc>
                <a:spcPct val="150000"/>
              </a:lnSpc>
              <a:buNone/>
            </a:pPr>
            <a:r>
              <a:rPr lang="en-US" sz="1870" b="1" dirty="0">
                <a:solidFill>
                  <a:srgbClr val="1A1A1A"/>
                </a:solidFill>
                <a:latin typeface="Noto Sans JP" pitchFamily="34" charset="0"/>
                <a:ea typeface="Noto Sans JP" pitchFamily="34" charset="-122"/>
                <a:cs typeface="Noto Sans JP" pitchFamily="34" charset="-120"/>
              </a:rPr>
              <a:t>気づきの発生</a:t>
            </a:r>
            <a:endParaRPr lang="en-US" sz="1870" dirty="0"/>
          </a:p>
        </p:txBody>
      </p:sp>
      <p:sp>
        <p:nvSpPr>
          <p:cNvPr id="10" name="Text 8"/>
          <p:cNvSpPr/>
          <p:nvPr/>
        </p:nvSpPr>
        <p:spPr>
          <a:xfrm>
            <a:off x="838230" y="4404390"/>
            <a:ext cx="2895570" cy="914400"/>
          </a:xfrm>
          <a:prstGeom prst="rect">
            <a:avLst/>
          </a:prstGeom>
          <a:noFill/>
          <a:ln/>
        </p:spPr>
        <p:txBody>
          <a:bodyPr wrap="square" rtlCol="0" anchor="t"/>
          <a:lstStyle/>
          <a:p>
            <a:pPr marL="0" indent="0" algn="l">
              <a:lnSpc>
                <a:spcPct val="130000"/>
              </a:lnSpc>
              <a:buNone/>
            </a:pPr>
            <a:r>
              <a:rPr lang="en-US" sz="1530" dirty="0">
                <a:solidFill>
                  <a:srgbClr val="666666"/>
                </a:solidFill>
                <a:latin typeface="Noto Sans JP" pitchFamily="34" charset="0"/>
                <a:ea typeface="Noto Sans JP" pitchFamily="34" charset="-122"/>
                <a:cs typeface="Noto Sans JP" pitchFamily="34" charset="-120"/>
              </a:rPr>
              <a:t>面談の雑談や表情から、担当者が違和感に気づく</a:t>
            </a:r>
            <a:endParaRPr lang="en-US" sz="1530" dirty="0"/>
          </a:p>
        </p:txBody>
      </p:sp>
      <p:sp>
        <p:nvSpPr>
          <p:cNvPr id="11" name="Shape 9"/>
          <p:cNvSpPr/>
          <p:nvPr/>
        </p:nvSpPr>
        <p:spPr>
          <a:xfrm>
            <a:off x="4419600" y="3124230"/>
            <a:ext cx="3352770" cy="2377440"/>
          </a:xfrm>
          <a:prstGeom prst="roundRect">
            <a:avLst>
              <a:gd name="adj" fmla="val 2308"/>
            </a:avLst>
          </a:prstGeom>
          <a:solidFill>
            <a:srgbClr val="F2F2F2"/>
          </a:solidFill>
          <a:ln/>
        </p:spPr>
        <p:txBody>
          <a:bodyPr/>
          <a:p/>
        </p:txBody>
      </p:sp>
      <p:sp>
        <p:nvSpPr>
          <p:cNvPr id="12" name="Text 10"/>
          <p:cNvSpPr/>
          <p:nvPr/>
        </p:nvSpPr>
        <p:spPr>
          <a:xfrm>
            <a:off x="4648200" y="3307110"/>
            <a:ext cx="548640" cy="457200"/>
          </a:xfrm>
          <a:prstGeom prst="rect">
            <a:avLst/>
          </a:prstGeom>
          <a:noFill/>
          <a:ln/>
        </p:spPr>
        <p:txBody>
          <a:bodyPr wrap="square" rtlCol="0" anchor="ctr"/>
          <a:lstStyle/>
          <a:p>
            <a:pPr marL="0" indent="0">
              <a:buNone/>
            </a:pPr>
            <a:r>
              <a:rPr lang="en-US" sz="2000" b="1" dirty="0">
                <a:solidFill>
                  <a:srgbClr val="0017C1"/>
                </a:solidFill>
                <a:latin typeface="Noto Sans JP" pitchFamily="34" charset="0"/>
                <a:ea typeface="Noto Sans JP" pitchFamily="34" charset="-122"/>
                <a:cs typeface="Noto Sans JP" pitchFamily="34" charset="-120"/>
              </a:rPr>
              <a:t>2</a:t>
            </a:r>
            <a:endParaRPr lang="en-US" sz="2000" dirty="0"/>
          </a:p>
        </p:txBody>
      </p:sp>
      <p:sp>
        <p:nvSpPr>
          <p:cNvPr id="13" name="Text 11"/>
          <p:cNvSpPr/>
          <p:nvPr/>
        </p:nvSpPr>
        <p:spPr>
          <a:xfrm>
            <a:off x="4648200" y="3901470"/>
            <a:ext cx="2895570" cy="457200"/>
          </a:xfrm>
          <a:prstGeom prst="rect">
            <a:avLst/>
          </a:prstGeom>
          <a:noFill/>
          <a:ln/>
        </p:spPr>
        <p:txBody>
          <a:bodyPr wrap="square" rtlCol="0" anchor="t"/>
          <a:lstStyle/>
          <a:p>
            <a:pPr marL="0" indent="0" algn="l">
              <a:lnSpc>
                <a:spcPct val="150000"/>
              </a:lnSpc>
              <a:buNone/>
            </a:pPr>
            <a:r>
              <a:rPr lang="en-US" sz="1870" b="1" dirty="0">
                <a:solidFill>
                  <a:srgbClr val="1A1A1A"/>
                </a:solidFill>
                <a:latin typeface="Noto Sans JP" pitchFamily="34" charset="0"/>
                <a:ea typeface="Noto Sans JP" pitchFamily="34" charset="-122"/>
                <a:cs typeface="Noto Sans JP" pitchFamily="34" charset="-120"/>
              </a:rPr>
              <a:t>記録のばらつき</a:t>
            </a:r>
            <a:endParaRPr lang="en-US" sz="1870" dirty="0"/>
          </a:p>
        </p:txBody>
      </p:sp>
      <p:sp>
        <p:nvSpPr>
          <p:cNvPr id="14" name="Text 12"/>
          <p:cNvSpPr/>
          <p:nvPr/>
        </p:nvSpPr>
        <p:spPr>
          <a:xfrm>
            <a:off x="4648200" y="4404390"/>
            <a:ext cx="2895570" cy="914400"/>
          </a:xfrm>
          <a:prstGeom prst="rect">
            <a:avLst/>
          </a:prstGeom>
          <a:noFill/>
          <a:ln/>
        </p:spPr>
        <p:txBody>
          <a:bodyPr wrap="square" rtlCol="0" anchor="t"/>
          <a:lstStyle/>
          <a:p>
            <a:pPr marL="0" indent="0" algn="l">
              <a:lnSpc>
                <a:spcPct val="130000"/>
              </a:lnSpc>
              <a:buNone/>
            </a:pPr>
            <a:r>
              <a:rPr lang="en-US" sz="1530" dirty="0">
                <a:solidFill>
                  <a:srgbClr val="666666"/>
                </a:solidFill>
                <a:latin typeface="Noto Sans JP" pitchFamily="34" charset="0"/>
                <a:ea typeface="Noto Sans JP" pitchFamily="34" charset="-122"/>
                <a:cs typeface="Noto Sans JP" pitchFamily="34" charset="-120"/>
              </a:rPr>
              <a:t>メモに残すかどうかは担当者次第。粒度も人によって異なる</a:t>
            </a:r>
            <a:endParaRPr lang="en-US" sz="1530" dirty="0"/>
          </a:p>
        </p:txBody>
      </p:sp>
      <p:sp>
        <p:nvSpPr>
          <p:cNvPr id="15" name="Shape 13"/>
          <p:cNvSpPr/>
          <p:nvPr/>
        </p:nvSpPr>
        <p:spPr>
          <a:xfrm>
            <a:off x="8229570" y="3124230"/>
            <a:ext cx="3352770" cy="2377440"/>
          </a:xfrm>
          <a:prstGeom prst="roundRect">
            <a:avLst>
              <a:gd name="adj" fmla="val 2308"/>
            </a:avLst>
          </a:prstGeom>
          <a:solidFill>
            <a:srgbClr val="F2F2F2"/>
          </a:solidFill>
          <a:ln/>
        </p:spPr>
        <p:txBody>
          <a:bodyPr/>
          <a:p/>
        </p:txBody>
      </p:sp>
      <p:sp>
        <p:nvSpPr>
          <p:cNvPr id="16" name="Text 14"/>
          <p:cNvSpPr/>
          <p:nvPr/>
        </p:nvSpPr>
        <p:spPr>
          <a:xfrm>
            <a:off x="8458170" y="3307110"/>
            <a:ext cx="548640" cy="457200"/>
          </a:xfrm>
          <a:prstGeom prst="rect">
            <a:avLst/>
          </a:prstGeom>
          <a:noFill/>
          <a:ln/>
        </p:spPr>
        <p:txBody>
          <a:bodyPr wrap="square" rtlCol="0" anchor="ctr"/>
          <a:lstStyle/>
          <a:p>
            <a:pPr marL="0" indent="0">
              <a:buNone/>
            </a:pPr>
            <a:r>
              <a:rPr lang="en-US" sz="2000" b="1" dirty="0">
                <a:solidFill>
                  <a:srgbClr val="0017C1"/>
                </a:solidFill>
                <a:latin typeface="Noto Sans JP" pitchFamily="34" charset="0"/>
                <a:ea typeface="Noto Sans JP" pitchFamily="34" charset="-122"/>
                <a:cs typeface="Noto Sans JP" pitchFamily="34" charset="-120"/>
              </a:rPr>
              <a:t>3</a:t>
            </a:r>
            <a:endParaRPr lang="en-US" sz="2000" dirty="0"/>
          </a:p>
        </p:txBody>
      </p:sp>
      <p:sp>
        <p:nvSpPr>
          <p:cNvPr id="17" name="Text 15"/>
          <p:cNvSpPr/>
          <p:nvPr/>
        </p:nvSpPr>
        <p:spPr>
          <a:xfrm>
            <a:off x="8458170" y="3901470"/>
            <a:ext cx="2895570" cy="457200"/>
          </a:xfrm>
          <a:prstGeom prst="rect">
            <a:avLst/>
          </a:prstGeom>
          <a:noFill/>
          <a:ln/>
        </p:spPr>
        <p:txBody>
          <a:bodyPr wrap="square" rtlCol="0" anchor="t"/>
          <a:lstStyle/>
          <a:p>
            <a:pPr marL="0" indent="0" algn="l">
              <a:lnSpc>
                <a:spcPct val="150000"/>
              </a:lnSpc>
              <a:buNone/>
            </a:pPr>
            <a:r>
              <a:rPr lang="en-US" sz="1870" b="1" dirty="0">
                <a:solidFill>
                  <a:srgbClr val="1A1A1A"/>
                </a:solidFill>
                <a:latin typeface="Noto Sans JP" pitchFamily="34" charset="0"/>
                <a:ea typeface="Noto Sans JP" pitchFamily="34" charset="-122"/>
                <a:cs typeface="Noto Sans JP" pitchFamily="34" charset="-120"/>
              </a:rPr>
              <a:t>記憶への依存</a:t>
            </a:r>
            <a:endParaRPr lang="en-US" sz="1870" dirty="0"/>
          </a:p>
        </p:txBody>
      </p:sp>
      <p:sp>
        <p:nvSpPr>
          <p:cNvPr id="18" name="Text 16"/>
          <p:cNvSpPr/>
          <p:nvPr/>
        </p:nvSpPr>
        <p:spPr>
          <a:xfrm>
            <a:off x="8458170" y="4404390"/>
            <a:ext cx="2895570" cy="914400"/>
          </a:xfrm>
          <a:prstGeom prst="rect">
            <a:avLst/>
          </a:prstGeom>
          <a:noFill/>
          <a:ln/>
        </p:spPr>
        <p:txBody>
          <a:bodyPr wrap="square" rtlCol="0" anchor="t"/>
          <a:lstStyle/>
          <a:p>
            <a:pPr marL="0" indent="0" algn="l">
              <a:lnSpc>
                <a:spcPct val="130000"/>
              </a:lnSpc>
              <a:buNone/>
            </a:pPr>
            <a:r>
              <a:rPr lang="en-US" sz="1530" dirty="0">
                <a:solidFill>
                  <a:srgbClr val="666666"/>
                </a:solidFill>
                <a:latin typeface="Noto Sans JP" pitchFamily="34" charset="0"/>
                <a:ea typeface="Noto Sans JP" pitchFamily="34" charset="-122"/>
                <a:cs typeface="Noto Sans JP" pitchFamily="34" charset="-120"/>
              </a:rPr>
              <a:t>記録されない気づきは、担当者の頭の中にしか残らない</a:t>
            </a:r>
            <a:endParaRPr lang="en-US" sz="1530" dirty="0"/>
          </a:p>
        </p:txBody>
      </p:sp>
      <p:sp>
        <p:nvSpPr>
          <p:cNvPr id="20" name="Text 2">
            <a:extLst>
              <a:ext uri="{FF2B5EF4-FFF2-40B4-BE49-F238E27FC236}">
                <a16:creationId xmlns:a16="http://schemas.microsoft.com/office/drawing/2014/main" id="{309795F4-727E-29E2-F3E8-E28A1977F836}"/>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現状の課題</a:t>
            </a:r>
            <a:endParaRPr lang="en-US" sz="1200" dirty="0"/>
          </a:p>
        </p:txBody>
      </p:sp>
      <p:sp>
        <p:nvSpPr>
          <p:cNvPr id="21" name="テキスト ボックス 20">
            <a:extLst>
              <a:ext uri="{FF2B5EF4-FFF2-40B4-BE49-F238E27FC236}">
                <a16:creationId xmlns:a16="http://schemas.microsoft.com/office/drawing/2014/main" id="{A4DC164C-B898-7703-ED4F-991AA627E8C5}"/>
              </a:ext>
            </a:extLst>
          </p:cNvPr>
          <p:cNvSpPr txBox="1"/>
          <p:nvPr/>
        </p:nvSpPr>
        <p:spPr>
          <a:xfrm>
            <a:off x="609630" y="6031468"/>
            <a:ext cx="8956298" cy="369332"/>
          </a:xfrm>
          <a:prstGeom prst="rect">
            <a:avLst/>
          </a:prstGeom>
          <a:noFill/>
        </p:spPr>
        <p:txBody>
          <a:bodyPr wrap="none" rtlCol="0">
            <a:spAutoFit/>
          </a:bodyPr>
          <a:lstStyle/>
          <a:p>
            <a:r>
              <a:rPr kumimoji="1" lang="ja-JP" altLang="en-US" dirty="0">
                <a:latin typeface="Noto Sans JP" panose="020B0200000000000000" pitchFamily="50" charset="-128"/>
                <a:ea typeface="Noto Sans JP" panose="020B0200000000000000" pitchFamily="50" charset="-128"/>
              </a:rPr>
              <a:t>しかし、こうした何気ないやり取りの中に顧客との関係性を深める宝が眠っている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担当者任せであることが、具体的にどんなリスクを生むか</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8</a:t>
            </a:r>
            <a:endParaRPr lang="en-US" sz="1200" dirty="0"/>
          </a:p>
        </p:txBody>
      </p:sp>
      <p:sp>
        <p:nvSpPr>
          <p:cNvPr id="6" name="Shape 4"/>
          <p:cNvSpPr/>
          <p:nvPr/>
        </p:nvSpPr>
        <p:spPr>
          <a:xfrm>
            <a:off x="609630" y="1844070"/>
            <a:ext cx="73152" cy="1051560"/>
          </a:xfrm>
          <a:prstGeom prst="roundRect">
            <a:avLst/>
          </a:prstGeom>
          <a:solidFill>
            <a:srgbClr val="CE0000"/>
          </a:solidFill>
          <a:ln/>
        </p:spPr>
        <p:txBody>
          <a:bodyPr/>
          <a:p/>
        </p:txBody>
      </p:sp>
      <p:sp>
        <p:nvSpPr>
          <p:cNvPr id="7" name="Text 5"/>
          <p:cNvSpPr/>
          <p:nvPr/>
        </p:nvSpPr>
        <p:spPr>
          <a:xfrm>
            <a:off x="929670" y="1844070"/>
            <a:ext cx="10652669" cy="411480"/>
          </a:xfrm>
          <a:prstGeom prst="rect">
            <a:avLst/>
          </a:prstGeom>
          <a:noFill/>
          <a:ln/>
        </p:spPr>
        <p:txBody>
          <a:bodyPr wrap="square" rtlCol="0" anchor="t"/>
          <a:lstStyle/>
          <a:p>
            <a:pPr marL="0" indent="0" algn="l">
              <a:lnSpc>
                <a:spcPct val="150000"/>
              </a:lnSpc>
              <a:buNone/>
            </a:pPr>
            <a:r>
              <a:rPr lang="en-US" sz="1980" b="1" dirty="0">
                <a:solidFill>
                  <a:srgbClr val="1A1A1A"/>
                </a:solidFill>
                <a:latin typeface="Noto Sans JP" pitchFamily="34" charset="0"/>
                <a:ea typeface="Noto Sans JP" pitchFamily="34" charset="-122"/>
                <a:cs typeface="Noto Sans JP" pitchFamily="34" charset="-120"/>
              </a:rPr>
              <a:t>異動・退職による知見の喪失</a:t>
            </a:r>
            <a:endParaRPr lang="en-US" sz="1980" dirty="0"/>
          </a:p>
        </p:txBody>
      </p:sp>
      <p:sp>
        <p:nvSpPr>
          <p:cNvPr id="8" name="Text 6"/>
          <p:cNvSpPr/>
          <p:nvPr/>
        </p:nvSpPr>
        <p:spPr>
          <a:xfrm>
            <a:off x="929670" y="2301270"/>
            <a:ext cx="10652669" cy="548640"/>
          </a:xfrm>
          <a:prstGeom prst="rect">
            <a:avLst/>
          </a:prstGeom>
          <a:noFill/>
          <a:ln/>
        </p:spPr>
        <p:txBody>
          <a:bodyPr wrap="square" rtlCol="0" anchor="t"/>
          <a:lstStyle/>
          <a:p>
            <a:pPr marL="0" indent="0" algn="l">
              <a:lnSpc>
                <a:spcPct val="130000"/>
              </a:lnSpc>
              <a:buNone/>
            </a:pPr>
            <a:r>
              <a:rPr lang="en-US" sz="1800" dirty="0">
                <a:solidFill>
                  <a:srgbClr val="666666"/>
                </a:solidFill>
                <a:latin typeface="Noto Sans JP" pitchFamily="34" charset="0"/>
                <a:ea typeface="Noto Sans JP" pitchFamily="34" charset="-122"/>
                <a:cs typeface="Noto Sans JP" pitchFamily="34" charset="-120"/>
              </a:rPr>
              <a:t>後継者問題や経営上の違和感といった気づきが、引き継がれずに消えてしまう</a:t>
            </a:r>
            <a:endParaRPr lang="en-US" sz="1800" dirty="0"/>
          </a:p>
        </p:txBody>
      </p:sp>
      <p:sp>
        <p:nvSpPr>
          <p:cNvPr id="9" name="Shape 7"/>
          <p:cNvSpPr/>
          <p:nvPr/>
        </p:nvSpPr>
        <p:spPr>
          <a:xfrm>
            <a:off x="609630" y="3215670"/>
            <a:ext cx="73152" cy="1051560"/>
          </a:xfrm>
          <a:prstGeom prst="roundRect">
            <a:avLst/>
          </a:prstGeom>
          <a:solidFill>
            <a:srgbClr val="CE0000"/>
          </a:solidFill>
          <a:ln/>
        </p:spPr>
        <p:txBody>
          <a:bodyPr/>
          <a:p/>
        </p:txBody>
      </p:sp>
      <p:sp>
        <p:nvSpPr>
          <p:cNvPr id="10" name="Text 8"/>
          <p:cNvSpPr/>
          <p:nvPr/>
        </p:nvSpPr>
        <p:spPr>
          <a:xfrm>
            <a:off x="929670" y="3215670"/>
            <a:ext cx="10652669" cy="411480"/>
          </a:xfrm>
          <a:prstGeom prst="rect">
            <a:avLst/>
          </a:prstGeom>
          <a:noFill/>
          <a:ln/>
        </p:spPr>
        <p:txBody>
          <a:bodyPr wrap="square" rtlCol="0" anchor="t"/>
          <a:lstStyle/>
          <a:p>
            <a:pPr marL="0" indent="0" algn="l">
              <a:lnSpc>
                <a:spcPct val="150000"/>
              </a:lnSpc>
              <a:buNone/>
            </a:pPr>
            <a:r>
              <a:rPr lang="en-US" sz="1980" b="1" dirty="0">
                <a:solidFill>
                  <a:srgbClr val="1A1A1A"/>
                </a:solidFill>
                <a:latin typeface="Noto Sans JP" pitchFamily="34" charset="0"/>
                <a:ea typeface="Noto Sans JP" pitchFamily="34" charset="-122"/>
                <a:cs typeface="Noto Sans JP" pitchFamily="34" charset="-120"/>
              </a:rPr>
              <a:t>支店・担当者ごとのばらつき</a:t>
            </a:r>
            <a:endParaRPr lang="en-US" sz="1980" dirty="0"/>
          </a:p>
        </p:txBody>
      </p:sp>
      <p:sp>
        <p:nvSpPr>
          <p:cNvPr id="11" name="Text 9"/>
          <p:cNvSpPr/>
          <p:nvPr/>
        </p:nvSpPr>
        <p:spPr>
          <a:xfrm>
            <a:off x="929670" y="3672870"/>
            <a:ext cx="10652669" cy="548640"/>
          </a:xfrm>
          <a:prstGeom prst="rect">
            <a:avLst/>
          </a:prstGeom>
          <a:noFill/>
          <a:ln/>
        </p:spPr>
        <p:txBody>
          <a:bodyPr wrap="square" rtlCol="0" anchor="t"/>
          <a:lstStyle/>
          <a:p>
            <a:pPr marL="0" indent="0" algn="l">
              <a:lnSpc>
                <a:spcPct val="130000"/>
              </a:lnSpc>
              <a:buNone/>
            </a:pPr>
            <a:r>
              <a:rPr lang="en-US" sz="1800" dirty="0">
                <a:solidFill>
                  <a:srgbClr val="666666"/>
                </a:solidFill>
                <a:latin typeface="Noto Sans JP" pitchFamily="34" charset="0"/>
                <a:ea typeface="Noto Sans JP" pitchFamily="34" charset="-122"/>
                <a:cs typeface="Noto Sans JP" pitchFamily="34" charset="-120"/>
              </a:rPr>
              <a:t>同じ地域でも、顧客理解の深さが担当者の経験年数や関心に左右される</a:t>
            </a:r>
            <a:endParaRPr lang="en-US" sz="1800" dirty="0"/>
          </a:p>
        </p:txBody>
      </p:sp>
      <p:sp>
        <p:nvSpPr>
          <p:cNvPr id="12" name="Shape 10"/>
          <p:cNvSpPr/>
          <p:nvPr/>
        </p:nvSpPr>
        <p:spPr>
          <a:xfrm>
            <a:off x="609630" y="4587270"/>
            <a:ext cx="73152" cy="1051560"/>
          </a:xfrm>
          <a:prstGeom prst="roundRect">
            <a:avLst/>
          </a:prstGeom>
          <a:solidFill>
            <a:srgbClr val="CE0000"/>
          </a:solidFill>
          <a:ln/>
        </p:spPr>
        <p:txBody>
          <a:bodyPr/>
          <a:p/>
        </p:txBody>
      </p:sp>
      <p:sp>
        <p:nvSpPr>
          <p:cNvPr id="13" name="Text 11"/>
          <p:cNvSpPr/>
          <p:nvPr/>
        </p:nvSpPr>
        <p:spPr>
          <a:xfrm>
            <a:off x="929670" y="4587270"/>
            <a:ext cx="10652669" cy="411480"/>
          </a:xfrm>
          <a:prstGeom prst="rect">
            <a:avLst/>
          </a:prstGeom>
          <a:noFill/>
          <a:ln/>
        </p:spPr>
        <p:txBody>
          <a:bodyPr wrap="square" rtlCol="0" anchor="t"/>
          <a:lstStyle/>
          <a:p>
            <a:pPr marL="0" indent="0" algn="l">
              <a:lnSpc>
                <a:spcPct val="150000"/>
              </a:lnSpc>
              <a:buNone/>
            </a:pPr>
            <a:r>
              <a:rPr lang="en-US" sz="1980" b="1" dirty="0">
                <a:solidFill>
                  <a:srgbClr val="1A1A1A"/>
                </a:solidFill>
                <a:latin typeface="Noto Sans JP" pitchFamily="34" charset="0"/>
                <a:ea typeface="Noto Sans JP" pitchFamily="34" charset="-122"/>
                <a:cs typeface="Noto Sans JP" pitchFamily="34" charset="-120"/>
              </a:rPr>
              <a:t>関係の断絶</a:t>
            </a:r>
            <a:endParaRPr lang="en-US" sz="1980" dirty="0"/>
          </a:p>
        </p:txBody>
      </p:sp>
      <p:sp>
        <p:nvSpPr>
          <p:cNvPr id="14" name="Text 12"/>
          <p:cNvSpPr/>
          <p:nvPr/>
        </p:nvSpPr>
        <p:spPr>
          <a:xfrm>
            <a:off x="929670" y="5044470"/>
            <a:ext cx="10652669" cy="548640"/>
          </a:xfrm>
          <a:prstGeom prst="rect">
            <a:avLst/>
          </a:prstGeom>
          <a:noFill/>
          <a:ln/>
        </p:spPr>
        <p:txBody>
          <a:bodyPr wrap="square" rtlCol="0" anchor="t"/>
          <a:lstStyle/>
          <a:p>
            <a:pPr marL="0" indent="0" algn="l">
              <a:lnSpc>
                <a:spcPct val="130000"/>
              </a:lnSpc>
              <a:buNone/>
            </a:pPr>
            <a:r>
              <a:rPr lang="en-US" sz="1800" dirty="0">
                <a:solidFill>
                  <a:srgbClr val="666666"/>
                </a:solidFill>
                <a:latin typeface="Noto Sans JP" pitchFamily="34" charset="0"/>
                <a:ea typeface="Noto Sans JP" pitchFamily="34" charset="-122"/>
                <a:cs typeface="Noto Sans JP" pitchFamily="34" charset="-120"/>
              </a:rPr>
              <a:t>担当者が変わるたびに、顧客との関係がゼロから始まってしまう</a:t>
            </a:r>
            <a:endParaRPr lang="en-US" sz="1800" dirty="0"/>
          </a:p>
        </p:txBody>
      </p:sp>
      <p:sp>
        <p:nvSpPr>
          <p:cNvPr id="16" name="Text 2">
            <a:extLst>
              <a:ext uri="{FF2B5EF4-FFF2-40B4-BE49-F238E27FC236}">
                <a16:creationId xmlns:a16="http://schemas.microsoft.com/office/drawing/2014/main" id="{F2199423-03E7-3845-B5CA-770471D92E9B}"/>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現状の課題</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結果として起きているのは、支援機会の見落としである</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9</a:t>
            </a:r>
            <a:endParaRPr lang="en-US" sz="1200" dirty="0"/>
          </a:p>
        </p:txBody>
      </p:sp>
      <p:sp>
        <p:nvSpPr>
          <p:cNvPr id="6" name="Text 4"/>
          <p:cNvSpPr/>
          <p:nvPr/>
        </p:nvSpPr>
        <p:spPr>
          <a:xfrm>
            <a:off x="609630" y="1752630"/>
            <a:ext cx="10972709" cy="91440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気づきが記録・共有されないことで、支援すべきタイミングを逃す、同じ質問を顧客に繰り返して信頼を損なう、担当者交代のたびに関係が後退するといったことが現場で起きている。</a:t>
            </a:r>
            <a:endParaRPr lang="en-US" sz="1800" dirty="0"/>
          </a:p>
        </p:txBody>
      </p:sp>
      <p:sp>
        <p:nvSpPr>
          <p:cNvPr id="7" name="Shape 5"/>
          <p:cNvSpPr/>
          <p:nvPr/>
        </p:nvSpPr>
        <p:spPr>
          <a:xfrm>
            <a:off x="609630" y="2941350"/>
            <a:ext cx="10972709" cy="2377440"/>
          </a:xfrm>
          <a:prstGeom prst="roundRect">
            <a:avLst>
              <a:gd name="adj" fmla="val 2308"/>
            </a:avLst>
          </a:prstGeom>
          <a:solidFill>
            <a:srgbClr val="FDEEEE"/>
          </a:solidFill>
          <a:ln/>
        </p:spPr>
        <p:txBody>
          <a:bodyPr/>
          <a:p/>
        </p:txBody>
      </p:sp>
      <p:sp>
        <p:nvSpPr>
          <p:cNvPr id="8" name="Text 6"/>
          <p:cNvSpPr/>
          <p:nvPr/>
        </p:nvSpPr>
        <p:spPr>
          <a:xfrm>
            <a:off x="975390" y="3215670"/>
            <a:ext cx="10241189" cy="548640"/>
          </a:xfrm>
          <a:prstGeom prst="rect">
            <a:avLst/>
          </a:prstGeom>
          <a:noFill/>
          <a:ln/>
        </p:spPr>
        <p:txBody>
          <a:bodyPr wrap="square" rtlCol="0" anchor="t"/>
          <a:lstStyle/>
          <a:p>
            <a:pPr marL="0" indent="0" algn="l">
              <a:lnSpc>
                <a:spcPct val="150000"/>
              </a:lnSpc>
              <a:buNone/>
            </a:pPr>
            <a:r>
              <a:rPr lang="en-US" sz="2200" b="1" dirty="0">
                <a:solidFill>
                  <a:srgbClr val="CE0000"/>
                </a:solidFill>
                <a:latin typeface="Noto Sans JP" pitchFamily="34" charset="0"/>
                <a:ea typeface="Noto Sans JP" pitchFamily="34" charset="-122"/>
                <a:cs typeface="Noto Sans JP" pitchFamily="34" charset="-120"/>
              </a:rPr>
              <a:t>環境は変わったのに、組織の情報の持ち方は変わっていない</a:t>
            </a:r>
            <a:endParaRPr lang="en-US" sz="2200" dirty="0"/>
          </a:p>
        </p:txBody>
      </p:sp>
      <p:sp>
        <p:nvSpPr>
          <p:cNvPr id="9" name="Text 7"/>
          <p:cNvSpPr/>
          <p:nvPr/>
        </p:nvSpPr>
        <p:spPr>
          <a:xfrm>
            <a:off x="975390" y="3855750"/>
            <a:ext cx="10241189" cy="118872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金利のある世界に戻り、貸出機会を捉えられる銀行とそうでない銀行の差が広がり始めている今こそ、この見落としを放置できない局面にある。</a:t>
            </a:r>
            <a:endParaRPr lang="en-US" sz="1800" dirty="0"/>
          </a:p>
        </p:txBody>
      </p:sp>
      <p:sp>
        <p:nvSpPr>
          <p:cNvPr id="11" name="Text 2">
            <a:extLst>
              <a:ext uri="{FF2B5EF4-FFF2-40B4-BE49-F238E27FC236}">
                <a16:creationId xmlns:a16="http://schemas.microsoft.com/office/drawing/2014/main" id="{FD69F7B9-3992-903C-4C9F-7440803B76D5}"/>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現状の課題</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属人化を解消するために、満たすべき3つの条件</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4" name="Text 2"/>
          <p:cNvSpPr/>
          <p:nvPr/>
        </p:nvSpPr>
        <p:spPr>
          <a:xfrm>
            <a:off x="609630" y="6324630"/>
            <a:ext cx="7315200" cy="320040"/>
          </a:xfrm>
          <a:prstGeom prst="rect">
            <a:avLst/>
          </a:prstGeom>
          <a:noFill/>
          <a:ln/>
        </p:spPr>
        <p:txBody>
          <a:bodyPr wrap="square" rtlCol="0" anchor="ctr"/>
          <a:lstStyle/>
          <a:p>
            <a:pPr marL="0" indent="0" algn="l">
              <a:buNone/>
            </a:pPr>
            <a:r>
              <a:rPr lang="en-US" sz="1200" dirty="0">
                <a:solidFill>
                  <a:srgbClr val="666666"/>
                </a:solidFill>
                <a:latin typeface="Noto Sans JP" pitchFamily="34" charset="0"/>
                <a:ea typeface="Noto Sans JP" pitchFamily="34" charset="-122"/>
                <a:cs typeface="Noto Sans JP" pitchFamily="34" charset="-120"/>
              </a:rPr>
              <a:t>なぜ今、既存顧客とのつながりを担当者任せにできないのか</a:t>
            </a:r>
            <a:endParaRPr lang="en-US" sz="1200" dirty="0"/>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10</a:t>
            </a:r>
            <a:endParaRPr lang="en-US" sz="1200" dirty="0"/>
          </a:p>
        </p:txBody>
      </p:sp>
      <p:sp>
        <p:nvSpPr>
          <p:cNvPr id="6" name="Shape 4"/>
          <p:cNvSpPr/>
          <p:nvPr/>
        </p:nvSpPr>
        <p:spPr>
          <a:xfrm>
            <a:off x="609630" y="2026950"/>
            <a:ext cx="3352770" cy="2651760"/>
          </a:xfrm>
          <a:prstGeom prst="roundRect">
            <a:avLst>
              <a:gd name="adj" fmla="val 2069"/>
            </a:avLst>
          </a:prstGeom>
          <a:solidFill>
            <a:srgbClr val="E8F1FE"/>
          </a:solidFill>
          <a:ln/>
        </p:spPr>
        <p:txBody>
          <a:bodyPr/>
          <a:p/>
        </p:txBody>
      </p:sp>
      <p:sp>
        <p:nvSpPr>
          <p:cNvPr id="7" name="Text 5"/>
          <p:cNvSpPr/>
          <p:nvPr/>
        </p:nvSpPr>
        <p:spPr>
          <a:xfrm>
            <a:off x="883950" y="2301270"/>
            <a:ext cx="2804130" cy="457200"/>
          </a:xfrm>
          <a:prstGeom prst="rect">
            <a:avLst/>
          </a:prstGeom>
          <a:noFill/>
          <a:ln/>
        </p:spPr>
        <p:txBody>
          <a:bodyPr wrap="square" rtlCol="0" anchor="t"/>
          <a:lstStyle/>
          <a:p>
            <a:pPr marL="0" indent="0" algn="l">
              <a:lnSpc>
                <a:spcPct val="150000"/>
              </a:lnSpc>
              <a:buNone/>
            </a:pPr>
            <a:r>
              <a:rPr lang="en-US" sz="2200" b="1" dirty="0">
                <a:solidFill>
                  <a:srgbClr val="0017C1"/>
                </a:solidFill>
                <a:latin typeface="Noto Sans JP" pitchFamily="34" charset="0"/>
                <a:ea typeface="Noto Sans JP" pitchFamily="34" charset="-122"/>
                <a:cs typeface="Noto Sans JP" pitchFamily="34" charset="-120"/>
              </a:rPr>
              <a:t>残る</a:t>
            </a:r>
            <a:endParaRPr lang="en-US" sz="2200" dirty="0"/>
          </a:p>
        </p:txBody>
      </p:sp>
      <p:sp>
        <p:nvSpPr>
          <p:cNvPr id="8" name="Text 6"/>
          <p:cNvSpPr/>
          <p:nvPr/>
        </p:nvSpPr>
        <p:spPr>
          <a:xfrm>
            <a:off x="883950" y="2941350"/>
            <a:ext cx="2804130" cy="1554480"/>
          </a:xfrm>
          <a:prstGeom prst="rect">
            <a:avLst/>
          </a:prstGeom>
          <a:noFill/>
          <a:ln/>
        </p:spPr>
        <p:txBody>
          <a:bodyPr wrap="square" rtlCol="0" anchor="t"/>
          <a:lstStyle/>
          <a:p>
            <a:pPr marL="0" indent="0" algn="l">
              <a:lnSpc>
                <a:spcPct val="140000"/>
              </a:lnSpc>
              <a:buNone/>
            </a:pPr>
            <a:r>
              <a:rPr lang="en-US" sz="1800" dirty="0">
                <a:solidFill>
                  <a:srgbClr val="1A1A1A"/>
                </a:solidFill>
                <a:latin typeface="Noto Sans JP" pitchFamily="34" charset="0"/>
                <a:ea typeface="Noto Sans JP" pitchFamily="34" charset="-122"/>
                <a:cs typeface="Noto Sans JP" pitchFamily="34" charset="-120"/>
              </a:rPr>
              <a:t>担当者の気づきが、その場限りで消えずに記録として残る</a:t>
            </a:r>
            <a:endParaRPr lang="en-US" sz="1800" dirty="0"/>
          </a:p>
        </p:txBody>
      </p:sp>
      <p:sp>
        <p:nvSpPr>
          <p:cNvPr id="9" name="Shape 7"/>
          <p:cNvSpPr/>
          <p:nvPr/>
        </p:nvSpPr>
        <p:spPr>
          <a:xfrm>
            <a:off x="4419600" y="2026950"/>
            <a:ext cx="3352770" cy="2651760"/>
          </a:xfrm>
          <a:prstGeom prst="roundRect">
            <a:avLst>
              <a:gd name="adj" fmla="val 2069"/>
            </a:avLst>
          </a:prstGeom>
          <a:solidFill>
            <a:srgbClr val="E8F1FE"/>
          </a:solidFill>
          <a:ln/>
        </p:spPr>
        <p:txBody>
          <a:bodyPr/>
          <a:p/>
        </p:txBody>
      </p:sp>
      <p:sp>
        <p:nvSpPr>
          <p:cNvPr id="10" name="Text 8"/>
          <p:cNvSpPr/>
          <p:nvPr/>
        </p:nvSpPr>
        <p:spPr>
          <a:xfrm>
            <a:off x="4693920" y="2301270"/>
            <a:ext cx="2804130" cy="457200"/>
          </a:xfrm>
          <a:prstGeom prst="rect">
            <a:avLst/>
          </a:prstGeom>
          <a:noFill/>
          <a:ln/>
        </p:spPr>
        <p:txBody>
          <a:bodyPr wrap="square" rtlCol="0" anchor="t"/>
          <a:lstStyle/>
          <a:p>
            <a:pPr marL="0" indent="0" algn="l">
              <a:lnSpc>
                <a:spcPct val="150000"/>
              </a:lnSpc>
              <a:buNone/>
            </a:pPr>
            <a:r>
              <a:rPr lang="en-US" sz="2200" b="1" dirty="0">
                <a:solidFill>
                  <a:srgbClr val="0017C1"/>
                </a:solidFill>
                <a:latin typeface="Noto Sans JP" pitchFamily="34" charset="0"/>
                <a:ea typeface="Noto Sans JP" pitchFamily="34" charset="-122"/>
                <a:cs typeface="Noto Sans JP" pitchFamily="34" charset="-120"/>
              </a:rPr>
              <a:t>引き継がれる</a:t>
            </a:r>
            <a:endParaRPr lang="en-US" sz="2200" dirty="0"/>
          </a:p>
        </p:txBody>
      </p:sp>
      <p:sp>
        <p:nvSpPr>
          <p:cNvPr id="11" name="Text 9"/>
          <p:cNvSpPr/>
          <p:nvPr/>
        </p:nvSpPr>
        <p:spPr>
          <a:xfrm>
            <a:off x="4693920" y="2941350"/>
            <a:ext cx="2804130" cy="1554480"/>
          </a:xfrm>
          <a:prstGeom prst="rect">
            <a:avLst/>
          </a:prstGeom>
          <a:noFill/>
          <a:ln/>
        </p:spPr>
        <p:txBody>
          <a:bodyPr wrap="square" rtlCol="0" anchor="t"/>
          <a:lstStyle/>
          <a:p>
            <a:pPr marL="0" indent="0" algn="l">
              <a:lnSpc>
                <a:spcPct val="140000"/>
              </a:lnSpc>
              <a:buNone/>
            </a:pPr>
            <a:r>
              <a:rPr lang="en-US" sz="1800" dirty="0">
                <a:solidFill>
                  <a:srgbClr val="1A1A1A"/>
                </a:solidFill>
                <a:latin typeface="Noto Sans JP" pitchFamily="34" charset="0"/>
                <a:ea typeface="Noto Sans JP" pitchFamily="34" charset="-122"/>
                <a:cs typeface="Noto Sans JP" pitchFamily="34" charset="-120"/>
              </a:rPr>
              <a:t>記録が、次の担当者・支店長・本部へと確実に引き継がれる</a:t>
            </a:r>
            <a:endParaRPr lang="en-US" sz="1800" dirty="0"/>
          </a:p>
        </p:txBody>
      </p:sp>
      <p:sp>
        <p:nvSpPr>
          <p:cNvPr id="12" name="Shape 10"/>
          <p:cNvSpPr/>
          <p:nvPr/>
        </p:nvSpPr>
        <p:spPr>
          <a:xfrm>
            <a:off x="8229570" y="2026950"/>
            <a:ext cx="3352770" cy="2651760"/>
          </a:xfrm>
          <a:prstGeom prst="roundRect">
            <a:avLst>
              <a:gd name="adj" fmla="val 2069"/>
            </a:avLst>
          </a:prstGeom>
          <a:solidFill>
            <a:srgbClr val="E8F1FE"/>
          </a:solidFill>
          <a:ln/>
        </p:spPr>
        <p:txBody>
          <a:bodyPr/>
          <a:p/>
        </p:txBody>
      </p:sp>
      <p:sp>
        <p:nvSpPr>
          <p:cNvPr id="13" name="Text 11"/>
          <p:cNvSpPr/>
          <p:nvPr/>
        </p:nvSpPr>
        <p:spPr>
          <a:xfrm>
            <a:off x="8503890" y="2301270"/>
            <a:ext cx="2804130" cy="457200"/>
          </a:xfrm>
          <a:prstGeom prst="rect">
            <a:avLst/>
          </a:prstGeom>
          <a:noFill/>
          <a:ln/>
        </p:spPr>
        <p:txBody>
          <a:bodyPr wrap="square" rtlCol="0" anchor="t"/>
          <a:lstStyle/>
          <a:p>
            <a:pPr marL="0" indent="0" algn="l">
              <a:lnSpc>
                <a:spcPct val="150000"/>
              </a:lnSpc>
              <a:buNone/>
            </a:pPr>
            <a:r>
              <a:rPr lang="en-US" sz="2200" b="1" dirty="0">
                <a:solidFill>
                  <a:srgbClr val="0017C1"/>
                </a:solidFill>
                <a:latin typeface="Noto Sans JP" pitchFamily="34" charset="0"/>
                <a:ea typeface="Noto Sans JP" pitchFamily="34" charset="-122"/>
                <a:cs typeface="Noto Sans JP" pitchFamily="34" charset="-120"/>
              </a:rPr>
              <a:t>つながる</a:t>
            </a:r>
            <a:endParaRPr lang="en-US" sz="2200" dirty="0"/>
          </a:p>
        </p:txBody>
      </p:sp>
      <p:sp>
        <p:nvSpPr>
          <p:cNvPr id="14" name="Text 12"/>
          <p:cNvSpPr/>
          <p:nvPr/>
        </p:nvSpPr>
        <p:spPr>
          <a:xfrm>
            <a:off x="8503890" y="2941350"/>
            <a:ext cx="2804130" cy="1554480"/>
          </a:xfrm>
          <a:prstGeom prst="rect">
            <a:avLst/>
          </a:prstGeom>
          <a:noFill/>
          <a:ln/>
        </p:spPr>
        <p:txBody>
          <a:bodyPr wrap="square" rtlCol="0" anchor="t"/>
          <a:lstStyle/>
          <a:p>
            <a:pPr marL="0" indent="0" algn="l">
              <a:lnSpc>
                <a:spcPct val="140000"/>
              </a:lnSpc>
              <a:buNone/>
            </a:pPr>
            <a:r>
              <a:rPr lang="en-US" sz="1800" dirty="0">
                <a:solidFill>
                  <a:srgbClr val="1A1A1A"/>
                </a:solidFill>
                <a:latin typeface="Noto Sans JP" pitchFamily="34" charset="0"/>
                <a:ea typeface="Noto Sans JP" pitchFamily="34" charset="-122"/>
                <a:cs typeface="Noto Sans JP" pitchFamily="34" charset="-120"/>
              </a:rPr>
              <a:t>複数の記録をつなぎ合わせ、見逃していた予兆として浮かび上がる</a:t>
            </a:r>
            <a:endParaRPr lang="en-US" sz="1800" dirty="0"/>
          </a:p>
        </p:txBody>
      </p:sp>
      <p:sp>
        <p:nvSpPr>
          <p:cNvPr id="16" name="Text 2">
            <a:extLst>
              <a:ext uri="{FF2B5EF4-FFF2-40B4-BE49-F238E27FC236}">
                <a16:creationId xmlns:a16="http://schemas.microsoft.com/office/drawing/2014/main" id="{5B9B8A08-2E05-F334-2D8F-7FEAF39DF92A}"/>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現状の課題</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担当者の暗黙知を、組織の形式知に変える基盤</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11</a:t>
            </a:r>
            <a:endParaRPr lang="en-US" sz="1200" dirty="0"/>
          </a:p>
        </p:txBody>
      </p:sp>
      <p:sp>
        <p:nvSpPr>
          <p:cNvPr id="6" name="Text 4"/>
          <p:cNvSpPr/>
          <p:nvPr/>
        </p:nvSpPr>
        <p:spPr>
          <a:xfrm>
            <a:off x="609630" y="1752630"/>
            <a:ext cx="10972709" cy="82296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本プロジェクトは、いつもの日報に書かれた担当者の気づきを残し、次の世代・本部へとつなぐことで、組織としての顧客理解を積み上げていく基盤である。</a:t>
            </a:r>
            <a:endParaRPr lang="en-US" sz="1800" dirty="0"/>
          </a:p>
        </p:txBody>
      </p:sp>
      <p:sp>
        <p:nvSpPr>
          <p:cNvPr id="7" name="Shape 5"/>
          <p:cNvSpPr/>
          <p:nvPr/>
        </p:nvSpPr>
        <p:spPr>
          <a:xfrm>
            <a:off x="609630" y="2758470"/>
            <a:ext cx="10972709" cy="1371600"/>
          </a:xfrm>
          <a:prstGeom prst="roundRect">
            <a:avLst>
              <a:gd name="adj" fmla="val 4000"/>
            </a:avLst>
          </a:prstGeom>
          <a:solidFill>
            <a:srgbClr val="FBF5E0"/>
          </a:solidFill>
          <a:ln/>
        </p:spPr>
        <p:txBody>
          <a:bodyPr/>
          <a:p/>
        </p:txBody>
      </p:sp>
      <p:sp>
        <p:nvSpPr>
          <p:cNvPr id="8" name="Text 6"/>
          <p:cNvSpPr/>
          <p:nvPr/>
        </p:nvSpPr>
        <p:spPr>
          <a:xfrm>
            <a:off x="975390" y="2849910"/>
            <a:ext cx="10241189" cy="411480"/>
          </a:xfrm>
          <a:prstGeom prst="rect">
            <a:avLst/>
          </a:prstGeom>
          <a:noFill/>
          <a:ln/>
        </p:spPr>
        <p:txBody>
          <a:bodyPr wrap="square" rtlCol="0" anchor="t"/>
          <a:lstStyle/>
          <a:p>
            <a:pPr marL="0" indent="0" algn="l">
              <a:lnSpc>
                <a:spcPct val="150000"/>
              </a:lnSpc>
              <a:buNone/>
            </a:pPr>
            <a:r>
              <a:rPr lang="en-US" sz="1870" b="1" dirty="0">
                <a:solidFill>
                  <a:srgbClr val="806300"/>
                </a:solidFill>
                <a:latin typeface="Noto Sans JP" pitchFamily="34" charset="0"/>
                <a:ea typeface="Noto Sans JP" pitchFamily="34" charset="-122"/>
                <a:cs typeface="Noto Sans JP" pitchFamily="34" charset="-120"/>
              </a:rPr>
              <a:t>これは与信管理のためのリスクスコアリングではない</a:t>
            </a:r>
            <a:endParaRPr lang="en-US" sz="1870" dirty="0"/>
          </a:p>
        </p:txBody>
      </p:sp>
      <p:sp>
        <p:nvSpPr>
          <p:cNvPr id="9" name="Text 7"/>
          <p:cNvSpPr/>
          <p:nvPr/>
        </p:nvSpPr>
        <p:spPr>
          <a:xfrm>
            <a:off x="975390" y="3307110"/>
            <a:ext cx="10241189" cy="640080"/>
          </a:xfrm>
          <a:prstGeom prst="rect">
            <a:avLst/>
          </a:prstGeom>
          <a:noFill/>
          <a:ln/>
        </p:spPr>
        <p:txBody>
          <a:bodyPr wrap="square" rtlCol="0" anchor="t"/>
          <a:lstStyle/>
          <a:p>
            <a:pPr marL="0" indent="0" algn="l">
              <a:lnSpc>
                <a:spcPct val="140000"/>
              </a:lnSpc>
              <a:buNone/>
            </a:pPr>
            <a:r>
              <a:rPr lang="en-US" sz="1620" dirty="0">
                <a:solidFill>
                  <a:srgbClr val="1A1A1A"/>
                </a:solidFill>
                <a:latin typeface="Noto Sans JP" pitchFamily="34" charset="0"/>
                <a:ea typeface="Noto Sans JP" pitchFamily="34" charset="-122"/>
                <a:cs typeface="Noto Sans JP" pitchFamily="34" charset="-120"/>
              </a:rPr>
              <a:t>危険度を点数化し、融資判断に使うための仕組みではなく、支援機会に気づき、対話のきっかけを見つけるための仕組みである。最終判断は常に担当者・支店長が行う。</a:t>
            </a:r>
            <a:endParaRPr lang="en-US" sz="1620" dirty="0"/>
          </a:p>
        </p:txBody>
      </p:sp>
      <p:sp>
        <p:nvSpPr>
          <p:cNvPr id="10" name="Shape 8"/>
          <p:cNvSpPr/>
          <p:nvPr/>
        </p:nvSpPr>
        <p:spPr>
          <a:xfrm>
            <a:off x="609630" y="4404390"/>
            <a:ext cx="2537437" cy="822960"/>
          </a:xfrm>
          <a:prstGeom prst="roundRect">
            <a:avLst>
              <a:gd name="adj" fmla="val 6667"/>
            </a:avLst>
          </a:prstGeom>
          <a:solidFill>
            <a:srgbClr val="F2F2F2"/>
          </a:solidFill>
          <a:ln/>
        </p:spPr>
        <p:txBody>
          <a:bodyPr/>
          <a:p/>
        </p:txBody>
      </p:sp>
      <p:sp>
        <p:nvSpPr>
          <p:cNvPr id="11" name="Text 9"/>
          <p:cNvSpPr/>
          <p:nvPr/>
        </p:nvSpPr>
        <p:spPr>
          <a:xfrm>
            <a:off x="701070" y="4404390"/>
            <a:ext cx="2354557" cy="822960"/>
          </a:xfrm>
          <a:prstGeom prst="rect">
            <a:avLst/>
          </a:prstGeom>
          <a:noFill/>
          <a:ln/>
        </p:spPr>
        <p:txBody>
          <a:bodyPr wrap="square" rtlCol="0" anchor="ctr"/>
          <a:lstStyle/>
          <a:p>
            <a:pPr marL="0" indent="0" algn="ctr">
              <a:lnSpc>
                <a:spcPct val="120000"/>
              </a:lnSpc>
              <a:buNone/>
            </a:pPr>
            <a:r>
              <a:rPr lang="en-US" sz="1500" dirty="0">
                <a:solidFill>
                  <a:srgbClr val="1A1A1A"/>
                </a:solidFill>
                <a:latin typeface="Noto Sans JP" pitchFamily="34" charset="0"/>
                <a:ea typeface="Noto Sans JP" pitchFamily="34" charset="-122"/>
                <a:cs typeface="Noto Sans JP" pitchFamily="34" charset="-120"/>
              </a:rPr>
              <a:t>日報に書かれた気づきが残る</a:t>
            </a:r>
            <a:endParaRPr lang="en-US" sz="1500" dirty="0"/>
          </a:p>
        </p:txBody>
      </p:sp>
      <p:sp>
        <p:nvSpPr>
          <p:cNvPr id="12" name="Text 10"/>
          <p:cNvSpPr/>
          <p:nvPr/>
        </p:nvSpPr>
        <p:spPr>
          <a:xfrm>
            <a:off x="3147068" y="4404390"/>
            <a:ext cx="274320" cy="822960"/>
          </a:xfrm>
          <a:prstGeom prst="rect">
            <a:avLst/>
          </a:prstGeom>
          <a:noFill/>
          <a:ln/>
        </p:spPr>
        <p:txBody>
          <a:bodyPr wrap="square" rtlCol="0" anchor="ctr"/>
          <a:lstStyle/>
          <a:p>
            <a:pPr marL="0" indent="0" algn="ctr">
              <a:buNone/>
            </a:pPr>
            <a:r>
              <a:rPr lang="en-US" sz="1800" dirty="0">
                <a:solidFill>
                  <a:srgbClr val="666666"/>
                </a:solidFill>
                <a:latin typeface="Noto Sans JP" pitchFamily="34" charset="0"/>
                <a:ea typeface="Noto Sans JP" pitchFamily="34" charset="-122"/>
                <a:cs typeface="Noto Sans JP" pitchFamily="34" charset="-120"/>
              </a:rPr>
              <a:t>→</a:t>
            </a:r>
            <a:endParaRPr lang="en-US" sz="1800" dirty="0"/>
          </a:p>
        </p:txBody>
      </p:sp>
      <p:sp>
        <p:nvSpPr>
          <p:cNvPr id="13" name="Shape 11"/>
          <p:cNvSpPr/>
          <p:nvPr/>
        </p:nvSpPr>
        <p:spPr>
          <a:xfrm>
            <a:off x="3421388" y="4404390"/>
            <a:ext cx="2537437" cy="822960"/>
          </a:xfrm>
          <a:prstGeom prst="roundRect">
            <a:avLst>
              <a:gd name="adj" fmla="val 6667"/>
            </a:avLst>
          </a:prstGeom>
          <a:solidFill>
            <a:srgbClr val="F2F2F2"/>
          </a:solidFill>
          <a:ln/>
        </p:spPr>
        <p:txBody>
          <a:bodyPr/>
          <a:p/>
        </p:txBody>
      </p:sp>
      <p:sp>
        <p:nvSpPr>
          <p:cNvPr id="14" name="Text 12"/>
          <p:cNvSpPr/>
          <p:nvPr/>
        </p:nvSpPr>
        <p:spPr>
          <a:xfrm>
            <a:off x="3512828" y="4404390"/>
            <a:ext cx="2354557" cy="822960"/>
          </a:xfrm>
          <a:prstGeom prst="rect">
            <a:avLst/>
          </a:prstGeom>
          <a:noFill/>
          <a:ln/>
        </p:spPr>
        <p:txBody>
          <a:bodyPr wrap="square" rtlCol="0" anchor="ctr"/>
          <a:lstStyle/>
          <a:p>
            <a:pPr marL="0" indent="0" algn="ctr">
              <a:lnSpc>
                <a:spcPct val="120000"/>
              </a:lnSpc>
              <a:buNone/>
            </a:pPr>
            <a:r>
              <a:rPr lang="en-US" sz="1500" dirty="0">
                <a:solidFill>
                  <a:srgbClr val="1A1A1A"/>
                </a:solidFill>
                <a:latin typeface="Noto Sans JP" pitchFamily="34" charset="0"/>
                <a:ea typeface="Noto Sans JP" pitchFamily="34" charset="-122"/>
                <a:cs typeface="Noto Sans JP" pitchFamily="34" charset="-120"/>
              </a:rPr>
              <a:t>記録が蓄積・連結される</a:t>
            </a:r>
            <a:endParaRPr lang="en-US" sz="1500" dirty="0"/>
          </a:p>
        </p:txBody>
      </p:sp>
      <p:sp>
        <p:nvSpPr>
          <p:cNvPr id="15" name="Text 13"/>
          <p:cNvSpPr/>
          <p:nvPr/>
        </p:nvSpPr>
        <p:spPr>
          <a:xfrm>
            <a:off x="5958825" y="4404390"/>
            <a:ext cx="274320" cy="822960"/>
          </a:xfrm>
          <a:prstGeom prst="rect">
            <a:avLst/>
          </a:prstGeom>
          <a:noFill/>
          <a:ln/>
        </p:spPr>
        <p:txBody>
          <a:bodyPr wrap="square" rtlCol="0" anchor="ctr"/>
          <a:lstStyle/>
          <a:p>
            <a:pPr marL="0" indent="0" algn="ctr">
              <a:buNone/>
            </a:pPr>
            <a:r>
              <a:rPr lang="en-US" sz="1800" dirty="0">
                <a:solidFill>
                  <a:srgbClr val="666666"/>
                </a:solidFill>
                <a:latin typeface="Noto Sans JP" pitchFamily="34" charset="0"/>
                <a:ea typeface="Noto Sans JP" pitchFamily="34" charset="-122"/>
                <a:cs typeface="Noto Sans JP" pitchFamily="34" charset="-120"/>
              </a:rPr>
              <a:t>→</a:t>
            </a:r>
            <a:endParaRPr lang="en-US" sz="1800" dirty="0"/>
          </a:p>
        </p:txBody>
      </p:sp>
      <p:sp>
        <p:nvSpPr>
          <p:cNvPr id="16" name="Shape 14"/>
          <p:cNvSpPr/>
          <p:nvPr/>
        </p:nvSpPr>
        <p:spPr>
          <a:xfrm>
            <a:off x="6233145" y="4404390"/>
            <a:ext cx="2537437" cy="822960"/>
          </a:xfrm>
          <a:prstGeom prst="roundRect">
            <a:avLst>
              <a:gd name="adj" fmla="val 6667"/>
            </a:avLst>
          </a:prstGeom>
          <a:solidFill>
            <a:srgbClr val="F2F2F2"/>
          </a:solidFill>
          <a:ln/>
        </p:spPr>
        <p:txBody>
          <a:bodyPr/>
          <a:p/>
        </p:txBody>
      </p:sp>
      <p:sp>
        <p:nvSpPr>
          <p:cNvPr id="17" name="Text 15"/>
          <p:cNvSpPr/>
          <p:nvPr/>
        </p:nvSpPr>
        <p:spPr>
          <a:xfrm>
            <a:off x="6324585" y="4404390"/>
            <a:ext cx="2354557" cy="822960"/>
          </a:xfrm>
          <a:prstGeom prst="rect">
            <a:avLst/>
          </a:prstGeom>
          <a:noFill/>
          <a:ln/>
        </p:spPr>
        <p:txBody>
          <a:bodyPr wrap="square" rtlCol="0" anchor="ctr"/>
          <a:lstStyle/>
          <a:p>
            <a:pPr marL="0" indent="0" algn="ctr">
              <a:lnSpc>
                <a:spcPct val="120000"/>
              </a:lnSpc>
              <a:buNone/>
            </a:pPr>
            <a:r>
              <a:rPr lang="en-US" sz="1500" dirty="0">
                <a:solidFill>
                  <a:srgbClr val="1A1A1A"/>
                </a:solidFill>
                <a:latin typeface="Noto Sans JP" pitchFamily="34" charset="0"/>
                <a:ea typeface="Noto Sans JP" pitchFamily="34" charset="-122"/>
                <a:cs typeface="Noto Sans JP" pitchFamily="34" charset="-120"/>
              </a:rPr>
              <a:t>予兆として浮かび上がる</a:t>
            </a:r>
            <a:endParaRPr lang="en-US" sz="1500" dirty="0"/>
          </a:p>
        </p:txBody>
      </p:sp>
      <p:sp>
        <p:nvSpPr>
          <p:cNvPr id="18" name="Text 16"/>
          <p:cNvSpPr/>
          <p:nvPr/>
        </p:nvSpPr>
        <p:spPr>
          <a:xfrm>
            <a:off x="8770582" y="4404390"/>
            <a:ext cx="274320" cy="822960"/>
          </a:xfrm>
          <a:prstGeom prst="rect">
            <a:avLst/>
          </a:prstGeom>
          <a:noFill/>
          <a:ln/>
        </p:spPr>
        <p:txBody>
          <a:bodyPr wrap="square" rtlCol="0" anchor="ctr"/>
          <a:lstStyle/>
          <a:p>
            <a:pPr marL="0" indent="0" algn="ctr">
              <a:buNone/>
            </a:pPr>
            <a:r>
              <a:rPr lang="en-US" sz="1800" dirty="0">
                <a:solidFill>
                  <a:srgbClr val="666666"/>
                </a:solidFill>
                <a:latin typeface="Noto Sans JP" pitchFamily="34" charset="0"/>
                <a:ea typeface="Noto Sans JP" pitchFamily="34" charset="-122"/>
                <a:cs typeface="Noto Sans JP" pitchFamily="34" charset="-120"/>
              </a:rPr>
              <a:t>→</a:t>
            </a:r>
            <a:endParaRPr lang="en-US" sz="1800" dirty="0"/>
          </a:p>
        </p:txBody>
      </p:sp>
      <p:sp>
        <p:nvSpPr>
          <p:cNvPr id="19" name="Shape 17"/>
          <p:cNvSpPr/>
          <p:nvPr/>
        </p:nvSpPr>
        <p:spPr>
          <a:xfrm>
            <a:off x="9044902" y="4404390"/>
            <a:ext cx="2537437" cy="822960"/>
          </a:xfrm>
          <a:prstGeom prst="roundRect">
            <a:avLst>
              <a:gd name="adj" fmla="val 6667"/>
            </a:avLst>
          </a:prstGeom>
          <a:solidFill>
            <a:srgbClr val="F2F2F2"/>
          </a:solidFill>
          <a:ln/>
        </p:spPr>
        <p:txBody>
          <a:bodyPr/>
          <a:p/>
        </p:txBody>
      </p:sp>
      <p:sp>
        <p:nvSpPr>
          <p:cNvPr id="20" name="Text 18"/>
          <p:cNvSpPr/>
          <p:nvPr/>
        </p:nvSpPr>
        <p:spPr>
          <a:xfrm>
            <a:off x="9136342" y="4404390"/>
            <a:ext cx="2354557" cy="822960"/>
          </a:xfrm>
          <a:prstGeom prst="rect">
            <a:avLst/>
          </a:prstGeom>
          <a:noFill/>
          <a:ln/>
        </p:spPr>
        <p:txBody>
          <a:bodyPr wrap="square" rtlCol="0" anchor="ctr"/>
          <a:lstStyle/>
          <a:p>
            <a:pPr marL="0" indent="0" algn="ctr">
              <a:lnSpc>
                <a:spcPct val="120000"/>
              </a:lnSpc>
              <a:buNone/>
            </a:pPr>
            <a:r>
              <a:rPr lang="en-US" sz="1500" dirty="0" err="1">
                <a:solidFill>
                  <a:srgbClr val="1A1A1A"/>
                </a:solidFill>
                <a:latin typeface="Noto Sans JP" pitchFamily="34" charset="0"/>
                <a:ea typeface="Noto Sans JP" pitchFamily="34" charset="-122"/>
                <a:cs typeface="Noto Sans JP" pitchFamily="34" charset="-120"/>
              </a:rPr>
              <a:t>次の対話・支援に</a:t>
            </a:r>
            <a:r>
              <a:rPr lang="ja-JP" altLang="en-US" sz="1500" dirty="0">
                <a:solidFill>
                  <a:srgbClr val="1A1A1A"/>
                </a:solidFill>
                <a:latin typeface="Noto Sans JP" pitchFamily="34" charset="0"/>
                <a:ea typeface="Noto Sans JP" pitchFamily="34" charset="-122"/>
                <a:cs typeface="Noto Sans JP" pitchFamily="34" charset="-120"/>
              </a:rPr>
              <a:t>繋がる</a:t>
            </a:r>
            <a:endParaRPr lang="en-US" sz="1500" dirty="0"/>
          </a:p>
        </p:txBody>
      </p:sp>
      <p:sp>
        <p:nvSpPr>
          <p:cNvPr id="22" name="Text 2">
            <a:extLst>
              <a:ext uri="{FF2B5EF4-FFF2-40B4-BE49-F238E27FC236}">
                <a16:creationId xmlns:a16="http://schemas.microsoft.com/office/drawing/2014/main" id="{17FD76A5-5C62-B6E4-E0A5-EEE7DB0DD021}"/>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課題解決</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金利のある世界だからこそ、関係の深さが差になる</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12</a:t>
            </a:r>
            <a:endParaRPr lang="en-US" sz="1200" dirty="0"/>
          </a:p>
        </p:txBody>
      </p:sp>
      <p:sp>
        <p:nvSpPr>
          <p:cNvPr id="6" name="Text 4"/>
          <p:cNvSpPr/>
          <p:nvPr/>
        </p:nvSpPr>
        <p:spPr>
          <a:xfrm>
            <a:off x="609630" y="1752630"/>
            <a:ext cx="10972709" cy="100584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預金に金利がつき、貸出機会が増え始めた今、その機会を捉えられるかどうかは、地域企業との関係をどれだけ深く、継続的に積み重ねられるかにかかっている。</a:t>
            </a:r>
            <a:endParaRPr lang="en-US" sz="1800" dirty="0"/>
          </a:p>
        </p:txBody>
      </p:sp>
      <p:sp>
        <p:nvSpPr>
          <p:cNvPr id="7" name="Shape 5"/>
          <p:cNvSpPr/>
          <p:nvPr/>
        </p:nvSpPr>
        <p:spPr>
          <a:xfrm>
            <a:off x="609630" y="2895630"/>
            <a:ext cx="10972709" cy="1463040"/>
          </a:xfrm>
          <a:prstGeom prst="roundRect">
            <a:avLst>
              <a:gd name="adj" fmla="val 3750"/>
            </a:avLst>
          </a:prstGeom>
          <a:solidFill>
            <a:schemeClr val="accent1">
              <a:lumMod val="60000"/>
              <a:lumOff val="40000"/>
            </a:schemeClr>
          </a:solidFill>
          <a:ln/>
        </p:spPr>
        <p:txBody>
          <a:bodyPr/>
          <a:p/>
        </p:txBody>
      </p:sp>
      <p:sp>
        <p:nvSpPr>
          <p:cNvPr id="8" name="Text 6"/>
          <p:cNvSpPr/>
          <p:nvPr/>
        </p:nvSpPr>
        <p:spPr>
          <a:xfrm>
            <a:off x="975390" y="3341959"/>
            <a:ext cx="10241189" cy="570381"/>
          </a:xfrm>
          <a:prstGeom prst="rect">
            <a:avLst/>
          </a:prstGeom>
          <a:noFill/>
          <a:ln/>
        </p:spPr>
        <p:txBody>
          <a:bodyPr wrap="square" rtlCol="0" anchor="t"/>
          <a:lstStyle/>
          <a:p>
            <a:pPr marL="0" indent="0" algn="l">
              <a:lnSpc>
                <a:spcPct val="140000"/>
              </a:lnSpc>
              <a:buNone/>
            </a:pPr>
            <a:r>
              <a:rPr lang="en-US" sz="2200" b="1" dirty="0">
                <a:solidFill>
                  <a:srgbClr val="FFFFFF"/>
                </a:solidFill>
                <a:latin typeface="Noto Sans JP" pitchFamily="34" charset="0"/>
                <a:ea typeface="Noto Sans JP" pitchFamily="34" charset="-122"/>
                <a:cs typeface="Noto Sans JP" pitchFamily="34" charset="-120"/>
              </a:rPr>
              <a:t>その関係を、個人の記憶ではなく、組織の資産にする。</a:t>
            </a:r>
            <a:endParaRPr lang="en-US" sz="2200" dirty="0"/>
          </a:p>
        </p:txBody>
      </p:sp>
      <p:sp>
        <p:nvSpPr>
          <p:cNvPr id="9" name="Text 7"/>
          <p:cNvSpPr/>
          <p:nvPr/>
        </p:nvSpPr>
        <p:spPr>
          <a:xfrm>
            <a:off x="609630" y="4678710"/>
            <a:ext cx="10972709" cy="480060"/>
          </a:xfrm>
          <a:prstGeom prst="rect">
            <a:avLst/>
          </a:prstGeom>
          <a:noFill/>
          <a:ln/>
        </p:spPr>
        <p:txBody>
          <a:bodyPr wrap="square" rtlCol="0" anchor="t"/>
          <a:lstStyle/>
          <a:p>
            <a:pPr marL="0" indent="0" algn="l">
              <a:lnSpc>
                <a:spcPct val="150000"/>
              </a:lnSpc>
              <a:buNone/>
            </a:pPr>
            <a:r>
              <a:rPr lang="ja-JP" altLang="en-US" sz="1760" b="1" dirty="0">
                <a:solidFill>
                  <a:srgbClr val="1A1A1A"/>
                </a:solidFill>
                <a:latin typeface="Noto Sans JP" pitchFamily="34" charset="0"/>
                <a:ea typeface="Noto Sans JP" pitchFamily="34" charset="-122"/>
              </a:rPr>
              <a:t>システムパートへ</a:t>
            </a:r>
            <a:endParaRPr lang="en-US" sz="1760" dirty="0"/>
          </a:p>
        </p:txBody>
      </p:sp>
      <p:sp>
        <p:nvSpPr>
          <p:cNvPr id="12" name="Text 2">
            <a:extLst>
              <a:ext uri="{FF2B5EF4-FFF2-40B4-BE49-F238E27FC236}">
                <a16:creationId xmlns:a16="http://schemas.microsoft.com/office/drawing/2014/main" id="{A3AEFDC4-181E-E0BF-DBF5-1AE8BBD69A1C}"/>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課題解決</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bg>
      <p:bgPr>
        <a:solidFill>
          <a:srgbClr val="D9E6FF"/>
        </a:solidFill>
      </p:bgPr>
    </p:bg>
    <p:spTree>
      <p:nvGrpSpPr>
        <p:cNvPr id="1" name=""/>
        <p:cNvGrpSpPr/>
        <p:nvPr/>
      </p:nvGrpSpPr>
      <p:grpSpPr>
        <a:xfrm>
          <a:off x="0" y="0"/>
          <a:ext cx="0" cy="0"/>
          <a:chOff x="0" y="0"/>
          <a:chExt cx="0" cy="0"/>
        </a:xfrm>
      </p:grpSpPr>
      <p:sp>
        <p:nvSpPr>
          <p:cNvPr id="2" name="Text 0"/>
          <p:cNvSpPr txBox="1"/>
          <p:nvPr/>
        </p:nvSpPr>
        <p:spPr>
          <a:xfrm>
            <a:off x="612648" y="2103120"/>
            <a:ext cx="10058400" cy="914400"/>
          </a:xfrm>
          <a:prstGeom prst="rect">
            <a:avLst/>
          </a:prstGeom>
          <a:noFill/>
          <a:ln/>
        </p:spPr>
        <p:txBody>
          <a:bodyPr wrap="square" lIns="0" tIns="0" rIns="0" bIns="0" rtlCol="0" anchor="t"/>
          <a:lstStyle/>
          <a:p>
            <a:pPr indent="0" marL="0">
              <a:buNone/>
            </a:pPr>
            <a:r>
              <a:rPr lang="en-US" sz="4000" b="1" dirty="0">
                <a:solidFill>
                  <a:srgbClr val="1A1A1A"/>
                </a:solidFill>
                <a:latin typeface="Noto Sans JP" pitchFamily="34" charset="0"/>
                <a:ea typeface="Noto Sans JP" pitchFamily="34" charset="-122"/>
                <a:cs typeface="Noto Sans JP" pitchFamily="34" charset="-120"/>
              </a:rPr>
              <a:t>システムパート</a:t>
            </a:r>
            <a:endParaRPr lang="en-US" sz="4000" dirty="0"/>
          </a:p>
        </p:txBody>
      </p:sp>
      <p:sp>
        <p:nvSpPr>
          <p:cNvPr id="3" name="Text 1"/>
          <p:cNvSpPr txBox="1"/>
          <p:nvPr/>
        </p:nvSpPr>
        <p:spPr>
          <a:xfrm>
            <a:off x="612648" y="3108960"/>
            <a:ext cx="10058400" cy="548640"/>
          </a:xfrm>
          <a:prstGeom prst="rect">
            <a:avLst/>
          </a:prstGeom>
          <a:noFill/>
          <a:ln/>
        </p:spPr>
        <p:txBody>
          <a:bodyPr wrap="square" lIns="0" tIns="0" rIns="0" bIns="0" rtlCol="0" anchor="t"/>
          <a:lstStyle/>
          <a:p>
            <a:pPr indent="0" marL="0">
              <a:buNone/>
            </a:pPr>
            <a:r>
              <a:rPr lang="en-US" sz="2200" dirty="0">
                <a:solidFill>
                  <a:srgbClr val="1A1A1A"/>
                </a:solidFill>
                <a:latin typeface="Noto Sans JP" pitchFamily="34" charset="0"/>
                <a:ea typeface="Noto Sans JP" pitchFamily="34" charset="-122"/>
                <a:cs typeface="Noto Sans JP" pitchFamily="34" charset="-120"/>
              </a:rPr>
              <a:t>3 つの条件に、ツムグはどう応えるか</a:t>
            </a:r>
            <a:endParaRPr lang="en-US" sz="2200" dirty="0"/>
          </a:p>
        </p:txBody>
      </p:sp>
      <p:sp>
        <p:nvSpPr>
          <p:cNvPr id="4" name="Text 2"/>
          <p:cNvSpPr txBox="1"/>
          <p:nvPr/>
        </p:nvSpPr>
        <p:spPr>
          <a:xfrm>
            <a:off x="612648" y="4023360"/>
            <a:ext cx="10789920" cy="731520"/>
          </a:xfrm>
          <a:prstGeom prst="rect">
            <a:avLst/>
          </a:prstGeom>
          <a:noFill/>
          <a:ln/>
        </p:spPr>
        <p:txBody>
          <a:bodyPr wrap="square" lIns="0" tIns="0" rIns="0" bIns="0" rtlCol="0" anchor="t"/>
          <a:lstStyle/>
          <a:p>
            <a:pPr indent="0" marL="0">
              <a:lnSpc>
                <a:spcPct val="130000"/>
              </a:lnSpc>
              <a:buNone/>
            </a:pPr>
            <a:r>
              <a:rPr lang="en-US" sz="1300" dirty="0">
                <a:solidFill>
                  <a:srgbClr val="666666"/>
                </a:solidFill>
                <a:latin typeface="Noto Sans JP" pitchFamily="34" charset="0"/>
                <a:ea typeface="Noto Sans JP" pitchFamily="34" charset="-122"/>
                <a:cs typeface="Noto Sans JP" pitchFamily="34" charset="-120"/>
              </a:rPr>
              <a:t>条件への答え ／ なぜ事業承継から ／ プロダクト ／ 技術 ／ 予兆の判断 ／ 入力→処理→出力 ／ デモ ／ 当初案からの変化 ／ 効果 ／ ROI ／ 投資 ／ 広がり方</a:t>
            </a:r>
            <a:endParaRPr lang="en-US" sz="1300" dirty="0"/>
          </a:p>
        </p:txBody>
      </p:sp>
      <p:sp>
        <p:nvSpPr>
          <p:cNvPr id="5" name="Text 3"/>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3 つの条件に、ツムグはこう応える</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前段の「残る・引き継がれる・つながる」を、新しい入力を増やさずに満たす</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14</a:t>
            </a:r>
            <a:endParaRPr lang="en-US" sz="1200" dirty="0"/>
          </a:p>
        </p:txBody>
      </p:sp>
      <p:sp>
        <p:nvSpPr>
          <p:cNvPr id="8" name="Shape 6"/>
          <p:cNvSpPr/>
          <p:nvPr/>
        </p:nvSpPr>
        <p:spPr>
          <a:xfrm>
            <a:off x="612648" y="2331720"/>
            <a:ext cx="3474720" cy="685800"/>
          </a:xfrm>
          <a:prstGeom prst="rect">
            <a:avLst/>
          </a:prstGeom>
          <a:solidFill>
            <a:srgbClr val="E8F1FE"/>
          </a:solidFill>
          <a:ln w="12700">
            <a:solidFill>
              <a:srgbClr val="E8F1FE"/>
            </a:solidFill>
            <a:prstDash val="solid"/>
          </a:ln>
        </p:spPr>
        <p:txBody>
          <a:bodyPr/>
          <a:p/>
        </p:txBody>
      </p:sp>
      <p:sp>
        <p:nvSpPr>
          <p:cNvPr id="9" name="Text 7"/>
          <p:cNvSpPr txBox="1"/>
          <p:nvPr/>
        </p:nvSpPr>
        <p:spPr>
          <a:xfrm>
            <a:off x="795528" y="2331720"/>
            <a:ext cx="3108960" cy="685800"/>
          </a:xfrm>
          <a:prstGeom prst="rect">
            <a:avLst/>
          </a:prstGeom>
          <a:noFill/>
          <a:ln/>
        </p:spPr>
        <p:txBody>
          <a:bodyPr wrap="square" lIns="0" tIns="0" rIns="0" bIns="0" rtlCol="0" anchor="ctr"/>
          <a:lstStyle/>
          <a:p>
            <a:pPr indent="0" marL="0">
              <a:buNone/>
            </a:pPr>
            <a:r>
              <a:rPr lang="en-US" sz="2000" b="1" dirty="0">
                <a:solidFill>
                  <a:srgbClr val="0017C1"/>
                </a:solidFill>
                <a:latin typeface="Noto Sans JP" pitchFamily="34" charset="0"/>
                <a:ea typeface="Noto Sans JP" pitchFamily="34" charset="-122"/>
                <a:cs typeface="Noto Sans JP" pitchFamily="34" charset="-120"/>
              </a:rPr>
              <a:t>残る</a:t>
            </a:r>
            <a:endParaRPr lang="en-US" sz="2000" dirty="0"/>
          </a:p>
        </p:txBody>
      </p:sp>
      <p:sp>
        <p:nvSpPr>
          <p:cNvPr id="10" name="Text 8"/>
          <p:cNvSpPr txBox="1"/>
          <p:nvPr/>
        </p:nvSpPr>
        <p:spPr>
          <a:xfrm>
            <a:off x="612648" y="3035808"/>
            <a:ext cx="3474720" cy="274320"/>
          </a:xfrm>
          <a:prstGeom prst="rect">
            <a:avLst/>
          </a:prstGeom>
          <a:noFill/>
          <a:ln/>
        </p:spPr>
        <p:txBody>
          <a:bodyPr wrap="square" lIns="0" tIns="0" rIns="0" bIns="0" rtlCol="0" anchor="t"/>
          <a:lstStyle/>
          <a:p>
            <a:pPr algn="ctr" indent="0" marL="0">
              <a:buNone/>
            </a:pPr>
            <a:r>
              <a:rPr lang="en-US" sz="1200" dirty="0">
                <a:solidFill>
                  <a:srgbClr val="666666"/>
                </a:solidFill>
                <a:latin typeface="Noto Sans JP" pitchFamily="34" charset="0"/>
                <a:ea typeface="Noto Sans JP" pitchFamily="34" charset="-122"/>
                <a:cs typeface="Noto Sans JP" pitchFamily="34" charset="-120"/>
              </a:rPr>
              <a:t>▼</a:t>
            </a:r>
            <a:endParaRPr lang="en-US" sz="1200" dirty="0"/>
          </a:p>
        </p:txBody>
      </p:sp>
      <p:sp>
        <p:nvSpPr>
          <p:cNvPr id="11" name="Shape 9"/>
          <p:cNvSpPr/>
          <p:nvPr/>
        </p:nvSpPr>
        <p:spPr>
          <a:xfrm>
            <a:off x="612648" y="3337560"/>
            <a:ext cx="3474720" cy="2148840"/>
          </a:xfrm>
          <a:prstGeom prst="rect">
            <a:avLst/>
          </a:prstGeom>
          <a:solidFill>
            <a:srgbClr val="FFFFFF"/>
          </a:solidFill>
          <a:ln w="12700">
            <a:solidFill>
              <a:srgbClr val="CCCCCC"/>
            </a:solidFill>
            <a:prstDash val="solid"/>
          </a:ln>
        </p:spPr>
        <p:txBody>
          <a:bodyPr/>
          <a:p/>
        </p:txBody>
      </p:sp>
      <p:sp>
        <p:nvSpPr>
          <p:cNvPr id="12" name="Text 10"/>
          <p:cNvSpPr txBox="1"/>
          <p:nvPr/>
        </p:nvSpPr>
        <p:spPr>
          <a:xfrm>
            <a:off x="795528" y="3456432"/>
            <a:ext cx="3108960" cy="1508760"/>
          </a:xfrm>
          <a:prstGeom prst="rect">
            <a:avLst/>
          </a:prstGeom>
          <a:noFill/>
          <a:ln/>
        </p:spPr>
        <p:txBody>
          <a:bodyPr wrap="square" lIns="0" tIns="0" rIns="0" bIns="0" rtlCol="0" anchor="t"/>
          <a:lstStyle/>
          <a:p>
            <a:pPr indent="0" marL="0">
              <a:lnSpc>
                <a:spcPct val="120000"/>
              </a:lnSpc>
              <a:buNone/>
            </a:pPr>
            <a:r>
              <a:rPr lang="en-US" sz="1600" b="1" dirty="0">
                <a:solidFill>
                  <a:srgbClr val="1A1A1A"/>
                </a:solidFill>
                <a:latin typeface="Noto Sans JP" pitchFamily="34" charset="0"/>
                <a:ea typeface="Noto Sans JP" pitchFamily="34" charset="-122"/>
                <a:cs typeface="Noto Sans JP" pitchFamily="34" charset="-120"/>
              </a:rPr>
              <a:t>いつもの日報に書かれた気づきが、そのまま残る</a:t>
            </a:r>
            <a:endParaRPr lang="en-US" sz="1600" dirty="0"/>
          </a:p>
          <a:p>
            <a:pPr indent="0" marL="0">
              <a:lnSpc>
                <a:spcPct val="120000"/>
              </a:lnSpc>
              <a:buNone/>
            </a:pPr>
            <a:r>
              <a:rPr lang="en-US" sz="6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300" dirty="0">
                <a:solidFill>
                  <a:srgbClr val="666666"/>
                </a:solidFill>
                <a:latin typeface="Noto Sans JP" pitchFamily="34" charset="0"/>
                <a:ea typeface="Noto Sans JP" pitchFamily="34" charset="-122"/>
                <a:cs typeface="Noto Sans JP" pitchFamily="34" charset="-120"/>
              </a:rPr>
              <a:t>新しい入力欄はつくらない。音声で入力・AI で整える・下書き保存で、書く手間を減らす</a:t>
            </a:r>
            <a:endParaRPr lang="en-US" sz="1600" dirty="0"/>
          </a:p>
        </p:txBody>
      </p:sp>
      <p:sp>
        <p:nvSpPr>
          <p:cNvPr id="13" name="Text 11"/>
          <p:cNvSpPr txBox="1"/>
          <p:nvPr/>
        </p:nvSpPr>
        <p:spPr>
          <a:xfrm>
            <a:off x="795528" y="5074920"/>
            <a:ext cx="3108960" cy="320040"/>
          </a:xfrm>
          <a:prstGeom prst="rect">
            <a:avLst/>
          </a:prstGeom>
          <a:noFill/>
          <a:ln/>
        </p:spPr>
        <p:txBody>
          <a:bodyPr wrap="square" lIns="0" tIns="0" rIns="0" bIns="0" rtlCol="0" anchor="t"/>
          <a:lstStyle/>
          <a:p>
            <a:pPr indent="0" marL="0">
              <a:buNone/>
            </a:pPr>
            <a:r>
              <a:rPr lang="en-US" sz="1100" b="1" dirty="0">
                <a:solidFill>
                  <a:srgbClr val="197A4B"/>
                </a:solidFill>
                <a:latin typeface="Noto Sans JP" pitchFamily="34" charset="0"/>
                <a:ea typeface="Noto Sans JP" pitchFamily="34" charset="-122"/>
                <a:cs typeface="Noto Sans JP" pitchFamily="34" charset="-120"/>
              </a:rPr>
              <a:t>日報（訪問後）の画面</a:t>
            </a:r>
            <a:endParaRPr lang="en-US" sz="1100" dirty="0"/>
          </a:p>
        </p:txBody>
      </p:sp>
      <p:sp>
        <p:nvSpPr>
          <p:cNvPr id="14" name="Shape 12"/>
          <p:cNvSpPr/>
          <p:nvPr/>
        </p:nvSpPr>
        <p:spPr>
          <a:xfrm>
            <a:off x="4361688" y="2331720"/>
            <a:ext cx="3474720" cy="685800"/>
          </a:xfrm>
          <a:prstGeom prst="rect">
            <a:avLst/>
          </a:prstGeom>
          <a:solidFill>
            <a:srgbClr val="E8F1FE"/>
          </a:solidFill>
          <a:ln w="12700">
            <a:solidFill>
              <a:srgbClr val="E8F1FE"/>
            </a:solidFill>
            <a:prstDash val="solid"/>
          </a:ln>
        </p:spPr>
        <p:txBody>
          <a:bodyPr/>
          <a:p/>
        </p:txBody>
      </p:sp>
      <p:sp>
        <p:nvSpPr>
          <p:cNvPr id="15" name="Text 13"/>
          <p:cNvSpPr txBox="1"/>
          <p:nvPr/>
        </p:nvSpPr>
        <p:spPr>
          <a:xfrm>
            <a:off x="4544568" y="2331720"/>
            <a:ext cx="3108960" cy="685800"/>
          </a:xfrm>
          <a:prstGeom prst="rect">
            <a:avLst/>
          </a:prstGeom>
          <a:noFill/>
          <a:ln/>
        </p:spPr>
        <p:txBody>
          <a:bodyPr wrap="square" lIns="0" tIns="0" rIns="0" bIns="0" rtlCol="0" anchor="ctr"/>
          <a:lstStyle/>
          <a:p>
            <a:pPr indent="0" marL="0">
              <a:buNone/>
            </a:pPr>
            <a:r>
              <a:rPr lang="en-US" sz="2000" b="1" dirty="0">
                <a:solidFill>
                  <a:srgbClr val="0017C1"/>
                </a:solidFill>
                <a:latin typeface="Noto Sans JP" pitchFamily="34" charset="0"/>
                <a:ea typeface="Noto Sans JP" pitchFamily="34" charset="-122"/>
                <a:cs typeface="Noto Sans JP" pitchFamily="34" charset="-120"/>
              </a:rPr>
              <a:t>引き継がれる</a:t>
            </a:r>
            <a:endParaRPr lang="en-US" sz="2000" dirty="0"/>
          </a:p>
        </p:txBody>
      </p:sp>
      <p:sp>
        <p:nvSpPr>
          <p:cNvPr id="16" name="Text 14"/>
          <p:cNvSpPr txBox="1"/>
          <p:nvPr/>
        </p:nvSpPr>
        <p:spPr>
          <a:xfrm>
            <a:off x="4361688" y="3035808"/>
            <a:ext cx="3474720" cy="274320"/>
          </a:xfrm>
          <a:prstGeom prst="rect">
            <a:avLst/>
          </a:prstGeom>
          <a:noFill/>
          <a:ln/>
        </p:spPr>
        <p:txBody>
          <a:bodyPr wrap="square" lIns="0" tIns="0" rIns="0" bIns="0" rtlCol="0" anchor="t"/>
          <a:lstStyle/>
          <a:p>
            <a:pPr algn="ctr" indent="0" marL="0">
              <a:buNone/>
            </a:pPr>
            <a:r>
              <a:rPr lang="en-US" sz="1200" dirty="0">
                <a:solidFill>
                  <a:srgbClr val="666666"/>
                </a:solidFill>
                <a:latin typeface="Noto Sans JP" pitchFamily="34" charset="0"/>
                <a:ea typeface="Noto Sans JP" pitchFamily="34" charset="-122"/>
                <a:cs typeface="Noto Sans JP" pitchFamily="34" charset="-120"/>
              </a:rPr>
              <a:t>▼</a:t>
            </a:r>
            <a:endParaRPr lang="en-US" sz="1200" dirty="0"/>
          </a:p>
        </p:txBody>
      </p:sp>
      <p:sp>
        <p:nvSpPr>
          <p:cNvPr id="17" name="Shape 15"/>
          <p:cNvSpPr/>
          <p:nvPr/>
        </p:nvSpPr>
        <p:spPr>
          <a:xfrm>
            <a:off x="4361688" y="3337560"/>
            <a:ext cx="3474720" cy="2148840"/>
          </a:xfrm>
          <a:prstGeom prst="rect">
            <a:avLst/>
          </a:prstGeom>
          <a:solidFill>
            <a:srgbClr val="FFFFFF"/>
          </a:solidFill>
          <a:ln w="12700">
            <a:solidFill>
              <a:srgbClr val="CCCCCC"/>
            </a:solidFill>
            <a:prstDash val="solid"/>
          </a:ln>
        </p:spPr>
        <p:txBody>
          <a:bodyPr/>
          <a:p/>
        </p:txBody>
      </p:sp>
      <p:sp>
        <p:nvSpPr>
          <p:cNvPr id="18" name="Text 16"/>
          <p:cNvSpPr txBox="1"/>
          <p:nvPr/>
        </p:nvSpPr>
        <p:spPr>
          <a:xfrm>
            <a:off x="4544568" y="3456432"/>
            <a:ext cx="3108960" cy="1508760"/>
          </a:xfrm>
          <a:prstGeom prst="rect">
            <a:avLst/>
          </a:prstGeom>
          <a:noFill/>
          <a:ln/>
        </p:spPr>
        <p:txBody>
          <a:bodyPr wrap="square" lIns="0" tIns="0" rIns="0" bIns="0" rtlCol="0" anchor="t"/>
          <a:lstStyle/>
          <a:p>
            <a:pPr indent="0" marL="0">
              <a:lnSpc>
                <a:spcPct val="120000"/>
              </a:lnSpc>
              <a:buNone/>
            </a:pPr>
            <a:r>
              <a:rPr lang="en-US" sz="1600" b="1" dirty="0">
                <a:solidFill>
                  <a:srgbClr val="1A1A1A"/>
                </a:solidFill>
                <a:latin typeface="Noto Sans JP" pitchFamily="34" charset="0"/>
                <a:ea typeface="Noto Sans JP" pitchFamily="34" charset="-122"/>
                <a:cs typeface="Noto Sans JP" pitchFamily="34" charset="-120"/>
              </a:rPr>
              <a:t>前任者たちの記録を、訪問前にまとめて読める</a:t>
            </a:r>
            <a:endParaRPr lang="en-US" sz="1600" dirty="0"/>
          </a:p>
          <a:p>
            <a:pPr indent="0" marL="0">
              <a:lnSpc>
                <a:spcPct val="120000"/>
              </a:lnSpc>
              <a:buNone/>
            </a:pPr>
            <a:r>
              <a:rPr lang="en-US" sz="6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300" dirty="0">
                <a:solidFill>
                  <a:srgbClr val="666666"/>
                </a:solidFill>
                <a:latin typeface="Noto Sans JP" pitchFamily="34" charset="0"/>
                <a:ea typeface="Noto Sans JP" pitchFamily="34" charset="-122"/>
                <a:cs typeface="Noto Sans JP" pitchFamily="34" charset="-120"/>
              </a:rPr>
              <a:t>担当期間ごとの面談メモ、これまでに出てきた予兆と根拠。相談すると、相談相手もその企業の記録を読める</a:t>
            </a:r>
            <a:endParaRPr lang="en-US" sz="1600" dirty="0"/>
          </a:p>
        </p:txBody>
      </p:sp>
      <p:sp>
        <p:nvSpPr>
          <p:cNvPr id="19" name="Text 17"/>
          <p:cNvSpPr txBox="1"/>
          <p:nvPr/>
        </p:nvSpPr>
        <p:spPr>
          <a:xfrm>
            <a:off x="4544568" y="5074920"/>
            <a:ext cx="3108960" cy="320040"/>
          </a:xfrm>
          <a:prstGeom prst="rect">
            <a:avLst/>
          </a:prstGeom>
          <a:noFill/>
          <a:ln/>
        </p:spPr>
        <p:txBody>
          <a:bodyPr wrap="square" lIns="0" tIns="0" rIns="0" bIns="0" rtlCol="0" anchor="t"/>
          <a:lstStyle/>
          <a:p>
            <a:pPr indent="0" marL="0">
              <a:buNone/>
            </a:pPr>
            <a:r>
              <a:rPr lang="en-US" sz="1100" b="1" dirty="0">
                <a:solidFill>
                  <a:srgbClr val="197A4B"/>
                </a:solidFill>
                <a:latin typeface="Noto Sans JP" pitchFamily="34" charset="0"/>
                <a:ea typeface="Noto Sans JP" pitchFamily="34" charset="-122"/>
                <a:cs typeface="Noto Sans JP" pitchFamily="34" charset="-120"/>
              </a:rPr>
              <a:t>取引先（訪問前）の画面</a:t>
            </a:r>
            <a:endParaRPr lang="en-US" sz="1100" dirty="0"/>
          </a:p>
        </p:txBody>
      </p:sp>
      <p:sp>
        <p:nvSpPr>
          <p:cNvPr id="20" name="Shape 18"/>
          <p:cNvSpPr/>
          <p:nvPr/>
        </p:nvSpPr>
        <p:spPr>
          <a:xfrm>
            <a:off x="8110728" y="2331720"/>
            <a:ext cx="3474720" cy="685800"/>
          </a:xfrm>
          <a:prstGeom prst="rect">
            <a:avLst/>
          </a:prstGeom>
          <a:solidFill>
            <a:srgbClr val="E8F1FE"/>
          </a:solidFill>
          <a:ln w="12700">
            <a:solidFill>
              <a:srgbClr val="E8F1FE"/>
            </a:solidFill>
            <a:prstDash val="solid"/>
          </a:ln>
        </p:spPr>
        <p:txBody>
          <a:bodyPr/>
          <a:p/>
        </p:txBody>
      </p:sp>
      <p:sp>
        <p:nvSpPr>
          <p:cNvPr id="21" name="Text 19"/>
          <p:cNvSpPr txBox="1"/>
          <p:nvPr/>
        </p:nvSpPr>
        <p:spPr>
          <a:xfrm>
            <a:off x="8293608" y="2331720"/>
            <a:ext cx="3108960" cy="685800"/>
          </a:xfrm>
          <a:prstGeom prst="rect">
            <a:avLst/>
          </a:prstGeom>
          <a:noFill/>
          <a:ln/>
        </p:spPr>
        <p:txBody>
          <a:bodyPr wrap="square" lIns="0" tIns="0" rIns="0" bIns="0" rtlCol="0" anchor="ctr"/>
          <a:lstStyle/>
          <a:p>
            <a:pPr indent="0" marL="0">
              <a:buNone/>
            </a:pPr>
            <a:r>
              <a:rPr lang="en-US" sz="2000" b="1" dirty="0">
                <a:solidFill>
                  <a:srgbClr val="0017C1"/>
                </a:solidFill>
                <a:latin typeface="Noto Sans JP" pitchFamily="34" charset="0"/>
                <a:ea typeface="Noto Sans JP" pitchFamily="34" charset="-122"/>
                <a:cs typeface="Noto Sans JP" pitchFamily="34" charset="-120"/>
              </a:rPr>
              <a:t>つながる</a:t>
            </a:r>
            <a:endParaRPr lang="en-US" sz="2000" dirty="0"/>
          </a:p>
        </p:txBody>
      </p:sp>
      <p:sp>
        <p:nvSpPr>
          <p:cNvPr id="22" name="Text 20"/>
          <p:cNvSpPr txBox="1"/>
          <p:nvPr/>
        </p:nvSpPr>
        <p:spPr>
          <a:xfrm>
            <a:off x="8110728" y="3035808"/>
            <a:ext cx="3474720" cy="274320"/>
          </a:xfrm>
          <a:prstGeom prst="rect">
            <a:avLst/>
          </a:prstGeom>
          <a:noFill/>
          <a:ln/>
        </p:spPr>
        <p:txBody>
          <a:bodyPr wrap="square" lIns="0" tIns="0" rIns="0" bIns="0" rtlCol="0" anchor="t"/>
          <a:lstStyle/>
          <a:p>
            <a:pPr algn="ctr" indent="0" marL="0">
              <a:buNone/>
            </a:pPr>
            <a:r>
              <a:rPr lang="en-US" sz="1200" dirty="0">
                <a:solidFill>
                  <a:srgbClr val="666666"/>
                </a:solidFill>
                <a:latin typeface="Noto Sans JP" pitchFamily="34" charset="0"/>
                <a:ea typeface="Noto Sans JP" pitchFamily="34" charset="-122"/>
                <a:cs typeface="Noto Sans JP" pitchFamily="34" charset="-120"/>
              </a:rPr>
              <a:t>▼</a:t>
            </a:r>
            <a:endParaRPr lang="en-US" sz="1200" dirty="0"/>
          </a:p>
        </p:txBody>
      </p:sp>
      <p:sp>
        <p:nvSpPr>
          <p:cNvPr id="23" name="Shape 21"/>
          <p:cNvSpPr/>
          <p:nvPr/>
        </p:nvSpPr>
        <p:spPr>
          <a:xfrm>
            <a:off x="8110728" y="3337560"/>
            <a:ext cx="3474720" cy="2148840"/>
          </a:xfrm>
          <a:prstGeom prst="rect">
            <a:avLst/>
          </a:prstGeom>
          <a:solidFill>
            <a:srgbClr val="FFFFFF"/>
          </a:solidFill>
          <a:ln w="12700">
            <a:solidFill>
              <a:srgbClr val="CCCCCC"/>
            </a:solidFill>
            <a:prstDash val="solid"/>
          </a:ln>
        </p:spPr>
        <p:txBody>
          <a:bodyPr/>
          <a:p/>
        </p:txBody>
      </p:sp>
      <p:sp>
        <p:nvSpPr>
          <p:cNvPr id="24" name="Text 22"/>
          <p:cNvSpPr txBox="1"/>
          <p:nvPr/>
        </p:nvSpPr>
        <p:spPr>
          <a:xfrm>
            <a:off x="8293608" y="3456432"/>
            <a:ext cx="3108960" cy="1508760"/>
          </a:xfrm>
          <a:prstGeom prst="rect">
            <a:avLst/>
          </a:prstGeom>
          <a:noFill/>
          <a:ln/>
        </p:spPr>
        <p:txBody>
          <a:bodyPr wrap="square" lIns="0" tIns="0" rIns="0" bIns="0" rtlCol="0" anchor="t"/>
          <a:lstStyle/>
          <a:p>
            <a:pPr indent="0" marL="0">
              <a:lnSpc>
                <a:spcPct val="120000"/>
              </a:lnSpc>
              <a:buNone/>
            </a:pPr>
            <a:r>
              <a:rPr lang="en-US" sz="1600" b="1" dirty="0">
                <a:solidFill>
                  <a:srgbClr val="1A1A1A"/>
                </a:solidFill>
                <a:latin typeface="Noto Sans JP" pitchFamily="34" charset="0"/>
                <a:ea typeface="Noto Sans JP" pitchFamily="34" charset="-122"/>
                <a:cs typeface="Noto Sans JP" pitchFamily="34" charset="-120"/>
              </a:rPr>
              <a:t>記録が重なったときだけ、予兆として知らせる</a:t>
            </a:r>
            <a:endParaRPr lang="en-US" sz="1600" dirty="0"/>
          </a:p>
          <a:p>
            <a:pPr indent="0" marL="0">
              <a:lnSpc>
                <a:spcPct val="120000"/>
              </a:lnSpc>
              <a:buNone/>
            </a:pPr>
            <a:r>
              <a:rPr lang="en-US" sz="6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300" dirty="0">
                <a:solidFill>
                  <a:srgbClr val="666666"/>
                </a:solidFill>
                <a:latin typeface="Noto Sans JP" pitchFamily="34" charset="0"/>
                <a:ea typeface="Noto Sans JP" pitchFamily="34" charset="-122"/>
                <a:cs typeface="Noto Sans JP" pitchFamily="34" charset="-120"/>
              </a:rPr>
              <a:t>相談できる人（前任者・似た事例の担当者）、社内の支援事例、公的な制度につなぐ</a:t>
            </a:r>
            <a:endParaRPr lang="en-US" sz="1600" dirty="0"/>
          </a:p>
        </p:txBody>
      </p:sp>
      <p:sp>
        <p:nvSpPr>
          <p:cNvPr id="25" name="Text 23"/>
          <p:cNvSpPr txBox="1"/>
          <p:nvPr/>
        </p:nvSpPr>
        <p:spPr>
          <a:xfrm>
            <a:off x="8293608" y="5074920"/>
            <a:ext cx="3108960" cy="320040"/>
          </a:xfrm>
          <a:prstGeom prst="rect">
            <a:avLst/>
          </a:prstGeom>
          <a:noFill/>
          <a:ln/>
        </p:spPr>
        <p:txBody>
          <a:bodyPr wrap="square" lIns="0" tIns="0" rIns="0" bIns="0" rtlCol="0" anchor="t"/>
          <a:lstStyle/>
          <a:p>
            <a:pPr indent="0" marL="0">
              <a:buNone/>
            </a:pPr>
            <a:r>
              <a:rPr lang="en-US" sz="1100" b="1" dirty="0">
                <a:solidFill>
                  <a:srgbClr val="197A4B"/>
                </a:solidFill>
                <a:latin typeface="Noto Sans JP" pitchFamily="34" charset="0"/>
                <a:ea typeface="Noto Sans JP" pitchFamily="34" charset="-122"/>
                <a:cs typeface="Noto Sans JP" pitchFamily="34" charset="-120"/>
              </a:rPr>
              <a:t>日報を登録したときの反応</a:t>
            </a:r>
            <a:endParaRPr lang="en-US" sz="1100" dirty="0"/>
          </a:p>
        </p:txBody>
      </p:sp>
      <p:sp>
        <p:nvSpPr>
          <p:cNvPr id="26" name="Shape 24"/>
          <p:cNvSpPr/>
          <p:nvPr/>
        </p:nvSpPr>
        <p:spPr>
          <a:xfrm>
            <a:off x="612648" y="5669280"/>
            <a:ext cx="10972800" cy="566928"/>
          </a:xfrm>
          <a:prstGeom prst="rect">
            <a:avLst/>
          </a:prstGeom>
          <a:solidFill>
            <a:srgbClr val="FBF5E0"/>
          </a:solidFill>
          <a:ln w="12700">
            <a:solidFill>
              <a:srgbClr val="FBF5E0"/>
            </a:solidFill>
            <a:prstDash val="solid"/>
          </a:ln>
        </p:spPr>
        <p:txBody>
          <a:bodyPr/>
          <a:p/>
        </p:txBody>
      </p:sp>
      <p:sp>
        <p:nvSpPr>
          <p:cNvPr id="27" name="Text 25"/>
          <p:cNvSpPr txBox="1"/>
          <p:nvPr/>
        </p:nvSpPr>
        <p:spPr>
          <a:xfrm>
            <a:off x="841248" y="5669280"/>
            <a:ext cx="10515600" cy="566928"/>
          </a:xfrm>
          <a:prstGeom prst="rect">
            <a:avLst/>
          </a:prstGeom>
          <a:noFill/>
          <a:ln/>
        </p:spPr>
        <p:txBody>
          <a:bodyPr wrap="square" lIns="0" tIns="0" rIns="0" bIns="0" rtlCol="0" anchor="ctr"/>
          <a:lstStyle/>
          <a:p>
            <a:pPr indent="0" marL="0">
              <a:buNone/>
            </a:pPr>
            <a:r>
              <a:rPr lang="en-US" sz="1500" b="1" dirty="0">
                <a:solidFill>
                  <a:srgbClr val="806300"/>
                </a:solidFill>
                <a:latin typeface="Noto Sans JP" pitchFamily="34" charset="0"/>
                <a:ea typeface="Noto Sans JP" pitchFamily="34" charset="-122"/>
                <a:cs typeface="Noto Sans JP" pitchFamily="34" charset="-120"/>
              </a:rPr>
              <a:t>最終判断は常に担当者・支店長が行う。点数化せず、与信・人事評価には使わない</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なぜ、最初のテーマは事業承継か</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関係が途切れたときに失うものが最も大きく、行内に支援の出口がある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15</a:t>
            </a:r>
            <a:endParaRPr lang="en-US" sz="1200" dirty="0"/>
          </a:p>
        </p:txBody>
      </p:sp>
      <p:sp>
        <p:nvSpPr>
          <p:cNvPr id="8" name="Shape 6"/>
          <p:cNvSpPr/>
          <p:nvPr/>
        </p:nvSpPr>
        <p:spPr>
          <a:xfrm>
            <a:off x="612648" y="2331720"/>
            <a:ext cx="4846320" cy="1143000"/>
          </a:xfrm>
          <a:prstGeom prst="rect">
            <a:avLst/>
          </a:prstGeom>
          <a:solidFill>
            <a:srgbClr val="E8F1FE"/>
          </a:solidFill>
          <a:ln w="12700">
            <a:solidFill>
              <a:srgbClr val="E8F1FE"/>
            </a:solidFill>
            <a:prstDash val="solid"/>
          </a:ln>
        </p:spPr>
        <p:txBody>
          <a:bodyPr/>
          <a:p/>
        </p:txBody>
      </p:sp>
      <p:sp>
        <p:nvSpPr>
          <p:cNvPr id="9" name="Text 7"/>
          <p:cNvSpPr txBox="1"/>
          <p:nvPr/>
        </p:nvSpPr>
        <p:spPr>
          <a:xfrm>
            <a:off x="795528" y="2468880"/>
            <a:ext cx="4480560" cy="914400"/>
          </a:xfrm>
          <a:prstGeom prst="rect">
            <a:avLst/>
          </a:prstGeom>
          <a:noFill/>
          <a:ln/>
        </p:spPr>
        <p:txBody>
          <a:bodyPr wrap="square" lIns="0" tIns="0" rIns="0" bIns="0" rtlCol="0" anchor="t"/>
          <a:lstStyle/>
          <a:p>
            <a:pPr indent="0" marL="0">
              <a:lnSpc>
                <a:spcPct val="120000"/>
              </a:lnSpc>
              <a:spcAft>
                <a:spcPts val="300"/>
              </a:spcAft>
              <a:buNone/>
            </a:pPr>
            <a:r>
              <a:rPr lang="en-US" sz="1100" b="1" dirty="0">
                <a:solidFill>
                  <a:srgbClr val="0017C1"/>
                </a:solidFill>
                <a:latin typeface="Noto Sans JP" pitchFamily="34" charset="0"/>
                <a:ea typeface="Noto Sans JP" pitchFamily="34" charset="-122"/>
                <a:cs typeface="Noto Sans JP" pitchFamily="34" charset="-120"/>
              </a:rPr>
              <a:t>理由 1</a:t>
            </a:r>
            <a:endParaRPr lang="en-US" sz="1100" dirty="0"/>
          </a:p>
          <a:p>
            <a:pPr indent="0" marL="0">
              <a:lnSpc>
                <a:spcPct val="120000"/>
              </a:lnSpc>
              <a:spcAft>
                <a:spcPts val="300"/>
              </a:spcAft>
              <a:buNone/>
            </a:pPr>
            <a:r>
              <a:rPr lang="en-US" sz="1600" b="1" dirty="0">
                <a:solidFill>
                  <a:srgbClr val="1A1A1A"/>
                </a:solidFill>
                <a:latin typeface="Noto Sans JP" pitchFamily="34" charset="0"/>
                <a:ea typeface="Noto Sans JP" pitchFamily="34" charset="-122"/>
                <a:cs typeface="Noto Sans JP" pitchFamily="34" charset="-120"/>
              </a:rPr>
              <a:t>失うものが最も大きい</a:t>
            </a:r>
            <a:endParaRPr lang="en-US" sz="11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後継者が決まらないまま廃業すると、預金・貸出の取引そのものが消える。他行への乗り換え以上の損失になる</a:t>
            </a:r>
            <a:endParaRPr lang="en-US" sz="1100" dirty="0"/>
          </a:p>
        </p:txBody>
      </p:sp>
      <p:sp>
        <p:nvSpPr>
          <p:cNvPr id="10" name="Shape 8"/>
          <p:cNvSpPr/>
          <p:nvPr/>
        </p:nvSpPr>
        <p:spPr>
          <a:xfrm>
            <a:off x="612648" y="3611880"/>
            <a:ext cx="4846320" cy="1143000"/>
          </a:xfrm>
          <a:prstGeom prst="rect">
            <a:avLst/>
          </a:prstGeom>
          <a:solidFill>
            <a:srgbClr val="E8F1FE"/>
          </a:solidFill>
          <a:ln w="12700">
            <a:solidFill>
              <a:srgbClr val="E8F1FE"/>
            </a:solidFill>
            <a:prstDash val="solid"/>
          </a:ln>
        </p:spPr>
        <p:txBody>
          <a:bodyPr/>
          <a:p/>
        </p:txBody>
      </p:sp>
      <p:sp>
        <p:nvSpPr>
          <p:cNvPr id="11" name="Text 9"/>
          <p:cNvSpPr txBox="1"/>
          <p:nvPr/>
        </p:nvSpPr>
        <p:spPr>
          <a:xfrm>
            <a:off x="795528" y="3749040"/>
            <a:ext cx="4480560" cy="914400"/>
          </a:xfrm>
          <a:prstGeom prst="rect">
            <a:avLst/>
          </a:prstGeom>
          <a:noFill/>
          <a:ln/>
        </p:spPr>
        <p:txBody>
          <a:bodyPr wrap="square" lIns="0" tIns="0" rIns="0" bIns="0" rtlCol="0" anchor="t"/>
          <a:lstStyle/>
          <a:p>
            <a:pPr indent="0" marL="0">
              <a:lnSpc>
                <a:spcPct val="120000"/>
              </a:lnSpc>
              <a:spcAft>
                <a:spcPts val="300"/>
              </a:spcAft>
              <a:buNone/>
            </a:pPr>
            <a:r>
              <a:rPr lang="en-US" sz="1100" b="1" dirty="0">
                <a:solidFill>
                  <a:srgbClr val="0017C1"/>
                </a:solidFill>
                <a:latin typeface="Noto Sans JP" pitchFamily="34" charset="0"/>
                <a:ea typeface="Noto Sans JP" pitchFamily="34" charset="-122"/>
                <a:cs typeface="Noto Sans JP" pitchFamily="34" charset="-120"/>
              </a:rPr>
              <a:t>理由 2</a:t>
            </a:r>
            <a:endParaRPr lang="en-US" sz="1100" dirty="0"/>
          </a:p>
          <a:p>
            <a:pPr indent="0" marL="0">
              <a:lnSpc>
                <a:spcPct val="120000"/>
              </a:lnSpc>
              <a:spcAft>
                <a:spcPts val="300"/>
              </a:spcAft>
              <a:buNone/>
            </a:pPr>
            <a:r>
              <a:rPr lang="en-US" sz="1600" b="1" dirty="0">
                <a:solidFill>
                  <a:srgbClr val="1A1A1A"/>
                </a:solidFill>
                <a:latin typeface="Noto Sans JP" pitchFamily="34" charset="0"/>
                <a:ea typeface="Noto Sans JP" pitchFamily="34" charset="-122"/>
                <a:cs typeface="Noto Sans JP" pitchFamily="34" charset="-120"/>
              </a:rPr>
              <a:t>気づくまでに時間がかかる</a:t>
            </a:r>
            <a:endParaRPr lang="en-US" sz="11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兆しは雑談や小さな変化として、数年かけて日報に現れる。担当が替わると、つながらずに消える</a:t>
            </a:r>
            <a:endParaRPr lang="en-US" sz="1100" dirty="0"/>
          </a:p>
        </p:txBody>
      </p:sp>
      <p:sp>
        <p:nvSpPr>
          <p:cNvPr id="12" name="Shape 10"/>
          <p:cNvSpPr/>
          <p:nvPr/>
        </p:nvSpPr>
        <p:spPr>
          <a:xfrm>
            <a:off x="612648" y="4892040"/>
            <a:ext cx="4846320" cy="1143000"/>
          </a:xfrm>
          <a:prstGeom prst="rect">
            <a:avLst/>
          </a:prstGeom>
          <a:solidFill>
            <a:srgbClr val="E8F1FE"/>
          </a:solidFill>
          <a:ln w="12700">
            <a:solidFill>
              <a:srgbClr val="E8F1FE"/>
            </a:solidFill>
            <a:prstDash val="solid"/>
          </a:ln>
        </p:spPr>
        <p:txBody>
          <a:bodyPr/>
          <a:p/>
        </p:txBody>
      </p:sp>
      <p:sp>
        <p:nvSpPr>
          <p:cNvPr id="13" name="Text 11"/>
          <p:cNvSpPr txBox="1"/>
          <p:nvPr/>
        </p:nvSpPr>
        <p:spPr>
          <a:xfrm>
            <a:off x="795528" y="5029200"/>
            <a:ext cx="4480560" cy="914400"/>
          </a:xfrm>
          <a:prstGeom prst="rect">
            <a:avLst/>
          </a:prstGeom>
          <a:noFill/>
          <a:ln/>
        </p:spPr>
        <p:txBody>
          <a:bodyPr wrap="square" lIns="0" tIns="0" rIns="0" bIns="0" rtlCol="0" anchor="t"/>
          <a:lstStyle/>
          <a:p>
            <a:pPr indent="0" marL="0">
              <a:lnSpc>
                <a:spcPct val="120000"/>
              </a:lnSpc>
              <a:spcAft>
                <a:spcPts val="300"/>
              </a:spcAft>
              <a:buNone/>
            </a:pPr>
            <a:r>
              <a:rPr lang="en-US" sz="1100" b="1" dirty="0">
                <a:solidFill>
                  <a:srgbClr val="0017C1"/>
                </a:solidFill>
                <a:latin typeface="Noto Sans JP" pitchFamily="34" charset="0"/>
                <a:ea typeface="Noto Sans JP" pitchFamily="34" charset="-122"/>
                <a:cs typeface="Noto Sans JP" pitchFamily="34" charset="-120"/>
              </a:rPr>
              <a:t>理由 3</a:t>
            </a:r>
            <a:endParaRPr lang="en-US" sz="1100" dirty="0"/>
          </a:p>
          <a:p>
            <a:pPr indent="0" marL="0">
              <a:lnSpc>
                <a:spcPct val="120000"/>
              </a:lnSpc>
              <a:spcAft>
                <a:spcPts val="300"/>
              </a:spcAft>
              <a:buNone/>
            </a:pPr>
            <a:r>
              <a:rPr lang="en-US" sz="1600" b="1" dirty="0">
                <a:solidFill>
                  <a:srgbClr val="1A1A1A"/>
                </a:solidFill>
                <a:latin typeface="Noto Sans JP" pitchFamily="34" charset="0"/>
                <a:ea typeface="Noto Sans JP" pitchFamily="34" charset="-122"/>
                <a:cs typeface="Noto Sans JP" pitchFamily="34" charset="-120"/>
              </a:rPr>
              <a:t>支援の出口が行内にある</a:t>
            </a:r>
            <a:endParaRPr lang="en-US" sz="11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事業承継支援室、M&amp;A、事業承継税制。気づきを具体的な支援につなげられる</a:t>
            </a:r>
            <a:endParaRPr lang="en-US" sz="1100" dirty="0"/>
          </a:p>
        </p:txBody>
      </p:sp>
      <p:sp>
        <p:nvSpPr>
          <p:cNvPr id="14" name="Shape 12"/>
          <p:cNvSpPr/>
          <p:nvPr/>
        </p:nvSpPr>
        <p:spPr>
          <a:xfrm>
            <a:off x="5733288" y="2331720"/>
            <a:ext cx="2834640" cy="1801368"/>
          </a:xfrm>
          <a:prstGeom prst="rect">
            <a:avLst/>
          </a:prstGeom>
          <a:solidFill>
            <a:srgbClr val="FFFFFF"/>
          </a:solidFill>
          <a:ln w="12700">
            <a:solidFill>
              <a:srgbClr val="CCCCCC"/>
            </a:solidFill>
            <a:prstDash val="solid"/>
          </a:ln>
        </p:spPr>
        <p:txBody>
          <a:bodyPr/>
          <a:p/>
        </p:txBody>
      </p:sp>
      <p:sp>
        <p:nvSpPr>
          <p:cNvPr id="15" name="Text 13"/>
          <p:cNvSpPr txBox="1"/>
          <p:nvPr/>
        </p:nvSpPr>
        <p:spPr>
          <a:xfrm>
            <a:off x="5916168" y="2441448"/>
            <a:ext cx="2468880" cy="685800"/>
          </a:xfrm>
          <a:prstGeom prst="rect">
            <a:avLst/>
          </a:prstGeom>
          <a:noFill/>
          <a:ln/>
        </p:spPr>
        <p:txBody>
          <a:bodyPr wrap="square" lIns="0" tIns="0" rIns="0" bIns="0" rtlCol="0" anchor="t"/>
          <a:lstStyle/>
          <a:p>
            <a:pPr indent="0" marL="0">
              <a:buNone/>
            </a:pPr>
            <a:r>
              <a:rPr lang="en-US" sz="3200" b="1" dirty="0">
                <a:solidFill>
                  <a:srgbClr val="0017C1"/>
                </a:solidFill>
                <a:latin typeface="Noto Sans JP" pitchFamily="34" charset="0"/>
                <a:ea typeface="Noto Sans JP" pitchFamily="34" charset="-122"/>
                <a:cs typeface="Noto Sans JP" pitchFamily="34" charset="-120"/>
              </a:rPr>
              <a:t>50.1%</a:t>
            </a:r>
            <a:endParaRPr lang="en-US" sz="3200" dirty="0"/>
          </a:p>
        </p:txBody>
      </p:sp>
      <p:sp>
        <p:nvSpPr>
          <p:cNvPr id="16" name="Text 14"/>
          <p:cNvSpPr txBox="1"/>
          <p:nvPr/>
        </p:nvSpPr>
        <p:spPr>
          <a:xfrm>
            <a:off x="5916168" y="3154680"/>
            <a:ext cx="2468880" cy="640080"/>
          </a:xfrm>
          <a:prstGeom prst="rect">
            <a:avLst/>
          </a:prstGeom>
          <a:noFill/>
          <a:ln/>
        </p:spPr>
        <p:txBody>
          <a:bodyPr wrap="square" lIns="0" tIns="0" rIns="0" bIns="0" rtlCol="0" anchor="t"/>
          <a:lstStyle/>
          <a:p>
            <a:pPr indent="0" marL="0">
              <a:lnSpc>
                <a:spcPct val="115000"/>
              </a:lnSpc>
              <a:buNone/>
            </a:pPr>
            <a:r>
              <a:rPr lang="en-US" sz="1250" dirty="0">
                <a:solidFill>
                  <a:srgbClr val="1A1A1A"/>
                </a:solidFill>
                <a:latin typeface="Noto Sans JP" pitchFamily="34" charset="0"/>
                <a:ea typeface="Noto Sans JP" pitchFamily="34" charset="-122"/>
                <a:cs typeface="Noto Sans JP" pitchFamily="34" charset="-120"/>
              </a:rPr>
              <a:t>全国企業の後継者不在率（2025年）</a:t>
            </a:r>
            <a:endParaRPr lang="en-US" sz="1250" dirty="0"/>
          </a:p>
        </p:txBody>
      </p:sp>
      <p:sp>
        <p:nvSpPr>
          <p:cNvPr id="17" name="Text 15"/>
          <p:cNvSpPr txBox="1"/>
          <p:nvPr/>
        </p:nvSpPr>
        <p:spPr>
          <a:xfrm>
            <a:off x="5916168" y="3813048"/>
            <a:ext cx="2468880" cy="256032"/>
          </a:xfrm>
          <a:prstGeom prst="rect">
            <a:avLst/>
          </a:prstGeom>
          <a:noFill/>
          <a:ln/>
        </p:spPr>
        <p:txBody>
          <a:bodyPr wrap="square" lIns="0" tIns="0" rIns="0" bIns="0" rtlCol="0" anchor="t"/>
          <a:lstStyle/>
          <a:p>
            <a:pPr indent="0" marL="0">
              <a:buNone/>
            </a:pPr>
            <a:r>
              <a:rPr lang="en-US" sz="950" dirty="0">
                <a:solidFill>
                  <a:srgbClr val="666666"/>
                </a:solidFill>
                <a:latin typeface="Noto Sans JP" pitchFamily="34" charset="0"/>
                <a:ea typeface="Noto Sans JP" pitchFamily="34" charset="-122"/>
                <a:cs typeface="Noto Sans JP" pitchFamily="34" charset="-120"/>
              </a:rPr>
              <a:t>帝国データバンク</a:t>
            </a:r>
            <a:endParaRPr lang="en-US" sz="950" dirty="0"/>
          </a:p>
        </p:txBody>
      </p:sp>
      <p:sp>
        <p:nvSpPr>
          <p:cNvPr id="18" name="Shape 16"/>
          <p:cNvSpPr/>
          <p:nvPr/>
        </p:nvSpPr>
        <p:spPr>
          <a:xfrm>
            <a:off x="8750808" y="2331720"/>
            <a:ext cx="2834640" cy="1801368"/>
          </a:xfrm>
          <a:prstGeom prst="rect">
            <a:avLst/>
          </a:prstGeom>
          <a:solidFill>
            <a:srgbClr val="FFFFFF"/>
          </a:solidFill>
          <a:ln w="12700">
            <a:solidFill>
              <a:srgbClr val="CCCCCC"/>
            </a:solidFill>
            <a:prstDash val="solid"/>
          </a:ln>
        </p:spPr>
        <p:txBody>
          <a:bodyPr/>
          <a:p/>
        </p:txBody>
      </p:sp>
      <p:sp>
        <p:nvSpPr>
          <p:cNvPr id="19" name="Text 17"/>
          <p:cNvSpPr txBox="1"/>
          <p:nvPr/>
        </p:nvSpPr>
        <p:spPr>
          <a:xfrm>
            <a:off x="8933688" y="2441448"/>
            <a:ext cx="2468880" cy="685800"/>
          </a:xfrm>
          <a:prstGeom prst="rect">
            <a:avLst/>
          </a:prstGeom>
          <a:noFill/>
          <a:ln/>
        </p:spPr>
        <p:txBody>
          <a:bodyPr wrap="square" lIns="0" tIns="0" rIns="0" bIns="0" rtlCol="0" anchor="t"/>
          <a:lstStyle/>
          <a:p>
            <a:pPr indent="0" marL="0">
              <a:buNone/>
            </a:pPr>
            <a:r>
              <a:rPr lang="en-US" sz="3200" b="1" dirty="0">
                <a:solidFill>
                  <a:srgbClr val="0017C1"/>
                </a:solidFill>
                <a:latin typeface="Noto Sans JP" pitchFamily="34" charset="0"/>
                <a:ea typeface="Noto Sans JP" pitchFamily="34" charset="-122"/>
                <a:cs typeface="Noto Sans JP" pitchFamily="34" charset="-120"/>
              </a:rPr>
              <a:t>約 3 割</a:t>
            </a:r>
            <a:endParaRPr lang="en-US" sz="3200" dirty="0"/>
          </a:p>
        </p:txBody>
      </p:sp>
      <p:sp>
        <p:nvSpPr>
          <p:cNvPr id="20" name="Text 18"/>
          <p:cNvSpPr txBox="1"/>
          <p:nvPr/>
        </p:nvSpPr>
        <p:spPr>
          <a:xfrm>
            <a:off x="8933688" y="3154680"/>
            <a:ext cx="2468880" cy="640080"/>
          </a:xfrm>
          <a:prstGeom prst="rect">
            <a:avLst/>
          </a:prstGeom>
          <a:noFill/>
          <a:ln/>
        </p:spPr>
        <p:txBody>
          <a:bodyPr wrap="square" lIns="0" tIns="0" rIns="0" bIns="0" rtlCol="0" anchor="t"/>
          <a:lstStyle/>
          <a:p>
            <a:pPr indent="0" marL="0">
              <a:lnSpc>
                <a:spcPct val="115000"/>
              </a:lnSpc>
              <a:buNone/>
            </a:pPr>
            <a:r>
              <a:rPr lang="en-US" sz="1250" dirty="0">
                <a:solidFill>
                  <a:srgbClr val="1A1A1A"/>
                </a:solidFill>
                <a:latin typeface="Noto Sans JP" pitchFamily="34" charset="0"/>
                <a:ea typeface="Noto Sans JP" pitchFamily="34" charset="-122"/>
                <a:cs typeface="Noto Sans JP" pitchFamily="34" charset="-120"/>
              </a:rPr>
              <a:t>代表者が 70 代の企業でも後継者が不在</a:t>
            </a:r>
            <a:endParaRPr lang="en-US" sz="1250" dirty="0"/>
          </a:p>
        </p:txBody>
      </p:sp>
      <p:sp>
        <p:nvSpPr>
          <p:cNvPr id="21" name="Text 19"/>
          <p:cNvSpPr txBox="1"/>
          <p:nvPr/>
        </p:nvSpPr>
        <p:spPr>
          <a:xfrm>
            <a:off x="8933688" y="3813048"/>
            <a:ext cx="2468880" cy="256032"/>
          </a:xfrm>
          <a:prstGeom prst="rect">
            <a:avLst/>
          </a:prstGeom>
          <a:noFill/>
          <a:ln/>
        </p:spPr>
        <p:txBody>
          <a:bodyPr wrap="square" lIns="0" tIns="0" rIns="0" bIns="0" rtlCol="0" anchor="t"/>
          <a:lstStyle/>
          <a:p>
            <a:pPr indent="0" marL="0">
              <a:buNone/>
            </a:pPr>
            <a:r>
              <a:rPr lang="en-US" sz="950" dirty="0">
                <a:solidFill>
                  <a:srgbClr val="666666"/>
                </a:solidFill>
                <a:latin typeface="Noto Sans JP" pitchFamily="34" charset="0"/>
                <a:ea typeface="Noto Sans JP" pitchFamily="34" charset="-122"/>
                <a:cs typeface="Noto Sans JP" pitchFamily="34" charset="-120"/>
              </a:rPr>
              <a:t>同調査を紹介した MS コンパス</a:t>
            </a:r>
            <a:endParaRPr lang="en-US" sz="950" dirty="0"/>
          </a:p>
        </p:txBody>
      </p:sp>
      <p:sp>
        <p:nvSpPr>
          <p:cNvPr id="22" name="Shape 20"/>
          <p:cNvSpPr/>
          <p:nvPr/>
        </p:nvSpPr>
        <p:spPr>
          <a:xfrm>
            <a:off x="5733288" y="4279392"/>
            <a:ext cx="2834640" cy="1801368"/>
          </a:xfrm>
          <a:prstGeom prst="rect">
            <a:avLst/>
          </a:prstGeom>
          <a:solidFill>
            <a:srgbClr val="FFFFFF"/>
          </a:solidFill>
          <a:ln w="12700">
            <a:solidFill>
              <a:srgbClr val="CCCCCC"/>
            </a:solidFill>
            <a:prstDash val="solid"/>
          </a:ln>
        </p:spPr>
        <p:txBody>
          <a:bodyPr/>
          <a:p/>
        </p:txBody>
      </p:sp>
      <p:sp>
        <p:nvSpPr>
          <p:cNvPr id="23" name="Text 21"/>
          <p:cNvSpPr txBox="1"/>
          <p:nvPr/>
        </p:nvSpPr>
        <p:spPr>
          <a:xfrm>
            <a:off x="5916168" y="4389120"/>
            <a:ext cx="2468880" cy="685800"/>
          </a:xfrm>
          <a:prstGeom prst="rect">
            <a:avLst/>
          </a:prstGeom>
          <a:noFill/>
          <a:ln/>
        </p:spPr>
        <p:txBody>
          <a:bodyPr wrap="square" lIns="0" tIns="0" rIns="0" bIns="0" rtlCol="0" anchor="t"/>
          <a:lstStyle/>
          <a:p>
            <a:pPr indent="0" marL="0">
              <a:buNone/>
            </a:pPr>
            <a:r>
              <a:rPr lang="en-US" sz="3200" b="1" dirty="0">
                <a:solidFill>
                  <a:srgbClr val="0017C1"/>
                </a:solidFill>
                <a:latin typeface="Noto Sans JP" pitchFamily="34" charset="0"/>
                <a:ea typeface="Noto Sans JP" pitchFamily="34" charset="-122"/>
                <a:cs typeface="Noto Sans JP" pitchFamily="34" charset="-120"/>
              </a:rPr>
              <a:t>最長 10 年</a:t>
            </a:r>
            <a:endParaRPr lang="en-US" sz="3200" dirty="0"/>
          </a:p>
        </p:txBody>
      </p:sp>
      <p:sp>
        <p:nvSpPr>
          <p:cNvPr id="24" name="Text 22"/>
          <p:cNvSpPr txBox="1"/>
          <p:nvPr/>
        </p:nvSpPr>
        <p:spPr>
          <a:xfrm>
            <a:off x="5916168" y="5102352"/>
            <a:ext cx="2468880" cy="640080"/>
          </a:xfrm>
          <a:prstGeom prst="rect">
            <a:avLst/>
          </a:prstGeom>
          <a:noFill/>
          <a:ln/>
        </p:spPr>
        <p:txBody>
          <a:bodyPr wrap="square" lIns="0" tIns="0" rIns="0" bIns="0" rtlCol="0" anchor="t"/>
          <a:lstStyle/>
          <a:p>
            <a:pPr indent="0" marL="0">
              <a:lnSpc>
                <a:spcPct val="115000"/>
              </a:lnSpc>
              <a:buNone/>
            </a:pPr>
            <a:r>
              <a:rPr lang="en-US" sz="1250" dirty="0">
                <a:solidFill>
                  <a:srgbClr val="1A1A1A"/>
                </a:solidFill>
                <a:latin typeface="Noto Sans JP" pitchFamily="34" charset="0"/>
                <a:ea typeface="Noto Sans JP" pitchFamily="34" charset="-122"/>
                <a:cs typeface="Noto Sans JP" pitchFamily="34" charset="-120"/>
              </a:rPr>
              <a:t>ゼロからの事業承継に必要とされる準備期間</a:t>
            </a:r>
            <a:endParaRPr lang="en-US" sz="1250" dirty="0"/>
          </a:p>
        </p:txBody>
      </p:sp>
      <p:sp>
        <p:nvSpPr>
          <p:cNvPr id="25" name="Text 23"/>
          <p:cNvSpPr txBox="1"/>
          <p:nvPr/>
        </p:nvSpPr>
        <p:spPr>
          <a:xfrm>
            <a:off x="5916168" y="5760720"/>
            <a:ext cx="2468880" cy="256032"/>
          </a:xfrm>
          <a:prstGeom prst="rect">
            <a:avLst/>
          </a:prstGeom>
          <a:noFill/>
          <a:ln/>
        </p:spPr>
        <p:txBody>
          <a:bodyPr wrap="square" lIns="0" tIns="0" rIns="0" bIns="0" rtlCol="0" anchor="t"/>
          <a:lstStyle/>
          <a:p>
            <a:pPr indent="0" marL="0">
              <a:buNone/>
            </a:pPr>
            <a:r>
              <a:rPr lang="en-US" sz="950" dirty="0">
                <a:solidFill>
                  <a:srgbClr val="666666"/>
                </a:solidFill>
                <a:latin typeface="Noto Sans JP" pitchFamily="34" charset="0"/>
                <a:ea typeface="Noto Sans JP" pitchFamily="34" charset="-122"/>
                <a:cs typeface="Noto Sans JP" pitchFamily="34" charset="-120"/>
              </a:rPr>
              <a:t>同上（一般論）</a:t>
            </a:r>
            <a:endParaRPr lang="en-US" sz="950" dirty="0"/>
          </a:p>
        </p:txBody>
      </p:sp>
      <p:sp>
        <p:nvSpPr>
          <p:cNvPr id="26" name="Shape 24"/>
          <p:cNvSpPr/>
          <p:nvPr/>
        </p:nvSpPr>
        <p:spPr>
          <a:xfrm>
            <a:off x="8750808" y="4279392"/>
            <a:ext cx="2834640" cy="1801368"/>
          </a:xfrm>
          <a:prstGeom prst="rect">
            <a:avLst/>
          </a:prstGeom>
          <a:solidFill>
            <a:srgbClr val="FFFFFF"/>
          </a:solidFill>
          <a:ln w="12700">
            <a:solidFill>
              <a:srgbClr val="CCCCCC"/>
            </a:solidFill>
            <a:prstDash val="solid"/>
          </a:ln>
        </p:spPr>
        <p:txBody>
          <a:bodyPr/>
          <a:p/>
        </p:txBody>
      </p:sp>
      <p:sp>
        <p:nvSpPr>
          <p:cNvPr id="27" name="Text 25"/>
          <p:cNvSpPr txBox="1"/>
          <p:nvPr/>
        </p:nvSpPr>
        <p:spPr>
          <a:xfrm>
            <a:off x="8933688" y="4389120"/>
            <a:ext cx="2468880" cy="685800"/>
          </a:xfrm>
          <a:prstGeom prst="rect">
            <a:avLst/>
          </a:prstGeom>
          <a:noFill/>
          <a:ln/>
        </p:spPr>
        <p:txBody>
          <a:bodyPr wrap="square" lIns="0" tIns="0" rIns="0" bIns="0" rtlCol="0" anchor="t"/>
          <a:lstStyle/>
          <a:p>
            <a:pPr indent="0" marL="0">
              <a:buNone/>
            </a:pPr>
            <a:r>
              <a:rPr lang="en-US" sz="3200" b="1" dirty="0">
                <a:solidFill>
                  <a:srgbClr val="0017C1"/>
                </a:solidFill>
                <a:latin typeface="Noto Sans JP" pitchFamily="34" charset="0"/>
                <a:ea typeface="Noto Sans JP" pitchFamily="34" charset="-122"/>
                <a:cs typeface="Noto Sans JP" pitchFamily="34" charset="-120"/>
              </a:rPr>
              <a:t>約 4 割</a:t>
            </a:r>
            <a:endParaRPr lang="en-US" sz="3200" dirty="0"/>
          </a:p>
        </p:txBody>
      </p:sp>
      <p:sp>
        <p:nvSpPr>
          <p:cNvPr id="28" name="Text 26"/>
          <p:cNvSpPr txBox="1"/>
          <p:nvPr/>
        </p:nvSpPr>
        <p:spPr>
          <a:xfrm>
            <a:off x="8933688" y="5102352"/>
            <a:ext cx="2468880" cy="640080"/>
          </a:xfrm>
          <a:prstGeom prst="rect">
            <a:avLst/>
          </a:prstGeom>
          <a:noFill/>
          <a:ln/>
        </p:spPr>
        <p:txBody>
          <a:bodyPr wrap="square" lIns="0" tIns="0" rIns="0" bIns="0" rtlCol="0" anchor="t"/>
          <a:lstStyle/>
          <a:p>
            <a:pPr indent="0" marL="0">
              <a:lnSpc>
                <a:spcPct val="115000"/>
              </a:lnSpc>
              <a:buNone/>
            </a:pPr>
            <a:r>
              <a:rPr lang="en-US" sz="1250" dirty="0">
                <a:solidFill>
                  <a:srgbClr val="1A1A1A"/>
                </a:solidFill>
                <a:latin typeface="Noto Sans JP" pitchFamily="34" charset="0"/>
                <a:ea typeface="Noto Sans JP" pitchFamily="34" charset="-122"/>
                <a:cs typeface="Noto Sans JP" pitchFamily="34" charset="-120"/>
              </a:rPr>
              <a:t>後継者難倒産のうち、代表者が突然動けなくなった「不測の事態」</a:t>
            </a:r>
            <a:endParaRPr lang="en-US" sz="1250" dirty="0"/>
          </a:p>
        </p:txBody>
      </p:sp>
      <p:sp>
        <p:nvSpPr>
          <p:cNvPr id="29" name="Text 27"/>
          <p:cNvSpPr txBox="1"/>
          <p:nvPr/>
        </p:nvSpPr>
        <p:spPr>
          <a:xfrm>
            <a:off x="8933688" y="5760720"/>
            <a:ext cx="2468880" cy="256032"/>
          </a:xfrm>
          <a:prstGeom prst="rect">
            <a:avLst/>
          </a:prstGeom>
          <a:noFill/>
          <a:ln/>
        </p:spPr>
        <p:txBody>
          <a:bodyPr wrap="square" lIns="0" tIns="0" rIns="0" bIns="0" rtlCol="0" anchor="t"/>
          <a:lstStyle/>
          <a:p>
            <a:pPr indent="0" marL="0">
              <a:buNone/>
            </a:pPr>
            <a:r>
              <a:rPr lang="en-US" sz="950" dirty="0">
                <a:solidFill>
                  <a:srgbClr val="666666"/>
                </a:solidFill>
                <a:latin typeface="Noto Sans JP" pitchFamily="34" charset="0"/>
                <a:ea typeface="Noto Sans JP" pitchFamily="34" charset="-122"/>
                <a:cs typeface="Noto Sans JP" pitchFamily="34" charset="-120"/>
              </a:rPr>
              <a:t>同上</a:t>
            </a:r>
            <a:endParaRPr lang="en-US" sz="950" dirty="0"/>
          </a:p>
        </p:txBody>
      </p:sp>
      <p:sp>
        <p:nvSpPr>
          <p:cNvPr id="30" name="Text 28"/>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人材・設備・取引など他のテーマへは、予兆の定義（rules.json）を足して広げる</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どんなプロダクトか・主な機能</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Salesforce の画面の中に、ツムグの表示領域を置く。担当者が書くのはいつもの日報だけ</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16</a:t>
            </a:r>
            <a:endParaRPr lang="en-US" sz="1200" dirty="0"/>
          </a:p>
        </p:txBody>
      </p:sp>
      <p:sp>
        <p:nvSpPr>
          <p:cNvPr id="8" name="Shape 6"/>
          <p:cNvSpPr/>
          <p:nvPr/>
        </p:nvSpPr>
        <p:spPr>
          <a:xfrm>
            <a:off x="612648" y="2286000"/>
            <a:ext cx="3505200" cy="566928"/>
          </a:xfrm>
          <a:prstGeom prst="rect">
            <a:avLst/>
          </a:prstGeom>
          <a:solidFill>
            <a:srgbClr val="0017C1"/>
          </a:solidFill>
          <a:ln w="12700">
            <a:solidFill>
              <a:srgbClr val="0017C1"/>
            </a:solidFill>
            <a:prstDash val="solid"/>
          </a:ln>
        </p:spPr>
        <p:txBody>
          <a:bodyPr/>
          <a:p/>
        </p:txBody>
      </p:sp>
      <p:sp>
        <p:nvSpPr>
          <p:cNvPr id="9" name="Text 7"/>
          <p:cNvSpPr txBox="1"/>
          <p:nvPr/>
        </p:nvSpPr>
        <p:spPr>
          <a:xfrm>
            <a:off x="795528" y="2286000"/>
            <a:ext cx="3139440" cy="566928"/>
          </a:xfrm>
          <a:prstGeom prst="rect">
            <a:avLst/>
          </a:prstGeom>
          <a:noFill/>
          <a:ln/>
        </p:spPr>
        <p:txBody>
          <a:bodyPr wrap="square" lIns="0" tIns="0" rIns="0" bIns="0" rtlCol="0" anchor="ctr"/>
          <a:lstStyle/>
          <a:p>
            <a:pPr indent="0" marL="0">
              <a:buNone/>
            </a:pPr>
            <a:r>
              <a:rPr lang="en-US" sz="1700" b="1" dirty="0">
                <a:solidFill>
                  <a:srgbClr val="FFFFFF"/>
                </a:solidFill>
                <a:latin typeface="Noto Sans JP" pitchFamily="34" charset="0"/>
                <a:ea typeface="Noto Sans JP" pitchFamily="34" charset="-122"/>
                <a:cs typeface="Noto Sans JP" pitchFamily="34" charset="-120"/>
              </a:rPr>
              <a:t>訪問前　</a:t>
            </a:r>
            <a:pPr indent="0" marL="0">
              <a:buNone/>
            </a:pPr>
            <a:r>
              <a:rPr lang="en-US" sz="1200" dirty="0">
                <a:solidFill>
                  <a:srgbClr val="FFFFFF"/>
                </a:solidFill>
                <a:latin typeface="Noto Sans JP" pitchFamily="34" charset="0"/>
                <a:ea typeface="Noto Sans JP" pitchFamily="34" charset="-122"/>
                <a:cs typeface="Noto Sans JP" pitchFamily="34" charset="-120"/>
              </a:rPr>
              <a:t>取引先を開く</a:t>
            </a:r>
            <a:endParaRPr lang="en-US" sz="1700" dirty="0"/>
          </a:p>
        </p:txBody>
      </p:sp>
      <p:sp>
        <p:nvSpPr>
          <p:cNvPr id="10" name="Shape 8"/>
          <p:cNvSpPr/>
          <p:nvPr/>
        </p:nvSpPr>
        <p:spPr>
          <a:xfrm>
            <a:off x="612648" y="2944368"/>
            <a:ext cx="3505200" cy="731520"/>
          </a:xfrm>
          <a:prstGeom prst="rect">
            <a:avLst/>
          </a:prstGeom>
          <a:solidFill>
            <a:srgbClr val="E8F1FE"/>
          </a:solidFill>
          <a:ln w="12700">
            <a:solidFill>
              <a:srgbClr val="E8F1FE"/>
            </a:solidFill>
            <a:prstDash val="solid"/>
          </a:ln>
        </p:spPr>
        <p:txBody>
          <a:bodyPr/>
          <a:p/>
        </p:txBody>
      </p:sp>
      <p:sp>
        <p:nvSpPr>
          <p:cNvPr id="11" name="Text 9"/>
          <p:cNvSpPr txBox="1"/>
          <p:nvPr/>
        </p:nvSpPr>
        <p:spPr>
          <a:xfrm>
            <a:off x="777240" y="3017520"/>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これまでに出てきた予兆と根拠</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過去 3 年、担当者をまたいで</a:t>
            </a:r>
            <a:endParaRPr lang="en-US" sz="1400" dirty="0"/>
          </a:p>
        </p:txBody>
      </p:sp>
      <p:sp>
        <p:nvSpPr>
          <p:cNvPr id="12" name="Shape 10"/>
          <p:cNvSpPr/>
          <p:nvPr/>
        </p:nvSpPr>
        <p:spPr>
          <a:xfrm>
            <a:off x="612648" y="3749040"/>
            <a:ext cx="3505200" cy="731520"/>
          </a:xfrm>
          <a:prstGeom prst="rect">
            <a:avLst/>
          </a:prstGeom>
          <a:solidFill>
            <a:srgbClr val="E8F1FE"/>
          </a:solidFill>
          <a:ln w="12700">
            <a:solidFill>
              <a:srgbClr val="E8F1FE"/>
            </a:solidFill>
            <a:prstDash val="solid"/>
          </a:ln>
        </p:spPr>
        <p:txBody>
          <a:bodyPr/>
          <a:p/>
        </p:txBody>
      </p:sp>
      <p:sp>
        <p:nvSpPr>
          <p:cNvPr id="13" name="Text 11"/>
          <p:cNvSpPr txBox="1"/>
          <p:nvPr/>
        </p:nvSpPr>
        <p:spPr>
          <a:xfrm>
            <a:off x="777240" y="3822192"/>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次の世代につなぎたいもの</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雇用・取引・技術と、その担い手</a:t>
            </a:r>
            <a:endParaRPr lang="en-US" sz="1400" dirty="0"/>
          </a:p>
        </p:txBody>
      </p:sp>
      <p:sp>
        <p:nvSpPr>
          <p:cNvPr id="14" name="Shape 12"/>
          <p:cNvSpPr/>
          <p:nvPr/>
        </p:nvSpPr>
        <p:spPr>
          <a:xfrm>
            <a:off x="612648" y="4553712"/>
            <a:ext cx="3505200" cy="731520"/>
          </a:xfrm>
          <a:prstGeom prst="rect">
            <a:avLst/>
          </a:prstGeom>
          <a:solidFill>
            <a:srgbClr val="E8F1FE"/>
          </a:solidFill>
          <a:ln w="12700">
            <a:solidFill>
              <a:srgbClr val="E8F1FE"/>
            </a:solidFill>
            <a:prstDash val="solid"/>
          </a:ln>
        </p:spPr>
        <p:txBody>
          <a:bodyPr/>
          <a:p/>
        </p:txBody>
      </p:sp>
      <p:sp>
        <p:nvSpPr>
          <p:cNvPr id="15" name="Text 13"/>
          <p:cNvSpPr txBox="1"/>
          <p:nvPr/>
        </p:nvSpPr>
        <p:spPr>
          <a:xfrm>
            <a:off x="777240" y="4626864"/>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お客さまとの会話のヒント</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AI のヒントとして記録と区別</a:t>
            </a:r>
            <a:endParaRPr lang="en-US" sz="1400" dirty="0"/>
          </a:p>
        </p:txBody>
      </p:sp>
      <p:sp>
        <p:nvSpPr>
          <p:cNvPr id="16" name="Shape 14"/>
          <p:cNvSpPr/>
          <p:nvPr/>
        </p:nvSpPr>
        <p:spPr>
          <a:xfrm>
            <a:off x="612648" y="5358384"/>
            <a:ext cx="3505200" cy="731520"/>
          </a:xfrm>
          <a:prstGeom prst="rect">
            <a:avLst/>
          </a:prstGeom>
          <a:solidFill>
            <a:srgbClr val="E8F1FE"/>
          </a:solidFill>
          <a:ln w="12700">
            <a:solidFill>
              <a:srgbClr val="E8F1FE"/>
            </a:solidFill>
            <a:prstDash val="solid"/>
          </a:ln>
        </p:spPr>
        <p:txBody>
          <a:bodyPr/>
          <a:p/>
        </p:txBody>
      </p:sp>
      <p:sp>
        <p:nvSpPr>
          <p:cNvPr id="17" name="Text 15"/>
          <p:cNvSpPr txBox="1"/>
          <p:nvPr/>
        </p:nvSpPr>
        <p:spPr>
          <a:xfrm>
            <a:off x="777240" y="5431536"/>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面談メモの履歴</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担当期間ごとに折りたたみ</a:t>
            </a:r>
            <a:endParaRPr lang="en-US" sz="1400" dirty="0"/>
          </a:p>
        </p:txBody>
      </p:sp>
      <p:sp>
        <p:nvSpPr>
          <p:cNvPr id="18" name="Shape 16"/>
          <p:cNvSpPr/>
          <p:nvPr/>
        </p:nvSpPr>
        <p:spPr>
          <a:xfrm>
            <a:off x="4346448" y="2286000"/>
            <a:ext cx="3505200" cy="566928"/>
          </a:xfrm>
          <a:prstGeom prst="rect">
            <a:avLst/>
          </a:prstGeom>
          <a:solidFill>
            <a:srgbClr val="197A4B"/>
          </a:solidFill>
          <a:ln w="12700">
            <a:solidFill>
              <a:srgbClr val="197A4B"/>
            </a:solidFill>
            <a:prstDash val="solid"/>
          </a:ln>
        </p:spPr>
        <p:txBody>
          <a:bodyPr/>
          <a:p/>
        </p:txBody>
      </p:sp>
      <p:sp>
        <p:nvSpPr>
          <p:cNvPr id="19" name="Text 17"/>
          <p:cNvSpPr txBox="1"/>
          <p:nvPr/>
        </p:nvSpPr>
        <p:spPr>
          <a:xfrm>
            <a:off x="4529328" y="2286000"/>
            <a:ext cx="3139440" cy="566928"/>
          </a:xfrm>
          <a:prstGeom prst="rect">
            <a:avLst/>
          </a:prstGeom>
          <a:noFill/>
          <a:ln/>
        </p:spPr>
        <p:txBody>
          <a:bodyPr wrap="square" lIns="0" tIns="0" rIns="0" bIns="0" rtlCol="0" anchor="ctr"/>
          <a:lstStyle/>
          <a:p>
            <a:pPr indent="0" marL="0">
              <a:buNone/>
            </a:pPr>
            <a:r>
              <a:rPr lang="en-US" sz="1700" b="1" dirty="0">
                <a:solidFill>
                  <a:srgbClr val="FFFFFF"/>
                </a:solidFill>
                <a:latin typeface="Noto Sans JP" pitchFamily="34" charset="0"/>
                <a:ea typeface="Noto Sans JP" pitchFamily="34" charset="-122"/>
                <a:cs typeface="Noto Sans JP" pitchFamily="34" charset="-120"/>
              </a:rPr>
              <a:t>訪問後　</a:t>
            </a:r>
            <a:pPr indent="0" marL="0">
              <a:buNone/>
            </a:pPr>
            <a:r>
              <a:rPr lang="en-US" sz="1200" dirty="0">
                <a:solidFill>
                  <a:srgbClr val="FFFFFF"/>
                </a:solidFill>
                <a:latin typeface="Noto Sans JP" pitchFamily="34" charset="0"/>
                <a:ea typeface="Noto Sans JP" pitchFamily="34" charset="-122"/>
                <a:cs typeface="Noto Sans JP" pitchFamily="34" charset="-120"/>
              </a:rPr>
              <a:t>日報を登録する</a:t>
            </a:r>
            <a:endParaRPr lang="en-US" sz="1700" dirty="0"/>
          </a:p>
        </p:txBody>
      </p:sp>
      <p:sp>
        <p:nvSpPr>
          <p:cNvPr id="20" name="Shape 18"/>
          <p:cNvSpPr/>
          <p:nvPr/>
        </p:nvSpPr>
        <p:spPr>
          <a:xfrm>
            <a:off x="4346448" y="2944368"/>
            <a:ext cx="3505200" cy="731520"/>
          </a:xfrm>
          <a:prstGeom prst="rect">
            <a:avLst/>
          </a:prstGeom>
          <a:solidFill>
            <a:srgbClr val="E6F5EC"/>
          </a:solidFill>
          <a:ln w="12700">
            <a:solidFill>
              <a:srgbClr val="E6F5EC"/>
            </a:solidFill>
            <a:prstDash val="solid"/>
          </a:ln>
        </p:spPr>
        <p:txBody>
          <a:bodyPr/>
          <a:p/>
        </p:txBody>
      </p:sp>
      <p:sp>
        <p:nvSpPr>
          <p:cNvPr id="21" name="Text 19"/>
          <p:cNvSpPr txBox="1"/>
          <p:nvPr/>
        </p:nvSpPr>
        <p:spPr>
          <a:xfrm>
            <a:off x="4511040" y="3017520"/>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書く補助</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音声で入力・AI で整える・下書き保存</a:t>
            </a:r>
            <a:endParaRPr lang="en-US" sz="1400" dirty="0"/>
          </a:p>
        </p:txBody>
      </p:sp>
      <p:sp>
        <p:nvSpPr>
          <p:cNvPr id="22" name="Shape 20"/>
          <p:cNvSpPr/>
          <p:nvPr/>
        </p:nvSpPr>
        <p:spPr>
          <a:xfrm>
            <a:off x="4346448" y="3749040"/>
            <a:ext cx="3505200" cy="731520"/>
          </a:xfrm>
          <a:prstGeom prst="rect">
            <a:avLst/>
          </a:prstGeom>
          <a:solidFill>
            <a:srgbClr val="E6F5EC"/>
          </a:solidFill>
          <a:ln w="12700">
            <a:solidFill>
              <a:srgbClr val="E6F5EC"/>
            </a:solidFill>
            <a:prstDash val="solid"/>
          </a:ln>
        </p:spPr>
        <p:txBody>
          <a:bodyPr/>
          <a:p/>
        </p:txBody>
      </p:sp>
      <p:sp>
        <p:nvSpPr>
          <p:cNvPr id="23" name="Text 21"/>
          <p:cNvSpPr txBox="1"/>
          <p:nvPr/>
        </p:nvSpPr>
        <p:spPr>
          <a:xfrm>
            <a:off x="4511040" y="3822192"/>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① 判定</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支援の検討が必要か（4 段階）と理由</a:t>
            </a:r>
            <a:endParaRPr lang="en-US" sz="1400" dirty="0"/>
          </a:p>
        </p:txBody>
      </p:sp>
      <p:sp>
        <p:nvSpPr>
          <p:cNvPr id="24" name="Shape 22"/>
          <p:cNvSpPr/>
          <p:nvPr/>
        </p:nvSpPr>
        <p:spPr>
          <a:xfrm>
            <a:off x="4346448" y="4553712"/>
            <a:ext cx="3505200" cy="731520"/>
          </a:xfrm>
          <a:prstGeom prst="rect">
            <a:avLst/>
          </a:prstGeom>
          <a:solidFill>
            <a:srgbClr val="E6F5EC"/>
          </a:solidFill>
          <a:ln w="12700">
            <a:solidFill>
              <a:srgbClr val="E6F5EC"/>
            </a:solidFill>
            <a:prstDash val="solid"/>
          </a:ln>
        </p:spPr>
        <p:txBody>
          <a:bodyPr/>
          <a:p/>
        </p:txBody>
      </p:sp>
      <p:sp>
        <p:nvSpPr>
          <p:cNvPr id="25" name="Text 23"/>
          <p:cNvSpPr txBox="1"/>
          <p:nvPr/>
        </p:nvSpPr>
        <p:spPr>
          <a:xfrm>
            <a:off x="4511040" y="4626864"/>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② 次にすること ③ 相談する</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会話のヒント、相談できる人、窓口</a:t>
            </a:r>
            <a:endParaRPr lang="en-US" sz="1400" dirty="0"/>
          </a:p>
        </p:txBody>
      </p:sp>
      <p:sp>
        <p:nvSpPr>
          <p:cNvPr id="26" name="Shape 24"/>
          <p:cNvSpPr/>
          <p:nvPr/>
        </p:nvSpPr>
        <p:spPr>
          <a:xfrm>
            <a:off x="4346448" y="5358384"/>
            <a:ext cx="3505200" cy="731520"/>
          </a:xfrm>
          <a:prstGeom prst="rect">
            <a:avLst/>
          </a:prstGeom>
          <a:solidFill>
            <a:srgbClr val="E6F5EC"/>
          </a:solidFill>
          <a:ln w="12700">
            <a:solidFill>
              <a:srgbClr val="E6F5EC"/>
            </a:solidFill>
            <a:prstDash val="solid"/>
          </a:ln>
        </p:spPr>
        <p:txBody>
          <a:bodyPr/>
          <a:p/>
        </p:txBody>
      </p:sp>
      <p:sp>
        <p:nvSpPr>
          <p:cNvPr id="27" name="Text 25"/>
          <p:cNvSpPr txBox="1"/>
          <p:nvPr/>
        </p:nvSpPr>
        <p:spPr>
          <a:xfrm>
            <a:off x="4511040" y="5431536"/>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④ 参考にする</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社内の支援事例・現場の知恵・制度</a:t>
            </a:r>
            <a:endParaRPr lang="en-US" sz="1400" dirty="0"/>
          </a:p>
        </p:txBody>
      </p:sp>
      <p:sp>
        <p:nvSpPr>
          <p:cNvPr id="28" name="Shape 26"/>
          <p:cNvSpPr/>
          <p:nvPr/>
        </p:nvSpPr>
        <p:spPr>
          <a:xfrm>
            <a:off x="8080248" y="2286000"/>
            <a:ext cx="3505200" cy="566928"/>
          </a:xfrm>
          <a:prstGeom prst="rect">
            <a:avLst/>
          </a:prstGeom>
          <a:solidFill>
            <a:srgbClr val="806300"/>
          </a:solidFill>
          <a:ln w="12700">
            <a:solidFill>
              <a:srgbClr val="806300"/>
            </a:solidFill>
            <a:prstDash val="solid"/>
          </a:ln>
        </p:spPr>
        <p:txBody>
          <a:bodyPr/>
          <a:p/>
        </p:txBody>
      </p:sp>
      <p:sp>
        <p:nvSpPr>
          <p:cNvPr id="29" name="Text 27"/>
          <p:cNvSpPr txBox="1"/>
          <p:nvPr/>
        </p:nvSpPr>
        <p:spPr>
          <a:xfrm>
            <a:off x="8263128" y="2286000"/>
            <a:ext cx="3139440" cy="566928"/>
          </a:xfrm>
          <a:prstGeom prst="rect">
            <a:avLst/>
          </a:prstGeom>
          <a:noFill/>
          <a:ln/>
        </p:spPr>
        <p:txBody>
          <a:bodyPr wrap="square" lIns="0" tIns="0" rIns="0" bIns="0" rtlCol="0" anchor="ctr"/>
          <a:lstStyle/>
          <a:p>
            <a:pPr indent="0" marL="0">
              <a:buNone/>
            </a:pPr>
            <a:r>
              <a:rPr lang="en-US" sz="1700" b="1" dirty="0">
                <a:solidFill>
                  <a:srgbClr val="FFFFFF"/>
                </a:solidFill>
                <a:latin typeface="Noto Sans JP" pitchFamily="34" charset="0"/>
                <a:ea typeface="Noto Sans JP" pitchFamily="34" charset="-122"/>
                <a:cs typeface="Noto Sans JP" pitchFamily="34" charset="-120"/>
              </a:rPr>
              <a:t>支店長・本部　</a:t>
            </a:r>
            <a:pPr indent="0" marL="0">
              <a:buNone/>
            </a:pPr>
            <a:r>
              <a:rPr lang="en-US" sz="1200" dirty="0">
                <a:solidFill>
                  <a:srgbClr val="FFFFFF"/>
                </a:solidFill>
                <a:latin typeface="Noto Sans JP" pitchFamily="34" charset="0"/>
                <a:ea typeface="Noto Sans JP" pitchFamily="34" charset="-122"/>
                <a:cs typeface="Noto Sans JP" pitchFamily="34" charset="-120"/>
              </a:rPr>
              <a:t>状況・相談</a:t>
            </a:r>
            <a:endParaRPr lang="en-US" sz="1700" dirty="0"/>
          </a:p>
        </p:txBody>
      </p:sp>
      <p:sp>
        <p:nvSpPr>
          <p:cNvPr id="30" name="Shape 28"/>
          <p:cNvSpPr/>
          <p:nvPr/>
        </p:nvSpPr>
        <p:spPr>
          <a:xfrm>
            <a:off x="8080248" y="2944368"/>
            <a:ext cx="3505200" cy="731520"/>
          </a:xfrm>
          <a:prstGeom prst="rect">
            <a:avLst/>
          </a:prstGeom>
          <a:solidFill>
            <a:srgbClr val="FBF5E0"/>
          </a:solidFill>
          <a:ln w="12700">
            <a:solidFill>
              <a:srgbClr val="FBF5E0"/>
            </a:solidFill>
            <a:prstDash val="solid"/>
          </a:ln>
        </p:spPr>
        <p:txBody>
          <a:bodyPr/>
          <a:p/>
        </p:txBody>
      </p:sp>
      <p:sp>
        <p:nvSpPr>
          <p:cNvPr id="31" name="Text 29"/>
          <p:cNvSpPr txBox="1"/>
          <p:nvPr/>
        </p:nvSpPr>
        <p:spPr>
          <a:xfrm>
            <a:off x="8244840" y="3017520"/>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対話の状況（支店長）</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点数ではなく、支援の段階で</a:t>
            </a:r>
            <a:endParaRPr lang="en-US" sz="1400" dirty="0"/>
          </a:p>
        </p:txBody>
      </p:sp>
      <p:sp>
        <p:nvSpPr>
          <p:cNvPr id="32" name="Shape 30"/>
          <p:cNvSpPr/>
          <p:nvPr/>
        </p:nvSpPr>
        <p:spPr>
          <a:xfrm>
            <a:off x="8080248" y="3749040"/>
            <a:ext cx="3505200" cy="731520"/>
          </a:xfrm>
          <a:prstGeom prst="rect">
            <a:avLst/>
          </a:prstGeom>
          <a:solidFill>
            <a:srgbClr val="FBF5E0"/>
          </a:solidFill>
          <a:ln w="12700">
            <a:solidFill>
              <a:srgbClr val="FBF5E0"/>
            </a:solidFill>
            <a:prstDash val="solid"/>
          </a:ln>
        </p:spPr>
        <p:txBody>
          <a:bodyPr/>
          <a:p/>
        </p:txBody>
      </p:sp>
      <p:sp>
        <p:nvSpPr>
          <p:cNvPr id="33" name="Text 31"/>
          <p:cNvSpPr txBox="1"/>
          <p:nvPr/>
        </p:nvSpPr>
        <p:spPr>
          <a:xfrm>
            <a:off x="8244840" y="3822192"/>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本部の画面</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受けた相談、くり返し出ている話</a:t>
            </a:r>
            <a:endParaRPr lang="en-US" sz="1400" dirty="0"/>
          </a:p>
        </p:txBody>
      </p:sp>
      <p:sp>
        <p:nvSpPr>
          <p:cNvPr id="34" name="Shape 32"/>
          <p:cNvSpPr/>
          <p:nvPr/>
        </p:nvSpPr>
        <p:spPr>
          <a:xfrm>
            <a:off x="8080248" y="4553712"/>
            <a:ext cx="3505200" cy="731520"/>
          </a:xfrm>
          <a:prstGeom prst="rect">
            <a:avLst/>
          </a:prstGeom>
          <a:solidFill>
            <a:srgbClr val="FBF5E0"/>
          </a:solidFill>
          <a:ln w="12700">
            <a:solidFill>
              <a:srgbClr val="FBF5E0"/>
            </a:solidFill>
            <a:prstDash val="solid"/>
          </a:ln>
        </p:spPr>
        <p:txBody>
          <a:bodyPr/>
          <a:p/>
        </p:txBody>
      </p:sp>
      <p:sp>
        <p:nvSpPr>
          <p:cNvPr id="35" name="Text 33"/>
          <p:cNvSpPr txBox="1"/>
          <p:nvPr/>
        </p:nvSpPr>
        <p:spPr>
          <a:xfrm>
            <a:off x="8244840" y="4626864"/>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見える範囲は役割で決まる</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担当先／自支店／相談を受けた企業</a:t>
            </a:r>
            <a:endParaRPr lang="en-US" sz="1400" dirty="0"/>
          </a:p>
        </p:txBody>
      </p:sp>
      <p:sp>
        <p:nvSpPr>
          <p:cNvPr id="36" name="Shape 34"/>
          <p:cNvSpPr/>
          <p:nvPr/>
        </p:nvSpPr>
        <p:spPr>
          <a:xfrm>
            <a:off x="8080248" y="5358384"/>
            <a:ext cx="3505200" cy="731520"/>
          </a:xfrm>
          <a:prstGeom prst="rect">
            <a:avLst/>
          </a:prstGeom>
          <a:solidFill>
            <a:srgbClr val="FBF5E0"/>
          </a:solidFill>
          <a:ln w="12700">
            <a:solidFill>
              <a:srgbClr val="FBF5E0"/>
            </a:solidFill>
            <a:prstDash val="solid"/>
          </a:ln>
        </p:spPr>
        <p:txBody>
          <a:bodyPr/>
          <a:p/>
        </p:txBody>
      </p:sp>
      <p:sp>
        <p:nvSpPr>
          <p:cNvPr id="37" name="Text 35"/>
          <p:cNvSpPr txBox="1"/>
          <p:nvPr/>
        </p:nvSpPr>
        <p:spPr>
          <a:xfrm>
            <a:off x="8244840" y="5431536"/>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パイロット評価・監査</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アンケート集計と監査ログ</a:t>
            </a:r>
            <a:endParaRPr lang="en-US" sz="1400" dirty="0"/>
          </a:p>
        </p:txBody>
      </p:sp>
      <p:sp>
        <p:nvSpPr>
          <p:cNvPr id="38" name="Text 36"/>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パイロット版は Streamlit で SFA の画面を模している（灰色の帯が SFA、点線から下がツムグの領域）</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使っている技術・仕組み</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AI が日報を手がかりに記録・事例・人を読み、予兆とアドバイスを書く。知らせるかは現場の知見で決める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17</a:t>
            </a:r>
            <a:endParaRPr lang="en-US" sz="1200" dirty="0"/>
          </a:p>
        </p:txBody>
      </p:sp>
      <p:sp>
        <p:nvSpPr>
          <p:cNvPr id="8" name="Shape 6"/>
          <p:cNvSpPr/>
          <p:nvPr/>
        </p:nvSpPr>
        <p:spPr>
          <a:xfrm>
            <a:off x="612648" y="2286000"/>
            <a:ext cx="4572000" cy="475488"/>
          </a:xfrm>
          <a:prstGeom prst="rect">
            <a:avLst/>
          </a:prstGeom>
          <a:solidFill>
            <a:srgbClr val="F2F2F2"/>
          </a:solidFill>
          <a:ln w="12700">
            <a:solidFill>
              <a:srgbClr val="F2F2F2"/>
            </a:solidFill>
            <a:prstDash val="solid"/>
          </a:ln>
        </p:spPr>
        <p:txBody>
          <a:bodyPr/>
          <a:p/>
        </p:txBody>
      </p:sp>
      <p:sp>
        <p:nvSpPr>
          <p:cNvPr id="9" name="Text 7"/>
          <p:cNvSpPr txBox="1"/>
          <p:nvPr/>
        </p:nvSpPr>
        <p:spPr>
          <a:xfrm>
            <a:off x="749808" y="228600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画面</a:t>
            </a:r>
            <a:endParaRPr lang="en-US" sz="1300" dirty="0"/>
          </a:p>
        </p:txBody>
      </p:sp>
      <p:sp>
        <p:nvSpPr>
          <p:cNvPr id="10" name="Text 8"/>
          <p:cNvSpPr txBox="1"/>
          <p:nvPr/>
        </p:nvSpPr>
        <p:spPr>
          <a:xfrm>
            <a:off x="1892808" y="228600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Streamlit（SFA を模擬）</a:t>
            </a:r>
            <a:endParaRPr lang="en-US" sz="1200" dirty="0"/>
          </a:p>
        </p:txBody>
      </p:sp>
      <p:sp>
        <p:nvSpPr>
          <p:cNvPr id="11" name="Shape 9"/>
          <p:cNvSpPr/>
          <p:nvPr/>
        </p:nvSpPr>
        <p:spPr>
          <a:xfrm>
            <a:off x="612648" y="2834640"/>
            <a:ext cx="4572000" cy="475488"/>
          </a:xfrm>
          <a:prstGeom prst="rect">
            <a:avLst/>
          </a:prstGeom>
          <a:solidFill>
            <a:srgbClr val="E8F1FE"/>
          </a:solidFill>
          <a:ln w="12700">
            <a:solidFill>
              <a:srgbClr val="E8F1FE"/>
            </a:solidFill>
            <a:prstDash val="solid"/>
          </a:ln>
        </p:spPr>
        <p:txBody>
          <a:bodyPr/>
          <a:p/>
        </p:txBody>
      </p:sp>
      <p:sp>
        <p:nvSpPr>
          <p:cNvPr id="12" name="Text 10"/>
          <p:cNvSpPr txBox="1"/>
          <p:nvPr/>
        </p:nvSpPr>
        <p:spPr>
          <a:xfrm>
            <a:off x="749808" y="283464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処理</a:t>
            </a:r>
            <a:endParaRPr lang="en-US" sz="1300" dirty="0"/>
          </a:p>
        </p:txBody>
      </p:sp>
      <p:sp>
        <p:nvSpPr>
          <p:cNvPr id="13" name="Text 11"/>
          <p:cNvSpPr txBox="1"/>
          <p:nvPr/>
        </p:nvSpPr>
        <p:spPr>
          <a:xfrm>
            <a:off x="1892808" y="283464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Python ／ pandas（照合）／ if 文（判定）</a:t>
            </a:r>
            <a:endParaRPr lang="en-US" sz="1200" dirty="0"/>
          </a:p>
        </p:txBody>
      </p:sp>
      <p:sp>
        <p:nvSpPr>
          <p:cNvPr id="14" name="Shape 12"/>
          <p:cNvSpPr/>
          <p:nvPr/>
        </p:nvSpPr>
        <p:spPr>
          <a:xfrm>
            <a:off x="612648" y="3383280"/>
            <a:ext cx="4572000" cy="475488"/>
          </a:xfrm>
          <a:prstGeom prst="rect">
            <a:avLst/>
          </a:prstGeom>
          <a:solidFill>
            <a:srgbClr val="E8F1FE"/>
          </a:solidFill>
          <a:ln w="12700">
            <a:solidFill>
              <a:srgbClr val="E8F1FE"/>
            </a:solidFill>
            <a:prstDash val="solid"/>
          </a:ln>
        </p:spPr>
        <p:txBody>
          <a:bodyPr/>
          <a:p/>
        </p:txBody>
      </p:sp>
      <p:sp>
        <p:nvSpPr>
          <p:cNvPr id="15" name="Text 13"/>
          <p:cNvSpPr txBox="1"/>
          <p:nvPr/>
        </p:nvSpPr>
        <p:spPr>
          <a:xfrm>
            <a:off x="749808" y="338328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検索</a:t>
            </a:r>
            <a:endParaRPr lang="en-US" sz="1300" dirty="0"/>
          </a:p>
        </p:txBody>
      </p:sp>
      <p:sp>
        <p:nvSpPr>
          <p:cNvPr id="16" name="Text 14"/>
          <p:cNvSpPr txBox="1"/>
          <p:nvPr/>
        </p:nvSpPr>
        <p:spPr>
          <a:xfrm>
            <a:off x="1892808" y="338328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scikit-learn の TF-IDF</a:t>
            </a:r>
            <a:endParaRPr lang="en-US" sz="1200" dirty="0"/>
          </a:p>
        </p:txBody>
      </p:sp>
      <p:sp>
        <p:nvSpPr>
          <p:cNvPr id="17" name="Shape 15"/>
          <p:cNvSpPr/>
          <p:nvPr/>
        </p:nvSpPr>
        <p:spPr>
          <a:xfrm>
            <a:off x="612648" y="3931920"/>
            <a:ext cx="4572000" cy="475488"/>
          </a:xfrm>
          <a:prstGeom prst="rect">
            <a:avLst/>
          </a:prstGeom>
          <a:solidFill>
            <a:srgbClr val="E8F1FE"/>
          </a:solidFill>
          <a:ln w="12700">
            <a:solidFill>
              <a:srgbClr val="E8F1FE"/>
            </a:solidFill>
            <a:prstDash val="solid"/>
          </a:ln>
        </p:spPr>
        <p:txBody>
          <a:bodyPr/>
          <a:p/>
        </p:txBody>
      </p:sp>
      <p:sp>
        <p:nvSpPr>
          <p:cNvPr id="18" name="Text 16"/>
          <p:cNvSpPr txBox="1"/>
          <p:nvPr/>
        </p:nvSpPr>
        <p:spPr>
          <a:xfrm>
            <a:off x="749808" y="393192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収集</a:t>
            </a:r>
            <a:endParaRPr lang="en-US" sz="1300" dirty="0"/>
          </a:p>
        </p:txBody>
      </p:sp>
      <p:sp>
        <p:nvSpPr>
          <p:cNvPr id="19" name="Text 17"/>
          <p:cNvSpPr txBox="1"/>
          <p:nvPr/>
        </p:nvSpPr>
        <p:spPr>
          <a:xfrm>
            <a:off x="1892808" y="393192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requests ＋ BeautifulSoup（公的サイト）</a:t>
            </a:r>
            <a:endParaRPr lang="en-US" sz="1200" dirty="0"/>
          </a:p>
        </p:txBody>
      </p:sp>
      <p:sp>
        <p:nvSpPr>
          <p:cNvPr id="20" name="Shape 18"/>
          <p:cNvSpPr/>
          <p:nvPr/>
        </p:nvSpPr>
        <p:spPr>
          <a:xfrm>
            <a:off x="612648" y="4480560"/>
            <a:ext cx="4572000" cy="475488"/>
          </a:xfrm>
          <a:prstGeom prst="rect">
            <a:avLst/>
          </a:prstGeom>
          <a:solidFill>
            <a:srgbClr val="FBF5E0"/>
          </a:solidFill>
          <a:ln w="12700">
            <a:solidFill>
              <a:srgbClr val="FBF5E0"/>
            </a:solidFill>
            <a:prstDash val="solid"/>
          </a:ln>
        </p:spPr>
        <p:txBody>
          <a:bodyPr/>
          <a:p/>
        </p:txBody>
      </p:sp>
      <p:sp>
        <p:nvSpPr>
          <p:cNvPr id="21" name="Text 19"/>
          <p:cNvSpPr txBox="1"/>
          <p:nvPr/>
        </p:nvSpPr>
        <p:spPr>
          <a:xfrm>
            <a:off x="749808" y="448056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データ</a:t>
            </a:r>
            <a:endParaRPr lang="en-US" sz="1300" dirty="0"/>
          </a:p>
        </p:txBody>
      </p:sp>
      <p:sp>
        <p:nvSpPr>
          <p:cNvPr id="22" name="Text 20"/>
          <p:cNvSpPr txBox="1"/>
          <p:nvPr/>
        </p:nvSpPr>
        <p:spPr>
          <a:xfrm>
            <a:off x="1892808" y="448056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SQLite（日報・判定・相談・監査ログ）</a:t>
            </a:r>
            <a:endParaRPr lang="en-US" sz="1200" dirty="0"/>
          </a:p>
        </p:txBody>
      </p:sp>
      <p:sp>
        <p:nvSpPr>
          <p:cNvPr id="23" name="Shape 21"/>
          <p:cNvSpPr/>
          <p:nvPr/>
        </p:nvSpPr>
        <p:spPr>
          <a:xfrm>
            <a:off x="612648" y="5029200"/>
            <a:ext cx="4572000" cy="475488"/>
          </a:xfrm>
          <a:prstGeom prst="rect">
            <a:avLst/>
          </a:prstGeom>
          <a:solidFill>
            <a:srgbClr val="F2F2F2"/>
          </a:solidFill>
          <a:ln w="12700">
            <a:solidFill>
              <a:srgbClr val="F2F2F2"/>
            </a:solidFill>
            <a:prstDash val="solid"/>
          </a:ln>
        </p:spPr>
        <p:txBody>
          <a:bodyPr/>
          <a:p/>
        </p:txBody>
      </p:sp>
      <p:sp>
        <p:nvSpPr>
          <p:cNvPr id="24" name="Text 22"/>
          <p:cNvSpPr txBox="1"/>
          <p:nvPr/>
        </p:nvSpPr>
        <p:spPr>
          <a:xfrm>
            <a:off x="749808" y="502920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公開</a:t>
            </a:r>
            <a:endParaRPr lang="en-US" sz="1300" dirty="0"/>
          </a:p>
        </p:txBody>
      </p:sp>
      <p:sp>
        <p:nvSpPr>
          <p:cNvPr id="25" name="Text 23"/>
          <p:cNvSpPr txBox="1"/>
          <p:nvPr/>
        </p:nvSpPr>
        <p:spPr>
          <a:xfrm>
            <a:off x="1892808" y="502920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GitHub ＋ Streamlit Community Cloud</a:t>
            </a:r>
            <a:endParaRPr lang="en-US" sz="1200" dirty="0"/>
          </a:p>
        </p:txBody>
      </p:sp>
      <p:sp>
        <p:nvSpPr>
          <p:cNvPr id="26" name="Shape 24"/>
          <p:cNvSpPr/>
          <p:nvPr/>
        </p:nvSpPr>
        <p:spPr>
          <a:xfrm>
            <a:off x="612648" y="5577840"/>
            <a:ext cx="4572000" cy="475488"/>
          </a:xfrm>
          <a:prstGeom prst="rect">
            <a:avLst/>
          </a:prstGeom>
          <a:solidFill>
            <a:srgbClr val="E6F5EC"/>
          </a:solidFill>
          <a:ln w="12700">
            <a:solidFill>
              <a:srgbClr val="197A4B"/>
            </a:solidFill>
            <a:prstDash val="dash"/>
          </a:ln>
        </p:spPr>
        <p:txBody>
          <a:bodyPr/>
          <a:p/>
        </p:txBody>
      </p:sp>
      <p:sp>
        <p:nvSpPr>
          <p:cNvPr id="27" name="Text 25"/>
          <p:cNvSpPr txBox="1"/>
          <p:nvPr/>
        </p:nvSpPr>
        <p:spPr>
          <a:xfrm>
            <a:off x="749808" y="557784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AI（任意）</a:t>
            </a:r>
            <a:endParaRPr lang="en-US" sz="1300" dirty="0"/>
          </a:p>
        </p:txBody>
      </p:sp>
      <p:sp>
        <p:nvSpPr>
          <p:cNvPr id="28" name="Text 26"/>
          <p:cNvSpPr txBox="1"/>
          <p:nvPr/>
        </p:nvSpPr>
        <p:spPr>
          <a:xfrm>
            <a:off x="1892808" y="557784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OpenAI：抽出・理由文・助言・文字起こし</a:t>
            </a:r>
            <a:endParaRPr lang="en-US" sz="1200" dirty="0"/>
          </a:p>
        </p:txBody>
      </p:sp>
      <p:sp>
        <p:nvSpPr>
          <p:cNvPr id="29" name="Text 27"/>
          <p:cNvSpPr txBox="1"/>
          <p:nvPr/>
        </p:nvSpPr>
        <p:spPr>
          <a:xfrm>
            <a:off x="5458968" y="2240280"/>
            <a:ext cx="6126480" cy="365760"/>
          </a:xfrm>
          <a:prstGeom prst="rect">
            <a:avLst/>
          </a:prstGeom>
          <a:noFill/>
          <a:ln/>
        </p:spPr>
        <p:txBody>
          <a:bodyPr wrap="square" lIns="0" tIns="0" rIns="0" bIns="0" rtlCol="0" anchor="t"/>
          <a:lstStyle/>
          <a:p>
            <a:pPr indent="0" marL="0">
              <a:buNone/>
            </a:pPr>
            <a:r>
              <a:rPr lang="en-US" sz="1500" b="1" dirty="0">
                <a:solidFill>
                  <a:srgbClr val="0017C1"/>
                </a:solidFill>
                <a:latin typeface="Noto Sans JP" pitchFamily="34" charset="0"/>
                <a:ea typeface="Noto Sans JP" pitchFamily="34" charset="-122"/>
                <a:cs typeface="Noto Sans JP" pitchFamily="34" charset="-120"/>
              </a:rPr>
              <a:t>工程ごとの担い手</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58968" y="2651760"/>
          <a:ext cx="6126480" cy="914400"/>
        </p:xfrm>
        <a:graphic>
          <a:graphicData uri="http://schemas.openxmlformats.org/drawingml/2006/table">
            <a:tbl>
              <a:tblPr/>
              <a:tblGrid>
                <a:gridCol w="822960"/>
                <a:gridCol w="1737360"/>
                <a:gridCol w="3566160"/>
              </a:tblGrid>
              <a:tr h="475488">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工程</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やり方</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そう選んだ理由</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r>
              <a:tr h="475488">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判定</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現場の知見を訳したルール</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毎回同じ答えが出て、なぜ知らせたかを示せる（次のページ）</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照合</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pandas</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いつ・誰が・何回を数えるだけ。AI は要らない</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検索</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TF-IDF</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件数が少なく、なぜその事例が出たか説明できる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抽出</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辞書＋LLM</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日報を読み、予兆に当たる文を拾う。引用が原文に無いものは捨てる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文章</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LLM</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集めた事例・人だけを根拠に、理由文とアドバイスを書く</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bl>
          </a:graphicData>
        </a:graphic>
      </p:graphicFrame>
      <p:sp>
        <p:nvSpPr>
          <p:cNvPr id="31" name="Shape 28"/>
          <p:cNvSpPr/>
          <p:nvPr/>
        </p:nvSpPr>
        <p:spPr>
          <a:xfrm>
            <a:off x="5458968" y="5623560"/>
            <a:ext cx="6126480" cy="566928"/>
          </a:xfrm>
          <a:prstGeom prst="rect">
            <a:avLst/>
          </a:prstGeom>
          <a:solidFill>
            <a:srgbClr val="FDEEEE"/>
          </a:solidFill>
          <a:ln w="12700">
            <a:solidFill>
              <a:srgbClr val="FDEEEE"/>
            </a:solidFill>
            <a:prstDash val="solid"/>
          </a:ln>
        </p:spPr>
        <p:txBody>
          <a:bodyPr/>
          <a:p/>
        </p:txBody>
      </p:sp>
      <p:sp>
        <p:nvSpPr>
          <p:cNvPr id="32" name="Text 29"/>
          <p:cNvSpPr txBox="1"/>
          <p:nvPr/>
        </p:nvSpPr>
        <p:spPr>
          <a:xfrm>
            <a:off x="5641848" y="5623560"/>
            <a:ext cx="5760720" cy="566928"/>
          </a:xfrm>
          <a:prstGeom prst="rect">
            <a:avLst/>
          </a:prstGeom>
          <a:noFill/>
          <a:ln/>
        </p:spPr>
        <p:txBody>
          <a:bodyPr wrap="square" lIns="0" tIns="0" rIns="0" bIns="0" rtlCol="0" anchor="ctr"/>
          <a:lstStyle/>
          <a:p>
            <a:pPr indent="0" marL="0">
              <a:buNone/>
            </a:pPr>
            <a:r>
              <a:rPr lang="en-US" sz="1400" b="1" dirty="0">
                <a:solidFill>
                  <a:srgbClr val="CE0000"/>
                </a:solidFill>
                <a:latin typeface="Noto Sans JP" pitchFamily="34" charset="0"/>
                <a:ea typeface="Noto Sans JP" pitchFamily="34" charset="-122"/>
                <a:cs typeface="Noto Sans JP" pitchFamily="34" charset="-120"/>
              </a:rPr>
              <a:t>つながないもの：融資・格付け・人事評価</a:t>
            </a:r>
            <a:endParaRPr lang="en-US" sz="1400" dirty="0"/>
          </a:p>
        </p:txBody>
      </p:sp>
      <p:sp>
        <p:nvSpPr>
          <p:cNvPr id="33" name="Text 30"/>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LLM のキーが無いときは辞書・定型文・用意した結果で動き、画面にもそう書く（公開中のデモはこの状態）</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システムの全体構成（アーキテクチャ）</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SFA の画面の中にツムグの表示領域を置き、日報 1 件ごとに処理して反応を返す。融資・人事のシステムとはつながない</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18</a:t>
            </a:r>
            <a:endParaRPr lang="en-US" sz="1200" dirty="0"/>
          </a:p>
        </p:txBody>
      </p:sp>
      <p:sp>
        <p:nvSpPr>
          <p:cNvPr id="8" name="Shape 6"/>
          <p:cNvSpPr/>
          <p:nvPr/>
        </p:nvSpPr>
        <p:spPr>
          <a:xfrm>
            <a:off x="612648" y="2194560"/>
            <a:ext cx="8183880" cy="502920"/>
          </a:xfrm>
          <a:prstGeom prst="rect">
            <a:avLst/>
          </a:prstGeom>
          <a:solidFill>
            <a:srgbClr val="FFFFFF"/>
          </a:solidFill>
          <a:ln w="12700">
            <a:solidFill>
              <a:srgbClr val="FFFFFF"/>
            </a:solidFill>
            <a:prstDash val="solid"/>
          </a:ln>
        </p:spPr>
        <p:txBody>
          <a:bodyPr/>
          <a:p/>
        </p:txBody>
      </p:sp>
      <p:sp>
        <p:nvSpPr>
          <p:cNvPr id="9" name="Text 7"/>
          <p:cNvSpPr txBox="1"/>
          <p:nvPr/>
        </p:nvSpPr>
        <p:spPr>
          <a:xfrm>
            <a:off x="722376" y="2267712"/>
            <a:ext cx="868680" cy="411480"/>
          </a:xfrm>
          <a:prstGeom prst="rect">
            <a:avLst/>
          </a:prstGeom>
          <a:noFill/>
          <a:ln/>
        </p:spPr>
        <p:txBody>
          <a:bodyPr wrap="square" lIns="0" tIns="0" rIns="0" bIns="0" rtlCol="0" anchor="t"/>
          <a:lstStyle/>
          <a:p>
            <a:pPr indent="0" marL="0">
              <a:lnSpc>
                <a:spcPct val="105000"/>
              </a:lnSpc>
              <a:buNone/>
            </a:pPr>
            <a:r>
              <a:rPr lang="en-US" sz="1300" b="1" dirty="0">
                <a:solidFill>
                  <a:srgbClr val="1A1A1A"/>
                </a:solidFill>
                <a:latin typeface="Noto Sans JP" pitchFamily="34" charset="0"/>
                <a:ea typeface="Noto Sans JP" pitchFamily="34" charset="-122"/>
                <a:cs typeface="Noto Sans JP" pitchFamily="34" charset="-120"/>
              </a:rPr>
              <a:t>使う人</a:t>
            </a:r>
            <a:endParaRPr lang="en-US" sz="1300" dirty="0"/>
          </a:p>
          <a:p>
            <a:pPr indent="0" marL="0">
              <a:lnSpc>
                <a:spcPct val="105000"/>
              </a:lnSpc>
              <a:buNone/>
            </a:pPr>
            <a:endParaRPr lang="en-US" sz="1300" dirty="0"/>
          </a:p>
        </p:txBody>
      </p:sp>
      <p:sp>
        <p:nvSpPr>
          <p:cNvPr id="10" name="Shape 8"/>
          <p:cNvSpPr/>
          <p:nvPr/>
        </p:nvSpPr>
        <p:spPr>
          <a:xfrm>
            <a:off x="1572768" y="2249424"/>
            <a:ext cx="2313432" cy="393192"/>
          </a:xfrm>
          <a:prstGeom prst="rect">
            <a:avLst/>
          </a:prstGeom>
          <a:solidFill>
            <a:srgbClr val="FFFFFF"/>
          </a:solidFill>
          <a:ln w="12700">
            <a:solidFill>
              <a:srgbClr val="CCCCCC"/>
            </a:solidFill>
            <a:prstDash val="solid"/>
          </a:ln>
        </p:spPr>
        <p:txBody>
          <a:bodyPr/>
          <a:p/>
        </p:txBody>
      </p:sp>
      <p:sp>
        <p:nvSpPr>
          <p:cNvPr id="11" name="Text 9"/>
          <p:cNvSpPr txBox="1"/>
          <p:nvPr/>
        </p:nvSpPr>
        <p:spPr>
          <a:xfrm>
            <a:off x="1627632" y="2249424"/>
            <a:ext cx="2203704" cy="39319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法人担当者（担当先）</a:t>
            </a:r>
            <a:endParaRPr lang="en-US" sz="1050" dirty="0"/>
          </a:p>
        </p:txBody>
      </p:sp>
      <p:sp>
        <p:nvSpPr>
          <p:cNvPr id="12" name="Shape 10"/>
          <p:cNvSpPr/>
          <p:nvPr/>
        </p:nvSpPr>
        <p:spPr>
          <a:xfrm>
            <a:off x="3959352" y="2249424"/>
            <a:ext cx="2313432" cy="393192"/>
          </a:xfrm>
          <a:prstGeom prst="rect">
            <a:avLst/>
          </a:prstGeom>
          <a:solidFill>
            <a:srgbClr val="FFFFFF"/>
          </a:solidFill>
          <a:ln w="12700">
            <a:solidFill>
              <a:srgbClr val="CCCCCC"/>
            </a:solidFill>
            <a:prstDash val="solid"/>
          </a:ln>
        </p:spPr>
        <p:txBody>
          <a:bodyPr/>
          <a:p/>
        </p:txBody>
      </p:sp>
      <p:sp>
        <p:nvSpPr>
          <p:cNvPr id="13" name="Text 11"/>
          <p:cNvSpPr txBox="1"/>
          <p:nvPr/>
        </p:nvSpPr>
        <p:spPr>
          <a:xfrm>
            <a:off x="4014216" y="2249424"/>
            <a:ext cx="2203704" cy="39319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支店長（自支店）</a:t>
            </a:r>
            <a:endParaRPr lang="en-US" sz="1050" dirty="0"/>
          </a:p>
        </p:txBody>
      </p:sp>
      <p:sp>
        <p:nvSpPr>
          <p:cNvPr id="14" name="Shape 12"/>
          <p:cNvSpPr/>
          <p:nvPr/>
        </p:nvSpPr>
        <p:spPr>
          <a:xfrm>
            <a:off x="6345936" y="2249424"/>
            <a:ext cx="2313432" cy="393192"/>
          </a:xfrm>
          <a:prstGeom prst="rect">
            <a:avLst/>
          </a:prstGeom>
          <a:solidFill>
            <a:srgbClr val="FFFFFF"/>
          </a:solidFill>
          <a:ln w="12700">
            <a:solidFill>
              <a:srgbClr val="CCCCCC"/>
            </a:solidFill>
            <a:prstDash val="solid"/>
          </a:ln>
        </p:spPr>
        <p:txBody>
          <a:bodyPr/>
          <a:p/>
        </p:txBody>
      </p:sp>
      <p:sp>
        <p:nvSpPr>
          <p:cNvPr id="15" name="Text 13"/>
          <p:cNvSpPr txBox="1"/>
          <p:nvPr/>
        </p:nvSpPr>
        <p:spPr>
          <a:xfrm>
            <a:off x="6400800" y="2249424"/>
            <a:ext cx="2203704" cy="39319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本部 事業承継支援室（相談を受けた企業）</a:t>
            </a:r>
            <a:endParaRPr lang="en-US" sz="1050" dirty="0"/>
          </a:p>
        </p:txBody>
      </p:sp>
      <p:sp>
        <p:nvSpPr>
          <p:cNvPr id="16" name="Shape 14"/>
          <p:cNvSpPr/>
          <p:nvPr/>
        </p:nvSpPr>
        <p:spPr>
          <a:xfrm>
            <a:off x="1069848" y="2715768"/>
            <a:ext cx="0" cy="182880"/>
          </a:xfrm>
          <a:prstGeom prst="line">
            <a:avLst/>
          </a:prstGeom>
          <a:noFill/>
          <a:ln w="19050">
            <a:solidFill>
              <a:srgbClr val="666666"/>
            </a:solidFill>
            <a:prstDash val="solid"/>
            <a:headEnd type="triangle"/>
            <a:tailEnd type="triangle"/>
          </a:ln>
        </p:spPr>
        <p:txBody>
          <a:bodyPr/>
          <a:p/>
        </p:txBody>
      </p:sp>
      <p:sp>
        <p:nvSpPr>
          <p:cNvPr id="17" name="Shape 15"/>
          <p:cNvSpPr/>
          <p:nvPr/>
        </p:nvSpPr>
        <p:spPr>
          <a:xfrm>
            <a:off x="612648" y="2916936"/>
            <a:ext cx="8183880" cy="749808"/>
          </a:xfrm>
          <a:prstGeom prst="rect">
            <a:avLst/>
          </a:prstGeom>
          <a:solidFill>
            <a:srgbClr val="F2F2F2"/>
          </a:solidFill>
          <a:ln w="12700">
            <a:solidFill>
              <a:srgbClr val="F2F2F2"/>
            </a:solidFill>
            <a:prstDash val="solid"/>
          </a:ln>
        </p:spPr>
        <p:txBody>
          <a:bodyPr/>
          <a:p/>
        </p:txBody>
      </p:sp>
      <p:sp>
        <p:nvSpPr>
          <p:cNvPr id="18" name="Text 16"/>
          <p:cNvSpPr txBox="1"/>
          <p:nvPr/>
        </p:nvSpPr>
        <p:spPr>
          <a:xfrm>
            <a:off x="722376" y="2990088"/>
            <a:ext cx="868680" cy="658368"/>
          </a:xfrm>
          <a:prstGeom prst="rect">
            <a:avLst/>
          </a:prstGeom>
          <a:noFill/>
          <a:ln/>
        </p:spPr>
        <p:txBody>
          <a:bodyPr wrap="square" lIns="0" tIns="0" rIns="0" bIns="0" rtlCol="0" anchor="t"/>
          <a:lstStyle/>
          <a:p>
            <a:pPr indent="0" marL="0">
              <a:lnSpc>
                <a:spcPct val="105000"/>
              </a:lnSpc>
              <a:buNone/>
            </a:pPr>
            <a:r>
              <a:rPr lang="en-US" sz="1300" b="1" dirty="0">
                <a:solidFill>
                  <a:srgbClr val="1A1A1A"/>
                </a:solidFill>
                <a:latin typeface="Noto Sans JP" pitchFamily="34" charset="0"/>
                <a:ea typeface="Noto Sans JP" pitchFamily="34" charset="-122"/>
                <a:cs typeface="Noto Sans JP" pitchFamily="34" charset="-120"/>
              </a:rPr>
              <a:t>画面</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SFA の中</a:t>
            </a:r>
            <a:endParaRPr lang="en-US" sz="1300" dirty="0"/>
          </a:p>
        </p:txBody>
      </p:sp>
      <p:sp>
        <p:nvSpPr>
          <p:cNvPr id="19" name="Shape 17"/>
          <p:cNvSpPr/>
          <p:nvPr/>
        </p:nvSpPr>
        <p:spPr>
          <a:xfrm>
            <a:off x="1572768" y="2971800"/>
            <a:ext cx="1358798" cy="640080"/>
          </a:xfrm>
          <a:prstGeom prst="rect">
            <a:avLst/>
          </a:prstGeom>
          <a:solidFill>
            <a:srgbClr val="FFFFFF"/>
          </a:solidFill>
          <a:ln w="12700">
            <a:solidFill>
              <a:srgbClr val="CCCCCC"/>
            </a:solidFill>
            <a:prstDash val="solid"/>
          </a:ln>
        </p:spPr>
        <p:txBody>
          <a:bodyPr/>
          <a:p/>
        </p:txBody>
      </p:sp>
      <p:sp>
        <p:nvSpPr>
          <p:cNvPr id="20" name="Text 18"/>
          <p:cNvSpPr txBox="1"/>
          <p:nvPr/>
        </p:nvSpPr>
        <p:spPr>
          <a:xfrm>
            <a:off x="1627632" y="2971800"/>
            <a:ext cx="1249070" cy="640080"/>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取引先（訪問前）</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予兆と根拠・会話のヒント</a:t>
            </a:r>
            <a:endParaRPr lang="en-US" sz="1050" dirty="0"/>
          </a:p>
        </p:txBody>
      </p:sp>
      <p:sp>
        <p:nvSpPr>
          <p:cNvPr id="21" name="Shape 19"/>
          <p:cNvSpPr/>
          <p:nvPr/>
        </p:nvSpPr>
        <p:spPr>
          <a:xfrm>
            <a:off x="3004718" y="2971800"/>
            <a:ext cx="1358798" cy="640080"/>
          </a:xfrm>
          <a:prstGeom prst="rect">
            <a:avLst/>
          </a:prstGeom>
          <a:solidFill>
            <a:srgbClr val="FFFFFF"/>
          </a:solidFill>
          <a:ln w="12700">
            <a:solidFill>
              <a:srgbClr val="CCCCCC"/>
            </a:solidFill>
            <a:prstDash val="solid"/>
          </a:ln>
        </p:spPr>
        <p:txBody>
          <a:bodyPr/>
          <a:p/>
        </p:txBody>
      </p:sp>
      <p:sp>
        <p:nvSpPr>
          <p:cNvPr id="22" name="Text 20"/>
          <p:cNvSpPr txBox="1"/>
          <p:nvPr/>
        </p:nvSpPr>
        <p:spPr>
          <a:xfrm>
            <a:off x="3059582" y="2971800"/>
            <a:ext cx="1249070" cy="640080"/>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日報（訪問後）</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音声入力・下書き → 反応</a:t>
            </a:r>
            <a:endParaRPr lang="en-US" sz="1050" dirty="0"/>
          </a:p>
        </p:txBody>
      </p:sp>
      <p:sp>
        <p:nvSpPr>
          <p:cNvPr id="23" name="Shape 21"/>
          <p:cNvSpPr/>
          <p:nvPr/>
        </p:nvSpPr>
        <p:spPr>
          <a:xfrm>
            <a:off x="4436669" y="2971800"/>
            <a:ext cx="1358798" cy="640080"/>
          </a:xfrm>
          <a:prstGeom prst="rect">
            <a:avLst/>
          </a:prstGeom>
          <a:solidFill>
            <a:srgbClr val="FFFFFF"/>
          </a:solidFill>
          <a:ln w="12700">
            <a:solidFill>
              <a:srgbClr val="CCCCCC"/>
            </a:solidFill>
            <a:prstDash val="solid"/>
          </a:ln>
        </p:spPr>
        <p:txBody>
          <a:bodyPr/>
          <a:p/>
        </p:txBody>
      </p:sp>
      <p:sp>
        <p:nvSpPr>
          <p:cNvPr id="24" name="Text 22"/>
          <p:cNvSpPr txBox="1"/>
          <p:nvPr/>
        </p:nvSpPr>
        <p:spPr>
          <a:xfrm>
            <a:off x="4491533" y="2971800"/>
            <a:ext cx="1249070" cy="640080"/>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対話の状況</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支店長・段階で</a:t>
            </a:r>
            <a:endParaRPr lang="en-US" sz="1050" dirty="0"/>
          </a:p>
        </p:txBody>
      </p:sp>
      <p:sp>
        <p:nvSpPr>
          <p:cNvPr id="25" name="Shape 23"/>
          <p:cNvSpPr/>
          <p:nvPr/>
        </p:nvSpPr>
        <p:spPr>
          <a:xfrm>
            <a:off x="5868619" y="2971800"/>
            <a:ext cx="1358798" cy="640080"/>
          </a:xfrm>
          <a:prstGeom prst="rect">
            <a:avLst/>
          </a:prstGeom>
          <a:solidFill>
            <a:srgbClr val="FFFFFF"/>
          </a:solidFill>
          <a:ln w="12700">
            <a:solidFill>
              <a:srgbClr val="CCCCCC"/>
            </a:solidFill>
            <a:prstDash val="solid"/>
          </a:ln>
        </p:spPr>
        <p:txBody>
          <a:bodyPr/>
          <a:p/>
        </p:txBody>
      </p:sp>
      <p:sp>
        <p:nvSpPr>
          <p:cNvPr id="26" name="Text 24"/>
          <p:cNvSpPr txBox="1"/>
          <p:nvPr/>
        </p:nvSpPr>
        <p:spPr>
          <a:xfrm>
            <a:off x="5923483" y="2971800"/>
            <a:ext cx="1249070" cy="640080"/>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本部</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相談・くり返し出る話</a:t>
            </a:r>
            <a:endParaRPr lang="en-US" sz="1050" dirty="0"/>
          </a:p>
        </p:txBody>
      </p:sp>
      <p:sp>
        <p:nvSpPr>
          <p:cNvPr id="27" name="Shape 25"/>
          <p:cNvSpPr/>
          <p:nvPr/>
        </p:nvSpPr>
        <p:spPr>
          <a:xfrm>
            <a:off x="7300570" y="2971800"/>
            <a:ext cx="1358798" cy="640080"/>
          </a:xfrm>
          <a:prstGeom prst="rect">
            <a:avLst/>
          </a:prstGeom>
          <a:solidFill>
            <a:srgbClr val="FFFFFF"/>
          </a:solidFill>
          <a:ln w="12700">
            <a:solidFill>
              <a:srgbClr val="CCCCCC"/>
            </a:solidFill>
            <a:prstDash val="solid"/>
          </a:ln>
        </p:spPr>
        <p:txBody>
          <a:bodyPr/>
          <a:p/>
        </p:txBody>
      </p:sp>
      <p:sp>
        <p:nvSpPr>
          <p:cNvPr id="28" name="Text 26"/>
          <p:cNvSpPr txBox="1"/>
          <p:nvPr/>
        </p:nvSpPr>
        <p:spPr>
          <a:xfrm>
            <a:off x="7355434" y="2971800"/>
            <a:ext cx="1249070" cy="640080"/>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評価・監査</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アンケート・ログ</a:t>
            </a:r>
            <a:endParaRPr lang="en-US" sz="1050" dirty="0"/>
          </a:p>
        </p:txBody>
      </p:sp>
      <p:sp>
        <p:nvSpPr>
          <p:cNvPr id="29" name="Shape 27"/>
          <p:cNvSpPr/>
          <p:nvPr/>
        </p:nvSpPr>
        <p:spPr>
          <a:xfrm>
            <a:off x="1069848" y="3685032"/>
            <a:ext cx="0" cy="182880"/>
          </a:xfrm>
          <a:prstGeom prst="line">
            <a:avLst/>
          </a:prstGeom>
          <a:noFill/>
          <a:ln w="19050">
            <a:solidFill>
              <a:srgbClr val="666666"/>
            </a:solidFill>
            <a:prstDash val="solid"/>
            <a:headEnd type="triangle"/>
            <a:tailEnd type="triangle"/>
          </a:ln>
        </p:spPr>
        <p:txBody>
          <a:bodyPr/>
          <a:p/>
        </p:txBody>
      </p:sp>
      <p:sp>
        <p:nvSpPr>
          <p:cNvPr id="30" name="Shape 28"/>
          <p:cNvSpPr/>
          <p:nvPr/>
        </p:nvSpPr>
        <p:spPr>
          <a:xfrm>
            <a:off x="612648" y="3886200"/>
            <a:ext cx="8183880" cy="1261872"/>
          </a:xfrm>
          <a:prstGeom prst="rect">
            <a:avLst/>
          </a:prstGeom>
          <a:solidFill>
            <a:srgbClr val="E8F1FE"/>
          </a:solidFill>
          <a:ln w="12700">
            <a:solidFill>
              <a:srgbClr val="E8F1FE"/>
            </a:solidFill>
            <a:prstDash val="solid"/>
          </a:ln>
        </p:spPr>
        <p:txBody>
          <a:bodyPr/>
          <a:p/>
        </p:txBody>
      </p:sp>
      <p:sp>
        <p:nvSpPr>
          <p:cNvPr id="31" name="Text 29"/>
          <p:cNvSpPr txBox="1"/>
          <p:nvPr/>
        </p:nvSpPr>
        <p:spPr>
          <a:xfrm>
            <a:off x="722376" y="3959352"/>
            <a:ext cx="868680" cy="1170432"/>
          </a:xfrm>
          <a:prstGeom prst="rect">
            <a:avLst/>
          </a:prstGeom>
          <a:noFill/>
          <a:ln/>
        </p:spPr>
        <p:txBody>
          <a:bodyPr wrap="square" lIns="0" tIns="0" rIns="0" bIns="0" rtlCol="0" anchor="t"/>
          <a:lstStyle/>
          <a:p>
            <a:pPr indent="0" marL="0">
              <a:lnSpc>
                <a:spcPct val="105000"/>
              </a:lnSpc>
              <a:buNone/>
            </a:pPr>
            <a:r>
              <a:rPr lang="en-US" sz="1300" b="1" dirty="0">
                <a:solidFill>
                  <a:srgbClr val="1A1A1A"/>
                </a:solidFill>
                <a:latin typeface="Noto Sans JP" pitchFamily="34" charset="0"/>
                <a:ea typeface="Noto Sans JP" pitchFamily="34" charset="-122"/>
                <a:cs typeface="Noto Sans JP" pitchFamily="34" charset="-120"/>
              </a:rPr>
              <a:t>処理</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tsumugu.py</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判定基準は</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rules.json</a:t>
            </a:r>
            <a:endParaRPr lang="en-US" sz="1300" dirty="0"/>
          </a:p>
        </p:txBody>
      </p:sp>
      <p:sp>
        <p:nvSpPr>
          <p:cNvPr id="32" name="Shape 30"/>
          <p:cNvSpPr/>
          <p:nvPr/>
        </p:nvSpPr>
        <p:spPr>
          <a:xfrm>
            <a:off x="1572768" y="3941064"/>
            <a:ext cx="4478731" cy="1152144"/>
          </a:xfrm>
          <a:prstGeom prst="rect">
            <a:avLst/>
          </a:prstGeom>
          <a:solidFill>
            <a:srgbClr val="FFFFFF"/>
          </a:solidFill>
          <a:ln w="12700">
            <a:solidFill>
              <a:srgbClr val="0017C1"/>
            </a:solidFill>
            <a:prstDash val="solid"/>
          </a:ln>
        </p:spPr>
        <p:txBody>
          <a:bodyPr/>
          <a:p/>
        </p:txBody>
      </p:sp>
      <p:sp>
        <p:nvSpPr>
          <p:cNvPr id="33" name="Text 31"/>
          <p:cNvSpPr txBox="1"/>
          <p:nvPr/>
        </p:nvSpPr>
        <p:spPr>
          <a:xfrm>
            <a:off x="1664208" y="3986784"/>
            <a:ext cx="4295851" cy="1060704"/>
          </a:xfrm>
          <a:prstGeom prst="rect">
            <a:avLst/>
          </a:prstGeom>
          <a:noFill/>
          <a:ln/>
        </p:spPr>
        <p:txBody>
          <a:bodyPr wrap="square" lIns="0" tIns="0" rIns="0" bIns="0" rtlCol="0" anchor="t"/>
          <a:lstStyle/>
          <a:p>
            <a:pPr indent="0" marL="0">
              <a:lnSpc>
                <a:spcPct val="115000"/>
              </a:lnSpc>
              <a:buNone/>
            </a:pPr>
            <a:r>
              <a:rPr lang="en-US" sz="1050" b="1" dirty="0">
                <a:solidFill>
                  <a:srgbClr val="0017C1"/>
                </a:solidFill>
                <a:latin typeface="Noto Sans JP" pitchFamily="34" charset="0"/>
                <a:ea typeface="Noto Sans JP" pitchFamily="34" charset="-122"/>
                <a:cs typeface="Noto Sans JP" pitchFamily="34" charset="-120"/>
              </a:rPr>
              <a:t>反応層（日報 1 件ごと）</a:t>
            </a:r>
            <a:endParaRPr lang="en-US" sz="1050" dirty="0"/>
          </a:p>
          <a:p>
            <a:pPr indent="0" marL="0">
              <a:lnSpc>
                <a:spcPct val="115000"/>
              </a:lnSpc>
              <a:buNone/>
            </a:pPr>
            <a:r>
              <a:rPr lang="en-US" sz="1050" b="1" dirty="0">
                <a:solidFill>
                  <a:srgbClr val="1A1A1A"/>
                </a:solidFill>
                <a:latin typeface="Noto Sans JP" pitchFamily="34" charset="0"/>
                <a:ea typeface="Noto Sans JP" pitchFamily="34" charset="-122"/>
                <a:cs typeface="Noto Sans JP" pitchFamily="34" charset="-120"/>
              </a:rPr>
              <a:t>② 抽出 → ③ 照合 → ④ 判定 → ⑤ 検索 → ⑥ 人軸 → ⑦ 次の一手</a:t>
            </a:r>
            <a:endParaRPr lang="en-US" sz="1050" dirty="0"/>
          </a:p>
          <a:p>
            <a:pPr indent="0" marL="0">
              <a:lnSpc>
                <a:spcPct val="115000"/>
              </a:lnSpc>
              <a:buNone/>
            </a:pPr>
            <a:r>
              <a:rPr lang="en-US" sz="850" dirty="0">
                <a:solidFill>
                  <a:srgbClr val="666666"/>
                </a:solidFill>
                <a:latin typeface="Noto Sans JP" pitchFamily="34" charset="0"/>
                <a:ea typeface="Noto Sans JP" pitchFamily="34" charset="-122"/>
                <a:cs typeface="Noto Sans JP" pitchFamily="34" charset="-120"/>
              </a:rPr>
              <a:t>辞書＋LLM ／ pandas ／ 現場の知見を訳したルール ／ TF-IDF ／ 担当履歴・相談記録 ／ LLM（無ければ定型文）</a:t>
            </a:r>
            <a:endParaRPr lang="en-US" sz="1050" dirty="0"/>
          </a:p>
        </p:txBody>
      </p:sp>
      <p:sp>
        <p:nvSpPr>
          <p:cNvPr id="34" name="Shape 32"/>
          <p:cNvSpPr/>
          <p:nvPr/>
        </p:nvSpPr>
        <p:spPr>
          <a:xfrm>
            <a:off x="6124651" y="3941064"/>
            <a:ext cx="2534717" cy="1152144"/>
          </a:xfrm>
          <a:prstGeom prst="rect">
            <a:avLst/>
          </a:prstGeom>
          <a:solidFill>
            <a:srgbClr val="FFFFFF"/>
          </a:solidFill>
          <a:ln w="12700">
            <a:solidFill>
              <a:srgbClr val="0017C1"/>
            </a:solidFill>
            <a:prstDash val="solid"/>
          </a:ln>
        </p:spPr>
        <p:txBody>
          <a:bodyPr/>
          <a:p/>
        </p:txBody>
      </p:sp>
      <p:sp>
        <p:nvSpPr>
          <p:cNvPr id="35" name="Text 33"/>
          <p:cNvSpPr txBox="1"/>
          <p:nvPr/>
        </p:nvSpPr>
        <p:spPr>
          <a:xfrm>
            <a:off x="6216091" y="3986784"/>
            <a:ext cx="2351837" cy="1060704"/>
          </a:xfrm>
          <a:prstGeom prst="rect">
            <a:avLst/>
          </a:prstGeom>
          <a:noFill/>
          <a:ln/>
        </p:spPr>
        <p:txBody>
          <a:bodyPr wrap="square" lIns="0" tIns="0" rIns="0" bIns="0" rtlCol="0" anchor="t"/>
          <a:lstStyle/>
          <a:p>
            <a:pPr indent="0" marL="0">
              <a:lnSpc>
                <a:spcPct val="115000"/>
              </a:lnSpc>
              <a:buNone/>
            </a:pPr>
            <a:r>
              <a:rPr lang="en-US" sz="1050" b="1" dirty="0">
                <a:solidFill>
                  <a:srgbClr val="0017C1"/>
                </a:solidFill>
                <a:latin typeface="Noto Sans JP" pitchFamily="34" charset="0"/>
                <a:ea typeface="Noto Sans JP" pitchFamily="34" charset="-122"/>
                <a:cs typeface="Noto Sans JP" pitchFamily="34" charset="-120"/>
              </a:rPr>
              <a:t>ナレッジ層（日報とは別に回す）</a:t>
            </a:r>
            <a:endParaRPr lang="en-US" sz="1050" dirty="0"/>
          </a:p>
          <a:p>
            <a:pPr indent="0" marL="0">
              <a:lnSpc>
                <a:spcPct val="115000"/>
              </a:lnSpc>
              <a:buNone/>
            </a:pPr>
            <a:r>
              <a:rPr lang="en-US" sz="1000" dirty="0">
                <a:solidFill>
                  <a:srgbClr val="1A1A1A"/>
                </a:solidFill>
                <a:latin typeface="Noto Sans JP" pitchFamily="34" charset="0"/>
                <a:ea typeface="Noto Sans JP" pitchFamily="34" charset="-122"/>
                <a:cs typeface="Noto Sans JP" pitchFamily="34" charset="-120"/>
              </a:rPr>
              <a:t>⓪ 収集 crawler.py → 貯める → 索引 ranking.py（TF-IDF）</a:t>
            </a:r>
            <a:endParaRPr lang="en-US" sz="1050" dirty="0"/>
          </a:p>
          <a:p>
            <a:pPr indent="0" marL="0">
              <a:lnSpc>
                <a:spcPct val="115000"/>
              </a:lnSpc>
              <a:buNone/>
            </a:pPr>
            <a:r>
              <a:rPr lang="en-US" sz="850" dirty="0">
                <a:solidFill>
                  <a:srgbClr val="666666"/>
                </a:solidFill>
                <a:latin typeface="Noto Sans JP" pitchFamily="34" charset="0"/>
                <a:ea typeface="Noto Sans JP" pitchFamily="34" charset="-122"/>
                <a:cs typeface="Noto Sans JP" pitchFamily="34" charset="-120"/>
              </a:rPr>
              <a:t>訪問前のまとめ・入力補助も同じ処理から</a:t>
            </a:r>
            <a:endParaRPr lang="en-US" sz="1050" dirty="0"/>
          </a:p>
        </p:txBody>
      </p:sp>
      <p:sp>
        <p:nvSpPr>
          <p:cNvPr id="36" name="Shape 34"/>
          <p:cNvSpPr/>
          <p:nvPr/>
        </p:nvSpPr>
        <p:spPr>
          <a:xfrm>
            <a:off x="1069848" y="5166360"/>
            <a:ext cx="0" cy="182880"/>
          </a:xfrm>
          <a:prstGeom prst="line">
            <a:avLst/>
          </a:prstGeom>
          <a:noFill/>
          <a:ln w="19050">
            <a:solidFill>
              <a:srgbClr val="666666"/>
            </a:solidFill>
            <a:prstDash val="solid"/>
            <a:headEnd type="triangle"/>
            <a:tailEnd type="triangle"/>
          </a:ln>
        </p:spPr>
        <p:txBody>
          <a:bodyPr/>
          <a:p/>
        </p:txBody>
      </p:sp>
      <p:sp>
        <p:nvSpPr>
          <p:cNvPr id="37" name="Shape 35"/>
          <p:cNvSpPr/>
          <p:nvPr/>
        </p:nvSpPr>
        <p:spPr>
          <a:xfrm>
            <a:off x="612648" y="5367528"/>
            <a:ext cx="8183880" cy="868680"/>
          </a:xfrm>
          <a:prstGeom prst="rect">
            <a:avLst/>
          </a:prstGeom>
          <a:solidFill>
            <a:srgbClr val="FBF5E0"/>
          </a:solidFill>
          <a:ln w="12700">
            <a:solidFill>
              <a:srgbClr val="FBF5E0"/>
            </a:solidFill>
            <a:prstDash val="solid"/>
          </a:ln>
        </p:spPr>
        <p:txBody>
          <a:bodyPr/>
          <a:p/>
        </p:txBody>
      </p:sp>
      <p:sp>
        <p:nvSpPr>
          <p:cNvPr id="38" name="Text 36"/>
          <p:cNvSpPr txBox="1"/>
          <p:nvPr/>
        </p:nvSpPr>
        <p:spPr>
          <a:xfrm>
            <a:off x="722376" y="5440680"/>
            <a:ext cx="868680" cy="777240"/>
          </a:xfrm>
          <a:prstGeom prst="rect">
            <a:avLst/>
          </a:prstGeom>
          <a:noFill/>
          <a:ln/>
        </p:spPr>
        <p:txBody>
          <a:bodyPr wrap="square" lIns="0" tIns="0" rIns="0" bIns="0" rtlCol="0" anchor="t"/>
          <a:lstStyle/>
          <a:p>
            <a:pPr indent="0" marL="0">
              <a:lnSpc>
                <a:spcPct val="105000"/>
              </a:lnSpc>
              <a:buNone/>
            </a:pPr>
            <a:r>
              <a:rPr lang="en-US" sz="1300" b="1" dirty="0">
                <a:solidFill>
                  <a:srgbClr val="1A1A1A"/>
                </a:solidFill>
                <a:latin typeface="Noto Sans JP" pitchFamily="34" charset="0"/>
                <a:ea typeface="Noto Sans JP" pitchFamily="34" charset="-122"/>
                <a:cs typeface="Noto Sans JP" pitchFamily="34" charset="-120"/>
              </a:rPr>
              <a:t>データ</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SQLite</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1 ファイル</a:t>
            </a:r>
            <a:endParaRPr lang="en-US" sz="1300" dirty="0"/>
          </a:p>
        </p:txBody>
      </p:sp>
      <p:sp>
        <p:nvSpPr>
          <p:cNvPr id="39" name="Shape 37"/>
          <p:cNvSpPr/>
          <p:nvPr/>
        </p:nvSpPr>
        <p:spPr>
          <a:xfrm>
            <a:off x="1572768" y="5422392"/>
            <a:ext cx="1358798" cy="758952"/>
          </a:xfrm>
          <a:prstGeom prst="rect">
            <a:avLst/>
          </a:prstGeom>
          <a:solidFill>
            <a:srgbClr val="FFFFFF"/>
          </a:solidFill>
          <a:ln w="12700">
            <a:solidFill>
              <a:srgbClr val="CCCCCC"/>
            </a:solidFill>
            <a:prstDash val="solid"/>
          </a:ln>
        </p:spPr>
        <p:txBody>
          <a:bodyPr/>
          <a:p/>
        </p:txBody>
      </p:sp>
      <p:sp>
        <p:nvSpPr>
          <p:cNvPr id="40" name="Text 38"/>
          <p:cNvSpPr txBox="1"/>
          <p:nvPr/>
        </p:nvSpPr>
        <p:spPr>
          <a:xfrm>
            <a:off x="1627632" y="5422392"/>
            <a:ext cx="1249070" cy="75895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行内データ</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企業・行員・担当履歴・相談</a:t>
            </a:r>
            <a:endParaRPr lang="en-US" sz="1050" dirty="0"/>
          </a:p>
        </p:txBody>
      </p:sp>
      <p:sp>
        <p:nvSpPr>
          <p:cNvPr id="41" name="Shape 39"/>
          <p:cNvSpPr/>
          <p:nvPr/>
        </p:nvSpPr>
        <p:spPr>
          <a:xfrm>
            <a:off x="3004718" y="5422392"/>
            <a:ext cx="1358798" cy="758952"/>
          </a:xfrm>
          <a:prstGeom prst="rect">
            <a:avLst/>
          </a:prstGeom>
          <a:solidFill>
            <a:srgbClr val="FFFFFF"/>
          </a:solidFill>
          <a:ln w="12700">
            <a:solidFill>
              <a:srgbClr val="CCCCCC"/>
            </a:solidFill>
            <a:prstDash val="solid"/>
          </a:ln>
        </p:spPr>
        <p:txBody>
          <a:bodyPr/>
          <a:p/>
        </p:txBody>
      </p:sp>
      <p:sp>
        <p:nvSpPr>
          <p:cNvPr id="42" name="Text 40"/>
          <p:cNvSpPr txBox="1"/>
          <p:nvPr/>
        </p:nvSpPr>
        <p:spPr>
          <a:xfrm>
            <a:off x="3059582" y="5422392"/>
            <a:ext cx="1249070" cy="75895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日報</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日報・予兆タグ・下書き</a:t>
            </a:r>
            <a:endParaRPr lang="en-US" sz="1050" dirty="0"/>
          </a:p>
        </p:txBody>
      </p:sp>
      <p:sp>
        <p:nvSpPr>
          <p:cNvPr id="43" name="Shape 41"/>
          <p:cNvSpPr/>
          <p:nvPr/>
        </p:nvSpPr>
        <p:spPr>
          <a:xfrm>
            <a:off x="4436669" y="5422392"/>
            <a:ext cx="1358798" cy="758952"/>
          </a:xfrm>
          <a:prstGeom prst="rect">
            <a:avLst/>
          </a:prstGeom>
          <a:solidFill>
            <a:srgbClr val="FFFFFF"/>
          </a:solidFill>
          <a:ln w="12700">
            <a:solidFill>
              <a:srgbClr val="CCCCCC"/>
            </a:solidFill>
            <a:prstDash val="solid"/>
          </a:ln>
        </p:spPr>
        <p:txBody>
          <a:bodyPr/>
          <a:p/>
        </p:txBody>
      </p:sp>
      <p:sp>
        <p:nvSpPr>
          <p:cNvPr id="44" name="Text 42"/>
          <p:cNvSpPr txBox="1"/>
          <p:nvPr/>
        </p:nvSpPr>
        <p:spPr>
          <a:xfrm>
            <a:off x="4491533" y="5422392"/>
            <a:ext cx="1249070" cy="75895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ナレッジ</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社内事例・現場の知恵・公的情報</a:t>
            </a:r>
            <a:endParaRPr lang="en-US" sz="1050" dirty="0"/>
          </a:p>
        </p:txBody>
      </p:sp>
      <p:sp>
        <p:nvSpPr>
          <p:cNvPr id="45" name="Shape 43"/>
          <p:cNvSpPr/>
          <p:nvPr/>
        </p:nvSpPr>
        <p:spPr>
          <a:xfrm>
            <a:off x="5868619" y="5422392"/>
            <a:ext cx="1358798" cy="758952"/>
          </a:xfrm>
          <a:prstGeom prst="rect">
            <a:avLst/>
          </a:prstGeom>
          <a:solidFill>
            <a:srgbClr val="FFFFFF"/>
          </a:solidFill>
          <a:ln w="12700">
            <a:solidFill>
              <a:srgbClr val="CCCCCC"/>
            </a:solidFill>
            <a:prstDash val="solid"/>
          </a:ln>
        </p:spPr>
        <p:txBody>
          <a:bodyPr/>
          <a:p/>
        </p:txBody>
      </p:sp>
      <p:sp>
        <p:nvSpPr>
          <p:cNvPr id="46" name="Text 44"/>
          <p:cNvSpPr txBox="1"/>
          <p:nvPr/>
        </p:nvSpPr>
        <p:spPr>
          <a:xfrm>
            <a:off x="5923483" y="5422392"/>
            <a:ext cx="1249070" cy="75895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判定と反応</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判定・候補タグ・アンケート</a:t>
            </a:r>
            <a:endParaRPr lang="en-US" sz="1050" dirty="0"/>
          </a:p>
        </p:txBody>
      </p:sp>
      <p:sp>
        <p:nvSpPr>
          <p:cNvPr id="47" name="Shape 45"/>
          <p:cNvSpPr/>
          <p:nvPr/>
        </p:nvSpPr>
        <p:spPr>
          <a:xfrm>
            <a:off x="7300570" y="5422392"/>
            <a:ext cx="1358798" cy="758952"/>
          </a:xfrm>
          <a:prstGeom prst="rect">
            <a:avLst/>
          </a:prstGeom>
          <a:solidFill>
            <a:srgbClr val="FFFFFF"/>
          </a:solidFill>
          <a:ln w="12700">
            <a:solidFill>
              <a:srgbClr val="CCCCCC"/>
            </a:solidFill>
            <a:prstDash val="solid"/>
          </a:ln>
        </p:spPr>
        <p:txBody>
          <a:bodyPr/>
          <a:p/>
        </p:txBody>
      </p:sp>
      <p:sp>
        <p:nvSpPr>
          <p:cNvPr id="48" name="Text 46"/>
          <p:cNvSpPr txBox="1"/>
          <p:nvPr/>
        </p:nvSpPr>
        <p:spPr>
          <a:xfrm>
            <a:off x="7355434" y="5422392"/>
            <a:ext cx="1249070" cy="75895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監査ログ</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誰が・いつ・何を見たか</a:t>
            </a:r>
            <a:endParaRPr lang="en-US" sz="1050" dirty="0"/>
          </a:p>
        </p:txBody>
      </p:sp>
      <p:sp>
        <p:nvSpPr>
          <p:cNvPr id="49" name="Shape 47"/>
          <p:cNvSpPr/>
          <p:nvPr/>
        </p:nvSpPr>
        <p:spPr>
          <a:xfrm>
            <a:off x="9208008" y="2194560"/>
            <a:ext cx="2377440" cy="1481328"/>
          </a:xfrm>
          <a:prstGeom prst="rect">
            <a:avLst/>
          </a:prstGeom>
          <a:solidFill>
            <a:srgbClr val="FDEEEE"/>
          </a:solidFill>
          <a:ln w="15875">
            <a:solidFill>
              <a:srgbClr val="CE0000"/>
            </a:solidFill>
            <a:prstDash val="solid"/>
          </a:ln>
        </p:spPr>
        <p:txBody>
          <a:bodyPr/>
          <a:p/>
        </p:txBody>
      </p:sp>
      <p:sp>
        <p:nvSpPr>
          <p:cNvPr id="50" name="Text 48"/>
          <p:cNvSpPr txBox="1"/>
          <p:nvPr/>
        </p:nvSpPr>
        <p:spPr>
          <a:xfrm>
            <a:off x="9299448" y="2249424"/>
            <a:ext cx="2194560" cy="1389888"/>
          </a:xfrm>
          <a:prstGeom prst="rect">
            <a:avLst/>
          </a:prstGeom>
          <a:noFill/>
          <a:ln/>
        </p:spPr>
        <p:txBody>
          <a:bodyPr wrap="square" lIns="0" tIns="0" rIns="0" bIns="0" rtlCol="0" anchor="t"/>
          <a:lstStyle/>
          <a:p>
            <a:pPr indent="0" marL="0">
              <a:lnSpc>
                <a:spcPct val="110000"/>
              </a:lnSpc>
              <a:buNone/>
            </a:pPr>
            <a:r>
              <a:rPr lang="en-US" sz="1100" b="1" dirty="0">
                <a:solidFill>
                  <a:srgbClr val="CE0000"/>
                </a:solidFill>
                <a:latin typeface="Noto Sans JP" pitchFamily="34" charset="0"/>
                <a:ea typeface="Noto Sans JP" pitchFamily="34" charset="-122"/>
                <a:cs typeface="Noto Sans JP" pitchFamily="34" charset="-120"/>
              </a:rPr>
              <a:t>つながない</a:t>
            </a:r>
            <a:endParaRPr lang="en-US" sz="1100" dirty="0"/>
          </a:p>
          <a:p>
            <a:pPr indent="0" marL="0">
              <a:lnSpc>
                <a:spcPct val="110000"/>
              </a:lnSpc>
              <a:buNone/>
            </a:pPr>
            <a:r>
              <a:rPr lang="en-US" sz="950" dirty="0">
                <a:solidFill>
                  <a:srgbClr val="1A1A1A"/>
                </a:solidFill>
                <a:latin typeface="Noto Sans JP" pitchFamily="34" charset="0"/>
                <a:ea typeface="Noto Sans JP" pitchFamily="34" charset="-122"/>
                <a:cs typeface="Noto Sans JP" pitchFamily="34" charset="-120"/>
              </a:rPr>
              <a:t>融資・格付け・人事評価のシステム。判定の結果を流さず、記録を評価に使わない</a:t>
            </a:r>
            <a:endParaRPr lang="en-US" sz="1100" dirty="0"/>
          </a:p>
        </p:txBody>
      </p:sp>
      <p:sp>
        <p:nvSpPr>
          <p:cNvPr id="51" name="Shape 49"/>
          <p:cNvSpPr/>
          <p:nvPr/>
        </p:nvSpPr>
        <p:spPr>
          <a:xfrm>
            <a:off x="9208008" y="3886200"/>
            <a:ext cx="2377440" cy="585216"/>
          </a:xfrm>
          <a:prstGeom prst="rect">
            <a:avLst/>
          </a:prstGeom>
          <a:solidFill>
            <a:srgbClr val="FFFFFF"/>
          </a:solidFill>
          <a:ln w="15875">
            <a:solidFill>
              <a:srgbClr val="0017C1"/>
            </a:solidFill>
            <a:prstDash val="solid"/>
          </a:ln>
        </p:spPr>
        <p:txBody>
          <a:bodyPr/>
          <a:p/>
        </p:txBody>
      </p:sp>
      <p:sp>
        <p:nvSpPr>
          <p:cNvPr id="52" name="Text 50"/>
          <p:cNvSpPr txBox="1"/>
          <p:nvPr/>
        </p:nvSpPr>
        <p:spPr>
          <a:xfrm>
            <a:off x="9299448" y="3941064"/>
            <a:ext cx="2194560" cy="493776"/>
          </a:xfrm>
          <a:prstGeom prst="rect">
            <a:avLst/>
          </a:prstGeom>
          <a:noFill/>
          <a:ln/>
        </p:spPr>
        <p:txBody>
          <a:bodyPr wrap="square" lIns="0" tIns="0" rIns="0" bIns="0" rtlCol="0" anchor="t"/>
          <a:lstStyle/>
          <a:p>
            <a:pPr indent="0" marL="0">
              <a:lnSpc>
                <a:spcPct val="110000"/>
              </a:lnSpc>
              <a:buNone/>
            </a:pPr>
            <a:r>
              <a:rPr lang="en-US" sz="1100" b="1" dirty="0">
                <a:solidFill>
                  <a:srgbClr val="0017C1"/>
                </a:solidFill>
                <a:latin typeface="Noto Sans JP" pitchFamily="34" charset="0"/>
                <a:ea typeface="Noto Sans JP" pitchFamily="34" charset="-122"/>
                <a:cs typeface="Noto Sans JP" pitchFamily="34" charset="-120"/>
              </a:rPr>
              <a:t>公的なサイト（9 ページ）</a:t>
            </a:r>
            <a:endParaRPr lang="en-US" sz="1100" dirty="0"/>
          </a:p>
          <a:p>
            <a:pPr indent="0" marL="0">
              <a:lnSpc>
                <a:spcPct val="110000"/>
              </a:lnSpc>
              <a:buNone/>
            </a:pPr>
            <a:r>
              <a:rPr lang="en-US" sz="950" dirty="0">
                <a:solidFill>
                  <a:srgbClr val="1A1A1A"/>
                </a:solidFill>
                <a:latin typeface="Noto Sans JP" pitchFamily="34" charset="0"/>
                <a:ea typeface="Noto Sans JP" pitchFamily="34" charset="-122"/>
                <a:cs typeface="Noto Sans JP" pitchFamily="34" charset="-120"/>
              </a:rPr>
              <a:t>中小機構・国税庁を ⓪ 収集</a:t>
            </a:r>
            <a:endParaRPr lang="en-US" sz="1100" dirty="0"/>
          </a:p>
        </p:txBody>
      </p:sp>
      <p:sp>
        <p:nvSpPr>
          <p:cNvPr id="53" name="Shape 51"/>
          <p:cNvSpPr/>
          <p:nvPr/>
        </p:nvSpPr>
        <p:spPr>
          <a:xfrm>
            <a:off x="8833104" y="4178808"/>
            <a:ext cx="338328" cy="0"/>
          </a:xfrm>
          <a:prstGeom prst="line">
            <a:avLst/>
          </a:prstGeom>
          <a:noFill/>
          <a:ln w="19050">
            <a:solidFill>
              <a:srgbClr val="0017C1"/>
            </a:solidFill>
            <a:prstDash val="solid"/>
            <a:headEnd type="triangle"/>
          </a:ln>
        </p:spPr>
        <p:txBody>
          <a:bodyPr/>
          <a:p/>
        </p:txBody>
      </p:sp>
      <p:sp>
        <p:nvSpPr>
          <p:cNvPr id="54" name="Shape 52"/>
          <p:cNvSpPr/>
          <p:nvPr/>
        </p:nvSpPr>
        <p:spPr>
          <a:xfrm>
            <a:off x="9208008" y="4562856"/>
            <a:ext cx="2377440" cy="585216"/>
          </a:xfrm>
          <a:prstGeom prst="rect">
            <a:avLst/>
          </a:prstGeom>
          <a:solidFill>
            <a:srgbClr val="E6F5EC"/>
          </a:solidFill>
          <a:ln w="15875">
            <a:solidFill>
              <a:srgbClr val="197A4B"/>
            </a:solidFill>
            <a:prstDash val="dash"/>
          </a:ln>
        </p:spPr>
        <p:txBody>
          <a:bodyPr/>
          <a:p/>
        </p:txBody>
      </p:sp>
      <p:sp>
        <p:nvSpPr>
          <p:cNvPr id="55" name="Text 53"/>
          <p:cNvSpPr txBox="1"/>
          <p:nvPr/>
        </p:nvSpPr>
        <p:spPr>
          <a:xfrm>
            <a:off x="9299448" y="4617720"/>
            <a:ext cx="2194560" cy="493776"/>
          </a:xfrm>
          <a:prstGeom prst="rect">
            <a:avLst/>
          </a:prstGeom>
          <a:noFill/>
          <a:ln/>
        </p:spPr>
        <p:txBody>
          <a:bodyPr wrap="square" lIns="0" tIns="0" rIns="0" bIns="0" rtlCol="0" anchor="t"/>
          <a:lstStyle/>
          <a:p>
            <a:pPr indent="0" marL="0">
              <a:lnSpc>
                <a:spcPct val="110000"/>
              </a:lnSpc>
              <a:buNone/>
            </a:pPr>
            <a:r>
              <a:rPr lang="en-US" sz="1100" b="1" dirty="0">
                <a:solidFill>
                  <a:srgbClr val="197A4B"/>
                </a:solidFill>
                <a:latin typeface="Noto Sans JP" pitchFamily="34" charset="0"/>
                <a:ea typeface="Noto Sans JP" pitchFamily="34" charset="-122"/>
                <a:cs typeface="Noto Sans JP" pitchFamily="34" charset="-120"/>
              </a:rPr>
              <a:t>LLM（任意・OpenAI）</a:t>
            </a:r>
            <a:endParaRPr lang="en-US" sz="1100" dirty="0"/>
          </a:p>
          <a:p>
            <a:pPr indent="0" marL="0">
              <a:lnSpc>
                <a:spcPct val="110000"/>
              </a:lnSpc>
              <a:buNone/>
            </a:pPr>
            <a:r>
              <a:rPr lang="en-US" sz="950" dirty="0">
                <a:solidFill>
                  <a:srgbClr val="1A1A1A"/>
                </a:solidFill>
                <a:latin typeface="Noto Sans JP" pitchFamily="34" charset="0"/>
                <a:ea typeface="Noto Sans JP" pitchFamily="34" charset="-122"/>
                <a:cs typeface="Noto Sans JP" pitchFamily="34" charset="-120"/>
              </a:rPr>
              <a:t>抽出・理由文・助言。無ければ模擬</a:t>
            </a:r>
            <a:endParaRPr lang="en-US" sz="1100" dirty="0"/>
          </a:p>
        </p:txBody>
      </p:sp>
      <p:sp>
        <p:nvSpPr>
          <p:cNvPr id="56" name="Shape 54"/>
          <p:cNvSpPr/>
          <p:nvPr/>
        </p:nvSpPr>
        <p:spPr>
          <a:xfrm>
            <a:off x="8833104" y="4855464"/>
            <a:ext cx="338328" cy="0"/>
          </a:xfrm>
          <a:prstGeom prst="line">
            <a:avLst/>
          </a:prstGeom>
          <a:noFill/>
          <a:ln w="19050">
            <a:solidFill>
              <a:srgbClr val="197A4B"/>
            </a:solidFill>
            <a:prstDash val="dash"/>
            <a:headEnd type="triangle"/>
          </a:ln>
        </p:spPr>
        <p:txBody>
          <a:bodyPr/>
          <a:p/>
        </p:txBody>
      </p:sp>
      <p:sp>
        <p:nvSpPr>
          <p:cNvPr id="57" name="Shape 55"/>
          <p:cNvSpPr/>
          <p:nvPr/>
        </p:nvSpPr>
        <p:spPr>
          <a:xfrm>
            <a:off x="9208008" y="5367528"/>
            <a:ext cx="2377440" cy="868680"/>
          </a:xfrm>
          <a:prstGeom prst="rect">
            <a:avLst/>
          </a:prstGeom>
          <a:solidFill>
            <a:srgbClr val="FFFFFF"/>
          </a:solidFill>
          <a:ln w="15875">
            <a:solidFill>
              <a:srgbClr val="806300"/>
            </a:solidFill>
            <a:prstDash val="solid"/>
          </a:ln>
        </p:spPr>
        <p:txBody>
          <a:bodyPr/>
          <a:p/>
        </p:txBody>
      </p:sp>
      <p:sp>
        <p:nvSpPr>
          <p:cNvPr id="58" name="Text 56"/>
          <p:cNvSpPr txBox="1"/>
          <p:nvPr/>
        </p:nvSpPr>
        <p:spPr>
          <a:xfrm>
            <a:off x="9299448" y="5422392"/>
            <a:ext cx="2194560" cy="777240"/>
          </a:xfrm>
          <a:prstGeom prst="rect">
            <a:avLst/>
          </a:prstGeom>
          <a:noFill/>
          <a:ln/>
        </p:spPr>
        <p:txBody>
          <a:bodyPr wrap="square" lIns="0" tIns="0" rIns="0" bIns="0" rtlCol="0" anchor="t"/>
          <a:lstStyle/>
          <a:p>
            <a:pPr indent="0" marL="0">
              <a:lnSpc>
                <a:spcPct val="110000"/>
              </a:lnSpc>
              <a:buNone/>
            </a:pPr>
            <a:r>
              <a:rPr lang="en-US" sz="1100" b="1" dirty="0">
                <a:solidFill>
                  <a:srgbClr val="806300"/>
                </a:solidFill>
                <a:latin typeface="Noto Sans JP" pitchFamily="34" charset="0"/>
                <a:ea typeface="Noto Sans JP" pitchFamily="34" charset="-122"/>
                <a:cs typeface="Noto Sans JP" pitchFamily="34" charset="-120"/>
              </a:rPr>
              <a:t>合成データ（架空）</a:t>
            </a:r>
            <a:endParaRPr lang="en-US" sz="1100" dirty="0"/>
          </a:p>
          <a:p>
            <a:pPr indent="0" marL="0">
              <a:lnSpc>
                <a:spcPct val="110000"/>
              </a:lnSpc>
              <a:buNone/>
            </a:pPr>
            <a:r>
              <a:rPr lang="en-US" sz="950" dirty="0">
                <a:solidFill>
                  <a:srgbClr val="1A1A1A"/>
                </a:solidFill>
                <a:latin typeface="Noto Sans JP" pitchFamily="34" charset="0"/>
                <a:ea typeface="Noto Sans JP" pitchFamily="34" charset="-122"/>
                <a:cs typeface="Noto Sans JP" pitchFamily="34" charset="-120"/>
              </a:rPr>
              <a:t>最初に取り込む（10 社・日報 79 件）</a:t>
            </a:r>
            <a:endParaRPr lang="en-US" sz="1100" dirty="0"/>
          </a:p>
        </p:txBody>
      </p:sp>
      <p:sp>
        <p:nvSpPr>
          <p:cNvPr id="59" name="Shape 57"/>
          <p:cNvSpPr/>
          <p:nvPr/>
        </p:nvSpPr>
        <p:spPr>
          <a:xfrm>
            <a:off x="8833104" y="5797296"/>
            <a:ext cx="338328" cy="0"/>
          </a:xfrm>
          <a:prstGeom prst="line">
            <a:avLst/>
          </a:prstGeom>
          <a:noFill/>
          <a:ln w="19050">
            <a:solidFill>
              <a:srgbClr val="806300"/>
            </a:solidFill>
            <a:prstDash val="solid"/>
            <a:headEnd type="triangle"/>
          </a:ln>
        </p:spPr>
        <p:txBody>
          <a:bodyPr/>
          <a:p/>
        </p:txBody>
      </p:sp>
      <p:sp>
        <p:nvSpPr>
          <p:cNvPr id="60" name="Text 58"/>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公開：GitHub（非公開リポジトリ）→ Streamlit Community Cloud。認証は SFA、見える範囲（認可）はツムグが役割で決める</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予兆の判断に、現場だからわかる知見を使う</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データだけで決めない。ベテランの勘と判断基準を言葉にして形式知にし、記録の事実に当てはめる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19</a:t>
            </a:r>
            <a:endParaRPr lang="en-US" sz="1200" dirty="0"/>
          </a:p>
        </p:txBody>
      </p:sp>
      <p:sp>
        <p:nvSpPr>
          <p:cNvPr id="8" name="Shape 6"/>
          <p:cNvSpPr/>
          <p:nvPr/>
        </p:nvSpPr>
        <p:spPr>
          <a:xfrm>
            <a:off x="612648" y="2286000"/>
            <a:ext cx="3246120" cy="251460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95528" y="2450592"/>
            <a:ext cx="2880360" cy="2240280"/>
          </a:xfrm>
          <a:prstGeom prst="rect">
            <a:avLst/>
          </a:prstGeom>
          <a:noFill/>
          <a:ln/>
        </p:spPr>
        <p:txBody>
          <a:bodyPr wrap="square" lIns="0" tIns="0" rIns="0" bIns="0" rtlCol="0" anchor="t"/>
          <a:lstStyle/>
          <a:p>
            <a:pPr indent="0" marL="0">
              <a:spcAft>
                <a:spcPts val="600"/>
              </a:spcAft>
              <a:buNone/>
            </a:pPr>
            <a:r>
              <a:rPr lang="en-US" sz="1500" b="1" dirty="0">
                <a:solidFill>
                  <a:srgbClr val="1A1A1A"/>
                </a:solidFill>
                <a:latin typeface="Noto Sans JP" pitchFamily="34" charset="0"/>
                <a:ea typeface="Noto Sans JP" pitchFamily="34" charset="-122"/>
                <a:cs typeface="Noto Sans JP" pitchFamily="34" charset="-120"/>
              </a:rPr>
              <a:t>記録の事実（データ）</a:t>
            </a:r>
            <a:endParaRPr lang="en-US" sz="1300" dirty="0"/>
          </a:p>
          <a:p>
            <a:pPr indent="0" marL="0">
              <a:spcAft>
                <a:spcPts val="600"/>
              </a:spcAft>
              <a:buNone/>
            </a:pPr>
            <a:r>
              <a:rPr lang="en-US" sz="600" dirty="0">
                <a:solidFill>
                  <a:srgbClr val="1A1A1A"/>
                </a:solidFill>
                <a:latin typeface="Noto Sans JP" pitchFamily="34" charset="0"/>
                <a:ea typeface="Noto Sans JP" pitchFamily="34" charset="-122"/>
                <a:cs typeface="Noto Sans JP" pitchFamily="34" charset="-120"/>
              </a:rPr>
              <a:t> </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日報の記述（いつ・誰が・何を）</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担当の移り変わり</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顧客マスタ（経営者の年齢・業歴）</a:t>
            </a:r>
            <a:endParaRPr lang="en-US" sz="1300" dirty="0"/>
          </a:p>
        </p:txBody>
      </p:sp>
      <p:sp>
        <p:nvSpPr>
          <p:cNvPr id="10" name="Text 8"/>
          <p:cNvSpPr txBox="1"/>
          <p:nvPr/>
        </p:nvSpPr>
        <p:spPr>
          <a:xfrm>
            <a:off x="3904488" y="2286000"/>
            <a:ext cx="457200" cy="2514600"/>
          </a:xfrm>
          <a:prstGeom prst="rect">
            <a:avLst/>
          </a:prstGeom>
          <a:noFill/>
          <a:ln/>
        </p:spPr>
        <p:txBody>
          <a:bodyPr wrap="square" lIns="0" tIns="0" rIns="0" bIns="0" rtlCol="0" anchor="ctr"/>
          <a:lstStyle/>
          <a:p>
            <a:pPr algn="ctr" indent="0" marL="0">
              <a:buNone/>
            </a:pPr>
            <a:r>
              <a:rPr lang="en-US" sz="2800" b="1" dirty="0">
                <a:solidFill>
                  <a:srgbClr val="666666"/>
                </a:solidFill>
                <a:latin typeface="Noto Sans JP" pitchFamily="34" charset="0"/>
                <a:ea typeface="Noto Sans JP" pitchFamily="34" charset="-122"/>
                <a:cs typeface="Noto Sans JP" pitchFamily="34" charset="-120"/>
              </a:rPr>
              <a:t>×</a:t>
            </a:r>
            <a:endParaRPr lang="en-US" sz="2800" dirty="0"/>
          </a:p>
        </p:txBody>
      </p:sp>
      <p:sp>
        <p:nvSpPr>
          <p:cNvPr id="11" name="Shape 9"/>
          <p:cNvSpPr/>
          <p:nvPr/>
        </p:nvSpPr>
        <p:spPr>
          <a:xfrm>
            <a:off x="4407408" y="2286000"/>
            <a:ext cx="4206240" cy="2514600"/>
          </a:xfrm>
          <a:prstGeom prst="rect">
            <a:avLst/>
          </a:prstGeom>
          <a:solidFill>
            <a:srgbClr val="E8F1FE"/>
          </a:solidFill>
          <a:ln w="12700">
            <a:solidFill>
              <a:srgbClr val="E8F1FE"/>
            </a:solidFill>
            <a:prstDash val="solid"/>
          </a:ln>
        </p:spPr>
        <p:txBody>
          <a:bodyPr/>
          <a:p/>
        </p:txBody>
      </p:sp>
      <p:sp>
        <p:nvSpPr>
          <p:cNvPr id="12" name="Text 10"/>
          <p:cNvSpPr txBox="1"/>
          <p:nvPr/>
        </p:nvSpPr>
        <p:spPr>
          <a:xfrm>
            <a:off x="4590288" y="2450592"/>
            <a:ext cx="3840480" cy="2240280"/>
          </a:xfrm>
          <a:prstGeom prst="rect">
            <a:avLst/>
          </a:prstGeom>
          <a:noFill/>
          <a:ln/>
        </p:spPr>
        <p:txBody>
          <a:bodyPr wrap="square" lIns="0" tIns="0" rIns="0" bIns="0" rtlCol="0" anchor="t"/>
          <a:lstStyle/>
          <a:p>
            <a:pPr indent="0" marL="0">
              <a:spcAft>
                <a:spcPts val="600"/>
              </a:spcAft>
              <a:buNone/>
            </a:pPr>
            <a:r>
              <a:rPr lang="en-US" sz="1500" b="1" dirty="0">
                <a:solidFill>
                  <a:srgbClr val="0017C1"/>
                </a:solidFill>
                <a:latin typeface="Noto Sans JP" pitchFamily="34" charset="0"/>
                <a:ea typeface="Noto Sans JP" pitchFamily="34" charset="-122"/>
                <a:cs typeface="Noto Sans JP" pitchFamily="34" charset="-120"/>
              </a:rPr>
              <a:t>現場の知見（暗黙知を言葉に）</a:t>
            </a:r>
            <a:endParaRPr lang="en-US" sz="1300" dirty="0"/>
          </a:p>
          <a:p>
            <a:pPr indent="0" marL="0">
              <a:spcAft>
                <a:spcPts val="600"/>
              </a:spcAft>
              <a:buNone/>
            </a:pPr>
            <a:r>
              <a:rPr lang="en-US" sz="600" dirty="0">
                <a:solidFill>
                  <a:srgbClr val="1A1A1A"/>
                </a:solidFill>
                <a:latin typeface="Noto Sans JP" pitchFamily="34" charset="0"/>
                <a:ea typeface="Noto Sans JP" pitchFamily="34" charset="-122"/>
                <a:cs typeface="Noto Sans JP" pitchFamily="34" charset="-120"/>
              </a:rPr>
              <a:t> </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何を予兆とみなすか（工場長の退職 → 技術継承の属人化）</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どう重なると意味があるか（単独では知らせない）</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いつ黙るか（迷う場合は提示しない）</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伝え聞きの扱い（「らしい」は未確認）</a:t>
            </a:r>
            <a:endParaRPr lang="en-US" sz="1300" dirty="0"/>
          </a:p>
        </p:txBody>
      </p:sp>
      <p:sp>
        <p:nvSpPr>
          <p:cNvPr id="13" name="Shape 11"/>
          <p:cNvSpPr/>
          <p:nvPr/>
        </p:nvSpPr>
        <p:spPr>
          <a:xfrm>
            <a:off x="8686800" y="3543300"/>
            <a:ext cx="411480" cy="0"/>
          </a:xfrm>
          <a:prstGeom prst="line">
            <a:avLst/>
          </a:prstGeom>
          <a:noFill/>
          <a:ln w="19050">
            <a:solidFill>
              <a:srgbClr val="666666"/>
            </a:solidFill>
            <a:prstDash val="solid"/>
            <a:tailEnd type="triangle"/>
          </a:ln>
        </p:spPr>
        <p:txBody>
          <a:bodyPr/>
          <a:p/>
        </p:txBody>
      </p:sp>
      <p:sp>
        <p:nvSpPr>
          <p:cNvPr id="14" name="Shape 12"/>
          <p:cNvSpPr/>
          <p:nvPr/>
        </p:nvSpPr>
        <p:spPr>
          <a:xfrm>
            <a:off x="9180576" y="2286000"/>
            <a:ext cx="2404872" cy="2514600"/>
          </a:xfrm>
          <a:prstGeom prst="rect">
            <a:avLst/>
          </a:prstGeom>
          <a:solidFill>
            <a:srgbClr val="E6F5EC"/>
          </a:solidFill>
          <a:ln w="12700">
            <a:solidFill>
              <a:srgbClr val="E6F5EC"/>
            </a:solidFill>
            <a:prstDash val="solid"/>
          </a:ln>
        </p:spPr>
        <p:txBody>
          <a:bodyPr/>
          <a:p/>
        </p:txBody>
      </p:sp>
      <p:sp>
        <p:nvSpPr>
          <p:cNvPr id="15" name="Text 13"/>
          <p:cNvSpPr txBox="1"/>
          <p:nvPr/>
        </p:nvSpPr>
        <p:spPr>
          <a:xfrm>
            <a:off x="9363456" y="2450592"/>
            <a:ext cx="2039112" cy="2240280"/>
          </a:xfrm>
          <a:prstGeom prst="rect">
            <a:avLst/>
          </a:prstGeom>
          <a:noFill/>
          <a:ln/>
        </p:spPr>
        <p:txBody>
          <a:bodyPr wrap="square" lIns="0" tIns="0" rIns="0" bIns="0" rtlCol="0" anchor="t"/>
          <a:lstStyle/>
          <a:p>
            <a:pPr indent="0" marL="0">
              <a:lnSpc>
                <a:spcPct val="115000"/>
              </a:lnSpc>
              <a:buNone/>
            </a:pPr>
            <a:r>
              <a:rPr lang="en-US" sz="1500" b="1" dirty="0">
                <a:solidFill>
                  <a:srgbClr val="197A4B"/>
                </a:solidFill>
                <a:latin typeface="Noto Sans JP" pitchFamily="34" charset="0"/>
                <a:ea typeface="Noto Sans JP" pitchFamily="34" charset="-122"/>
                <a:cs typeface="Noto Sans JP" pitchFamily="34" charset="-120"/>
              </a:rPr>
              <a:t>判定</a:t>
            </a:r>
            <a:endParaRPr lang="en-US" sz="1500" dirty="0"/>
          </a:p>
          <a:p>
            <a:pPr indent="0" marL="0">
              <a:lnSpc>
                <a:spcPct val="115000"/>
              </a:lnSpc>
              <a:buNone/>
            </a:pPr>
            <a:r>
              <a:rPr lang="en-US" sz="600" dirty="0">
                <a:solidFill>
                  <a:srgbClr val="1A1A1A"/>
                </a:solidFill>
                <a:latin typeface="Noto Sans JP" pitchFamily="34" charset="0"/>
                <a:ea typeface="Noto Sans JP" pitchFamily="34" charset="-122"/>
                <a:cs typeface="Noto Sans JP" pitchFamily="34" charset="-120"/>
              </a:rPr>
              <a:t> </a:t>
            </a:r>
            <a:endParaRPr lang="en-US" sz="1500" dirty="0"/>
          </a:p>
          <a:p>
            <a:pPr indent="0" marL="0">
              <a:lnSpc>
                <a:spcPct val="115000"/>
              </a:lnSpc>
              <a:buNone/>
            </a:pPr>
            <a:r>
              <a:rPr lang="en-US" sz="1300" dirty="0">
                <a:solidFill>
                  <a:srgbClr val="1A1A1A"/>
                </a:solidFill>
                <a:latin typeface="Noto Sans JP" pitchFamily="34" charset="0"/>
                <a:ea typeface="Noto Sans JP" pitchFamily="34" charset="-122"/>
                <a:cs typeface="Noto Sans JP" pitchFamily="34" charset="-120"/>
              </a:rPr>
              <a:t>種類の異なる予兆が 3 つ以上重なり、うち 2 系統が直近 12 か月に出たときだけ知らせる</a:t>
            </a:r>
            <a:endParaRPr lang="en-US" sz="1500" dirty="0"/>
          </a:p>
          <a:p>
            <a:pPr indent="0" marL="0">
              <a:lnSpc>
                <a:spcPct val="115000"/>
              </a:lnSpc>
              <a:buNone/>
            </a:pPr>
            <a:r>
              <a:rPr lang="en-US" sz="600" dirty="0">
                <a:solidFill>
                  <a:srgbClr val="1A1A1A"/>
                </a:solidFill>
                <a:latin typeface="Noto Sans JP" pitchFamily="34" charset="0"/>
                <a:ea typeface="Noto Sans JP" pitchFamily="34" charset="-122"/>
                <a:cs typeface="Noto Sans JP" pitchFamily="34" charset="-120"/>
              </a:rPr>
              <a:t> </a:t>
            </a:r>
            <a:endParaRPr lang="en-US" sz="1500" dirty="0"/>
          </a:p>
          <a:p>
            <a:pPr indent="0" marL="0">
              <a:lnSpc>
                <a:spcPct val="115000"/>
              </a:lnSpc>
              <a:buNone/>
            </a:pPr>
            <a:r>
              <a:rPr lang="en-US" sz="1100" dirty="0">
                <a:solidFill>
                  <a:srgbClr val="666666"/>
                </a:solidFill>
                <a:latin typeface="Noto Sans JP" pitchFamily="34" charset="0"/>
                <a:ea typeface="Noto Sans JP" pitchFamily="34" charset="-122"/>
                <a:cs typeface="Noto Sans JP" pitchFamily="34" charset="-120"/>
              </a:rPr>
              <a:t>言葉を条件に訳したもの。言葉と条件は並べて持つ</a:t>
            </a:r>
            <a:endParaRPr lang="en-US" sz="1500" dirty="0"/>
          </a:p>
        </p:txBody>
      </p:sp>
      <p:sp>
        <p:nvSpPr>
          <p:cNvPr id="16" name="Text 14"/>
          <p:cNvSpPr txBox="1"/>
          <p:nvPr/>
        </p:nvSpPr>
        <p:spPr>
          <a:xfrm>
            <a:off x="612648" y="4983480"/>
            <a:ext cx="5486400" cy="320040"/>
          </a:xfrm>
          <a:prstGeom prst="rect">
            <a:avLst/>
          </a:prstGeom>
          <a:noFill/>
          <a:ln/>
        </p:spPr>
        <p:txBody>
          <a:bodyPr wrap="square" lIns="0" tIns="0" rIns="0" bIns="0" rtlCol="0" anchor="t"/>
          <a:lstStyle/>
          <a:p>
            <a:pPr indent="0" marL="0">
              <a:buNone/>
            </a:pPr>
            <a:r>
              <a:rPr lang="en-US" sz="1400" b="1" dirty="0">
                <a:solidFill>
                  <a:srgbClr val="806300"/>
                </a:solidFill>
                <a:latin typeface="Noto Sans JP" pitchFamily="34" charset="0"/>
                <a:ea typeface="Noto Sans JP" pitchFamily="34" charset="-122"/>
                <a:cs typeface="Noto Sans JP" pitchFamily="34" charset="-120"/>
              </a:rPr>
              <a:t>一人の勘に頼らないために</a:t>
            </a:r>
            <a:endParaRPr lang="en-US" sz="1400" dirty="0"/>
          </a:p>
        </p:txBody>
      </p:sp>
      <p:sp>
        <p:nvSpPr>
          <p:cNvPr id="17" name="Shape 15"/>
          <p:cNvSpPr/>
          <p:nvPr/>
        </p:nvSpPr>
        <p:spPr>
          <a:xfrm>
            <a:off x="612648" y="5349240"/>
            <a:ext cx="3535680" cy="886968"/>
          </a:xfrm>
          <a:prstGeom prst="rect">
            <a:avLst/>
          </a:prstGeom>
          <a:solidFill>
            <a:srgbClr val="FBF5E0"/>
          </a:solidFill>
          <a:ln w="12700">
            <a:solidFill>
              <a:srgbClr val="FBF5E0"/>
            </a:solidFill>
            <a:prstDash val="solid"/>
          </a:ln>
        </p:spPr>
        <p:txBody>
          <a:bodyPr/>
          <a:p/>
        </p:txBody>
      </p:sp>
      <p:sp>
        <p:nvSpPr>
          <p:cNvPr id="18" name="Text 16"/>
          <p:cNvSpPr txBox="1"/>
          <p:nvPr/>
        </p:nvSpPr>
        <p:spPr>
          <a:xfrm>
            <a:off x="795528" y="5486400"/>
            <a:ext cx="3169920" cy="658368"/>
          </a:xfrm>
          <a:prstGeom prst="rect">
            <a:avLst/>
          </a:prstGeom>
          <a:noFill/>
          <a:ln/>
        </p:spPr>
        <p:txBody>
          <a:bodyPr wrap="square" lIns="0" tIns="0" rIns="0" bIns="0" rtlCol="0" anchor="t"/>
          <a:lstStyle/>
          <a:p>
            <a:pPr indent="0" marL="0">
              <a:lnSpc>
                <a:spcPct val="120000"/>
              </a:lnSpc>
              <a:spcAft>
                <a:spcPts val="300"/>
              </a:spcAft>
              <a:buNone/>
            </a:pPr>
            <a:r>
              <a:rPr lang="en-US" sz="1350" b="1" dirty="0">
                <a:solidFill>
                  <a:srgbClr val="1A1A1A"/>
                </a:solidFill>
                <a:latin typeface="Noto Sans JP" pitchFamily="34" charset="0"/>
                <a:ea typeface="Noto Sans JP" pitchFamily="34" charset="-122"/>
                <a:cs typeface="Noto Sans JP" pitchFamily="34" charset="-120"/>
              </a:rPr>
              <a:t>書く・見直すのは本部</a:t>
            </a:r>
            <a:endParaRPr lang="en-US" sz="135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事業承継支援室が判断基準を言葉で書き、本部の画面で見直す</a:t>
            </a:r>
            <a:endParaRPr lang="en-US" sz="1350" dirty="0"/>
          </a:p>
        </p:txBody>
      </p:sp>
      <p:sp>
        <p:nvSpPr>
          <p:cNvPr id="19" name="Shape 17"/>
          <p:cNvSpPr/>
          <p:nvPr/>
        </p:nvSpPr>
        <p:spPr>
          <a:xfrm>
            <a:off x="4331208" y="5349240"/>
            <a:ext cx="3535680" cy="886968"/>
          </a:xfrm>
          <a:prstGeom prst="rect">
            <a:avLst/>
          </a:prstGeom>
          <a:solidFill>
            <a:srgbClr val="FBF5E0"/>
          </a:solidFill>
          <a:ln w="12700">
            <a:solidFill>
              <a:srgbClr val="FBF5E0"/>
            </a:solidFill>
            <a:prstDash val="solid"/>
          </a:ln>
        </p:spPr>
        <p:txBody>
          <a:bodyPr/>
          <a:p/>
        </p:txBody>
      </p:sp>
      <p:sp>
        <p:nvSpPr>
          <p:cNvPr id="20" name="Text 18"/>
          <p:cNvSpPr txBox="1"/>
          <p:nvPr/>
        </p:nvSpPr>
        <p:spPr>
          <a:xfrm>
            <a:off x="4514088" y="5486400"/>
            <a:ext cx="3169920" cy="658368"/>
          </a:xfrm>
          <a:prstGeom prst="rect">
            <a:avLst/>
          </a:prstGeom>
          <a:noFill/>
          <a:ln/>
        </p:spPr>
        <p:txBody>
          <a:bodyPr wrap="square" lIns="0" tIns="0" rIns="0" bIns="0" rtlCol="0" anchor="t"/>
          <a:lstStyle/>
          <a:p>
            <a:pPr indent="0" marL="0">
              <a:lnSpc>
                <a:spcPct val="120000"/>
              </a:lnSpc>
              <a:spcAft>
                <a:spcPts val="300"/>
              </a:spcAft>
              <a:buNone/>
            </a:pPr>
            <a:r>
              <a:rPr lang="en-US" sz="1350" b="1" dirty="0">
                <a:solidFill>
                  <a:srgbClr val="1A1A1A"/>
                </a:solidFill>
                <a:latin typeface="Noto Sans JP" pitchFamily="34" charset="0"/>
                <a:ea typeface="Noto Sans JP" pitchFamily="34" charset="-122"/>
                <a:cs typeface="Noto Sans JP" pitchFamily="34" charset="-120"/>
              </a:rPr>
              <a:t>現場の声で増やす</a:t>
            </a:r>
            <a:endParaRPr lang="en-US" sz="135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くり返し出ている話を、本部が予兆に加えるか判断する</a:t>
            </a:r>
            <a:endParaRPr lang="en-US" sz="1350" dirty="0"/>
          </a:p>
        </p:txBody>
      </p:sp>
      <p:sp>
        <p:nvSpPr>
          <p:cNvPr id="21" name="Shape 19"/>
          <p:cNvSpPr/>
          <p:nvPr/>
        </p:nvSpPr>
        <p:spPr>
          <a:xfrm>
            <a:off x="8049768" y="5349240"/>
            <a:ext cx="3535680" cy="886968"/>
          </a:xfrm>
          <a:prstGeom prst="rect">
            <a:avLst/>
          </a:prstGeom>
          <a:solidFill>
            <a:srgbClr val="FBF5E0"/>
          </a:solidFill>
          <a:ln w="12700">
            <a:solidFill>
              <a:srgbClr val="FBF5E0"/>
            </a:solidFill>
            <a:prstDash val="solid"/>
          </a:ln>
        </p:spPr>
        <p:txBody>
          <a:bodyPr/>
          <a:p/>
        </p:txBody>
      </p:sp>
      <p:sp>
        <p:nvSpPr>
          <p:cNvPr id="22" name="Text 20"/>
          <p:cNvSpPr txBox="1"/>
          <p:nvPr/>
        </p:nvSpPr>
        <p:spPr>
          <a:xfrm>
            <a:off x="8232648" y="5486400"/>
            <a:ext cx="3169920" cy="658368"/>
          </a:xfrm>
          <a:prstGeom prst="rect">
            <a:avLst/>
          </a:prstGeom>
          <a:noFill/>
          <a:ln/>
        </p:spPr>
        <p:txBody>
          <a:bodyPr wrap="square" lIns="0" tIns="0" rIns="0" bIns="0" rtlCol="0" anchor="t"/>
          <a:lstStyle/>
          <a:p>
            <a:pPr indent="0" marL="0">
              <a:lnSpc>
                <a:spcPct val="120000"/>
              </a:lnSpc>
              <a:spcAft>
                <a:spcPts val="300"/>
              </a:spcAft>
              <a:buNone/>
            </a:pPr>
            <a:r>
              <a:rPr lang="en-US" sz="1350" b="1" dirty="0">
                <a:solidFill>
                  <a:srgbClr val="1A1A1A"/>
                </a:solidFill>
                <a:latin typeface="Noto Sans JP" pitchFamily="34" charset="0"/>
                <a:ea typeface="Noto Sans JP" pitchFamily="34" charset="-122"/>
                <a:cs typeface="Noto Sans JP" pitchFamily="34" charset="-120"/>
              </a:rPr>
              <a:t>結果で確かめる</a:t>
            </a:r>
            <a:endParaRPr lang="en-US" sz="135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担当者の反応（対話を始めた・見送り）を見直しの材料にする</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入力 → 処理 → 出力の流れ</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日報 1 件を登録すると、7 つの工程を通り、4 つのまとまりで反応が返る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20</a:t>
            </a:r>
            <a:endParaRPr lang="en-US" sz="1200" dirty="0"/>
          </a:p>
        </p:txBody>
      </p:sp>
      <p:sp>
        <p:nvSpPr>
          <p:cNvPr id="8" name="Shape 6"/>
          <p:cNvSpPr/>
          <p:nvPr/>
        </p:nvSpPr>
        <p:spPr>
          <a:xfrm>
            <a:off x="612648" y="2240280"/>
            <a:ext cx="2926080" cy="274320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95528" y="2377440"/>
            <a:ext cx="2560320" cy="2514600"/>
          </a:xfrm>
          <a:prstGeom prst="rect">
            <a:avLst/>
          </a:prstGeom>
          <a:noFill/>
          <a:ln/>
        </p:spPr>
        <p:txBody>
          <a:bodyPr wrap="square" lIns="0" tIns="0" rIns="0" bIns="0" rtlCol="0" anchor="t"/>
          <a:lstStyle/>
          <a:p>
            <a:pPr indent="0" marL="0">
              <a:lnSpc>
                <a:spcPct val="115000"/>
              </a:lnSpc>
              <a:buNone/>
            </a:pPr>
            <a:r>
              <a:rPr lang="en-US" sz="1200" b="1" dirty="0">
                <a:solidFill>
                  <a:srgbClr val="666666"/>
                </a:solidFill>
                <a:latin typeface="Noto Sans JP" pitchFamily="34" charset="0"/>
                <a:ea typeface="Noto Sans JP" pitchFamily="34" charset="-122"/>
                <a:cs typeface="Noto Sans JP" pitchFamily="34" charset="-120"/>
              </a:rPr>
              <a:t>入力</a:t>
            </a:r>
            <a:endParaRPr lang="en-US" sz="1200" dirty="0"/>
          </a:p>
          <a:p>
            <a:pPr indent="0" marL="0">
              <a:lnSpc>
                <a:spcPct val="115000"/>
              </a:lnSpc>
              <a:buNone/>
            </a:pPr>
            <a:r>
              <a:rPr lang="en-US" sz="1700" b="1" dirty="0">
                <a:solidFill>
                  <a:srgbClr val="1A1A1A"/>
                </a:solidFill>
                <a:latin typeface="Noto Sans JP" pitchFamily="34" charset="0"/>
                <a:ea typeface="Noto Sans JP" pitchFamily="34" charset="-122"/>
                <a:cs typeface="Noto Sans JP" pitchFamily="34" charset="-120"/>
              </a:rPr>
              <a:t>いつもの日報 1 件</a:t>
            </a:r>
            <a:endParaRPr lang="en-US" sz="1200" dirty="0"/>
          </a:p>
          <a:p>
            <a:pPr indent="0" marL="0">
              <a:lnSpc>
                <a:spcPct val="115000"/>
              </a:lnSpc>
              <a:buNone/>
            </a:pPr>
            <a:r>
              <a:rPr lang="en-US" sz="1200" dirty="0">
                <a:solidFill>
                  <a:srgbClr val="666666"/>
                </a:solidFill>
                <a:latin typeface="Noto Sans JP" pitchFamily="34" charset="0"/>
                <a:ea typeface="Noto Sans JP" pitchFamily="34" charset="-122"/>
                <a:cs typeface="Noto Sans JP" pitchFamily="34" charset="-120"/>
              </a:rPr>
              <a:t>面談相手・活動区分・訪問日・業務報告</a:t>
            </a:r>
            <a:endParaRPr lang="en-US" sz="1200" dirty="0"/>
          </a:p>
          <a:p>
            <a:pPr indent="0" marL="0">
              <a:lnSpc>
                <a:spcPct val="115000"/>
              </a:lnSpc>
              <a:buNone/>
            </a:pPr>
            <a:r>
              <a:rPr lang="en-US" sz="800" dirty="0">
                <a:solidFill>
                  <a:srgbClr val="1A1A1A"/>
                </a:solidFill>
                <a:latin typeface="Noto Sans JP" pitchFamily="34" charset="0"/>
                <a:ea typeface="Noto Sans JP" pitchFamily="34" charset="-122"/>
                <a:cs typeface="Noto Sans JP" pitchFamily="34" charset="-120"/>
              </a:rPr>
              <a:t> </a:t>
            </a:r>
            <a:endParaRPr lang="en-US" sz="1200" dirty="0"/>
          </a:p>
          <a:p>
            <a:pPr indent="0" marL="0">
              <a:lnSpc>
                <a:spcPct val="115000"/>
              </a:lnSpc>
              <a:buNone/>
            </a:pPr>
            <a:r>
              <a:rPr lang="en-US" sz="1200" b="1" dirty="0">
                <a:solidFill>
                  <a:srgbClr val="1A1A1A"/>
                </a:solidFill>
                <a:latin typeface="Noto Sans JP" pitchFamily="34" charset="0"/>
                <a:ea typeface="Noto Sans JP" pitchFamily="34" charset="-122"/>
                <a:cs typeface="Noto Sans JP" pitchFamily="34" charset="-120"/>
              </a:rPr>
              <a:t>照らし合わせる材料</a:t>
            </a:r>
            <a:endParaRPr lang="en-US" sz="1200" dirty="0"/>
          </a:p>
          <a:p>
            <a:pPr indent="0" marL="0">
              <a:lnSpc>
                <a:spcPct val="115000"/>
              </a:lnSpc>
              <a:buNone/>
            </a:pPr>
            <a:r>
              <a:rPr lang="en-US" sz="1200" dirty="0">
                <a:solidFill>
                  <a:srgbClr val="666666"/>
                </a:solidFill>
                <a:latin typeface="Noto Sans JP" pitchFamily="34" charset="0"/>
                <a:ea typeface="Noto Sans JP" pitchFamily="34" charset="-122"/>
                <a:cs typeface="Noto Sans JP" pitchFamily="34" charset="-120"/>
              </a:rPr>
              <a:t>過去の記録と担当交代、社内の支援事例、現場の知恵、公的な制度、判定の基準</a:t>
            </a:r>
            <a:endParaRPr lang="en-US" sz="1200" dirty="0"/>
          </a:p>
        </p:txBody>
      </p:sp>
      <p:sp>
        <p:nvSpPr>
          <p:cNvPr id="10" name="Shape 8"/>
          <p:cNvSpPr/>
          <p:nvPr/>
        </p:nvSpPr>
        <p:spPr>
          <a:xfrm>
            <a:off x="3611880" y="3611880"/>
            <a:ext cx="365760" cy="0"/>
          </a:xfrm>
          <a:prstGeom prst="line">
            <a:avLst/>
          </a:prstGeom>
          <a:noFill/>
          <a:ln w="19050">
            <a:solidFill>
              <a:srgbClr val="666666"/>
            </a:solidFill>
            <a:prstDash val="solid"/>
            <a:tailEnd type="triangle"/>
          </a:ln>
        </p:spPr>
        <p:txBody>
          <a:bodyPr/>
          <a:p/>
        </p:txBody>
      </p:sp>
      <p:sp>
        <p:nvSpPr>
          <p:cNvPr id="11" name="Shape 9"/>
          <p:cNvSpPr/>
          <p:nvPr/>
        </p:nvSpPr>
        <p:spPr>
          <a:xfrm>
            <a:off x="4087368" y="2240280"/>
            <a:ext cx="4206240" cy="2743200"/>
          </a:xfrm>
          <a:prstGeom prst="rect">
            <a:avLst/>
          </a:prstGeom>
          <a:solidFill>
            <a:srgbClr val="E8F1FE"/>
          </a:solidFill>
          <a:ln w="12700">
            <a:solidFill>
              <a:srgbClr val="E8F1FE"/>
            </a:solidFill>
            <a:prstDash val="solid"/>
          </a:ln>
        </p:spPr>
        <p:txBody>
          <a:bodyPr/>
          <a:p/>
        </p:txBody>
      </p:sp>
      <p:sp>
        <p:nvSpPr>
          <p:cNvPr id="12" name="Text 10"/>
          <p:cNvSpPr txBox="1"/>
          <p:nvPr/>
        </p:nvSpPr>
        <p:spPr>
          <a:xfrm>
            <a:off x="4270248" y="2331720"/>
            <a:ext cx="1828800" cy="274320"/>
          </a:xfrm>
          <a:prstGeom prst="rect">
            <a:avLst/>
          </a:prstGeom>
          <a:noFill/>
          <a:ln/>
        </p:spPr>
        <p:txBody>
          <a:bodyPr wrap="square" lIns="0" tIns="0" rIns="0" bIns="0" rtlCol="0" anchor="t"/>
          <a:lstStyle/>
          <a:p>
            <a:pPr indent="0" marL="0">
              <a:buNone/>
            </a:pPr>
            <a:r>
              <a:rPr lang="en-US" sz="1200" b="1" dirty="0">
                <a:solidFill>
                  <a:srgbClr val="0017C1"/>
                </a:solidFill>
                <a:latin typeface="Noto Sans JP" pitchFamily="34" charset="0"/>
                <a:ea typeface="Noto Sans JP" pitchFamily="34" charset="-122"/>
                <a:cs typeface="Noto Sans JP" pitchFamily="34" charset="-120"/>
              </a:rPr>
              <a:t>処理</a:t>
            </a:r>
            <a:endParaRPr lang="en-US" sz="1200" dirty="0"/>
          </a:p>
        </p:txBody>
      </p:sp>
      <p:sp>
        <p:nvSpPr>
          <p:cNvPr id="13" name="Text 11"/>
          <p:cNvSpPr txBox="1"/>
          <p:nvPr/>
        </p:nvSpPr>
        <p:spPr>
          <a:xfrm>
            <a:off x="4270248" y="2624328"/>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①</a:t>
            </a:r>
            <a:endParaRPr lang="en-US" sz="1300" dirty="0"/>
          </a:p>
        </p:txBody>
      </p:sp>
      <p:sp>
        <p:nvSpPr>
          <p:cNvPr id="14" name="Text 12"/>
          <p:cNvSpPr txBox="1"/>
          <p:nvPr/>
        </p:nvSpPr>
        <p:spPr>
          <a:xfrm>
            <a:off x="4590288" y="2624328"/>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登録</a:t>
            </a:r>
            <a:endParaRPr lang="en-US" sz="1300" dirty="0"/>
          </a:p>
        </p:txBody>
      </p:sp>
      <p:sp>
        <p:nvSpPr>
          <p:cNvPr id="15" name="Text 13"/>
          <p:cNvSpPr txBox="1"/>
          <p:nvPr/>
        </p:nvSpPr>
        <p:spPr>
          <a:xfrm>
            <a:off x="5641848" y="2624328"/>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二重登録を除く</a:t>
            </a:r>
            <a:endParaRPr lang="en-US" sz="1150" dirty="0"/>
          </a:p>
        </p:txBody>
      </p:sp>
      <p:sp>
        <p:nvSpPr>
          <p:cNvPr id="16" name="Text 14"/>
          <p:cNvSpPr txBox="1"/>
          <p:nvPr/>
        </p:nvSpPr>
        <p:spPr>
          <a:xfrm>
            <a:off x="4270248" y="2953512"/>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②</a:t>
            </a:r>
            <a:endParaRPr lang="en-US" sz="1300" dirty="0"/>
          </a:p>
        </p:txBody>
      </p:sp>
      <p:sp>
        <p:nvSpPr>
          <p:cNvPr id="17" name="Text 15"/>
          <p:cNvSpPr txBox="1"/>
          <p:nvPr/>
        </p:nvSpPr>
        <p:spPr>
          <a:xfrm>
            <a:off x="4590288" y="2953512"/>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抽出</a:t>
            </a:r>
            <a:endParaRPr lang="en-US" sz="1300" dirty="0"/>
          </a:p>
        </p:txBody>
      </p:sp>
      <p:sp>
        <p:nvSpPr>
          <p:cNvPr id="18" name="Text 16"/>
          <p:cNvSpPr txBox="1"/>
          <p:nvPr/>
        </p:nvSpPr>
        <p:spPr>
          <a:xfrm>
            <a:off x="5641848" y="2953512"/>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予兆の言い回し。伝聞は「未確認」</a:t>
            </a:r>
            <a:endParaRPr lang="en-US" sz="1150" dirty="0"/>
          </a:p>
        </p:txBody>
      </p:sp>
      <p:sp>
        <p:nvSpPr>
          <p:cNvPr id="19" name="Text 17"/>
          <p:cNvSpPr txBox="1"/>
          <p:nvPr/>
        </p:nvSpPr>
        <p:spPr>
          <a:xfrm>
            <a:off x="4270248" y="3282696"/>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③</a:t>
            </a:r>
            <a:endParaRPr lang="en-US" sz="1300" dirty="0"/>
          </a:p>
        </p:txBody>
      </p:sp>
      <p:sp>
        <p:nvSpPr>
          <p:cNvPr id="20" name="Text 18"/>
          <p:cNvSpPr txBox="1"/>
          <p:nvPr/>
        </p:nvSpPr>
        <p:spPr>
          <a:xfrm>
            <a:off x="4590288" y="3282696"/>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照合</a:t>
            </a:r>
            <a:endParaRPr lang="en-US" sz="1300" dirty="0"/>
          </a:p>
        </p:txBody>
      </p:sp>
      <p:sp>
        <p:nvSpPr>
          <p:cNvPr id="21" name="Text 19"/>
          <p:cNvSpPr txBox="1"/>
          <p:nvPr/>
        </p:nvSpPr>
        <p:spPr>
          <a:xfrm>
            <a:off x="5641848" y="3282696"/>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過去 36 か月をいつ・誰が・何回</a:t>
            </a:r>
            <a:endParaRPr lang="en-US" sz="1150" dirty="0"/>
          </a:p>
        </p:txBody>
      </p:sp>
      <p:sp>
        <p:nvSpPr>
          <p:cNvPr id="22" name="Text 20"/>
          <p:cNvSpPr txBox="1"/>
          <p:nvPr/>
        </p:nvSpPr>
        <p:spPr>
          <a:xfrm>
            <a:off x="4270248" y="3611880"/>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④</a:t>
            </a:r>
            <a:endParaRPr lang="en-US" sz="1300" dirty="0"/>
          </a:p>
        </p:txBody>
      </p:sp>
      <p:sp>
        <p:nvSpPr>
          <p:cNvPr id="23" name="Text 21"/>
          <p:cNvSpPr txBox="1"/>
          <p:nvPr/>
        </p:nvSpPr>
        <p:spPr>
          <a:xfrm>
            <a:off x="4590288" y="3611880"/>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判定</a:t>
            </a:r>
            <a:endParaRPr lang="en-US" sz="1300" dirty="0"/>
          </a:p>
        </p:txBody>
      </p:sp>
      <p:sp>
        <p:nvSpPr>
          <p:cNvPr id="24" name="Text 22"/>
          <p:cNvSpPr txBox="1"/>
          <p:nvPr/>
        </p:nvSpPr>
        <p:spPr>
          <a:xfrm>
            <a:off x="5641848" y="3611880"/>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3 種以上の重なり＋直近 12 か月</a:t>
            </a:r>
            <a:endParaRPr lang="en-US" sz="1150" dirty="0"/>
          </a:p>
        </p:txBody>
      </p:sp>
      <p:sp>
        <p:nvSpPr>
          <p:cNvPr id="25" name="Text 23"/>
          <p:cNvSpPr txBox="1"/>
          <p:nvPr/>
        </p:nvSpPr>
        <p:spPr>
          <a:xfrm>
            <a:off x="4270248" y="3941064"/>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⑤</a:t>
            </a:r>
            <a:endParaRPr lang="en-US" sz="1300" dirty="0"/>
          </a:p>
        </p:txBody>
      </p:sp>
      <p:sp>
        <p:nvSpPr>
          <p:cNvPr id="26" name="Text 24"/>
          <p:cNvSpPr txBox="1"/>
          <p:nvPr/>
        </p:nvSpPr>
        <p:spPr>
          <a:xfrm>
            <a:off x="4590288" y="3941064"/>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検索</a:t>
            </a:r>
            <a:endParaRPr lang="en-US" sz="1300" dirty="0"/>
          </a:p>
        </p:txBody>
      </p:sp>
      <p:sp>
        <p:nvSpPr>
          <p:cNvPr id="27" name="Text 25"/>
          <p:cNvSpPr txBox="1"/>
          <p:nvPr/>
        </p:nvSpPr>
        <p:spPr>
          <a:xfrm>
            <a:off x="5641848" y="3941064"/>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TF-IDF で事例・知恵・制度</a:t>
            </a:r>
            <a:endParaRPr lang="en-US" sz="1150" dirty="0"/>
          </a:p>
        </p:txBody>
      </p:sp>
      <p:sp>
        <p:nvSpPr>
          <p:cNvPr id="28" name="Text 26"/>
          <p:cNvSpPr txBox="1"/>
          <p:nvPr/>
        </p:nvSpPr>
        <p:spPr>
          <a:xfrm>
            <a:off x="4270248" y="4270248"/>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⑥</a:t>
            </a:r>
            <a:endParaRPr lang="en-US" sz="1300" dirty="0"/>
          </a:p>
        </p:txBody>
      </p:sp>
      <p:sp>
        <p:nvSpPr>
          <p:cNvPr id="29" name="Text 27"/>
          <p:cNvSpPr txBox="1"/>
          <p:nvPr/>
        </p:nvSpPr>
        <p:spPr>
          <a:xfrm>
            <a:off x="4590288" y="4270248"/>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人軸</a:t>
            </a:r>
            <a:endParaRPr lang="en-US" sz="1300" dirty="0"/>
          </a:p>
        </p:txBody>
      </p:sp>
      <p:sp>
        <p:nvSpPr>
          <p:cNvPr id="30" name="Text 28"/>
          <p:cNvSpPr txBox="1"/>
          <p:nvPr/>
        </p:nvSpPr>
        <p:spPr>
          <a:xfrm>
            <a:off x="5641848" y="4270248"/>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前任者・似た事例の担当者</a:t>
            </a:r>
            <a:endParaRPr lang="en-US" sz="1150" dirty="0"/>
          </a:p>
        </p:txBody>
      </p:sp>
      <p:sp>
        <p:nvSpPr>
          <p:cNvPr id="31" name="Text 29"/>
          <p:cNvSpPr txBox="1"/>
          <p:nvPr/>
        </p:nvSpPr>
        <p:spPr>
          <a:xfrm>
            <a:off x="4270248" y="4599432"/>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⑦</a:t>
            </a:r>
            <a:endParaRPr lang="en-US" sz="1300" dirty="0"/>
          </a:p>
        </p:txBody>
      </p:sp>
      <p:sp>
        <p:nvSpPr>
          <p:cNvPr id="32" name="Text 30"/>
          <p:cNvSpPr txBox="1"/>
          <p:nvPr/>
        </p:nvSpPr>
        <p:spPr>
          <a:xfrm>
            <a:off x="4590288" y="4599432"/>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次の一手</a:t>
            </a:r>
            <a:endParaRPr lang="en-US" sz="1300" dirty="0"/>
          </a:p>
        </p:txBody>
      </p:sp>
      <p:sp>
        <p:nvSpPr>
          <p:cNvPr id="33" name="Text 31"/>
          <p:cNvSpPr txBox="1"/>
          <p:nvPr/>
        </p:nvSpPr>
        <p:spPr>
          <a:xfrm>
            <a:off x="5641848" y="4599432"/>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会話のヒントと行内の準備</a:t>
            </a:r>
            <a:endParaRPr lang="en-US" sz="1150" dirty="0"/>
          </a:p>
        </p:txBody>
      </p:sp>
      <p:sp>
        <p:nvSpPr>
          <p:cNvPr id="34" name="Shape 32"/>
          <p:cNvSpPr/>
          <p:nvPr/>
        </p:nvSpPr>
        <p:spPr>
          <a:xfrm>
            <a:off x="8366760" y="3611880"/>
            <a:ext cx="365760" cy="0"/>
          </a:xfrm>
          <a:prstGeom prst="line">
            <a:avLst/>
          </a:prstGeom>
          <a:noFill/>
          <a:ln w="19050">
            <a:solidFill>
              <a:srgbClr val="666666"/>
            </a:solidFill>
            <a:prstDash val="solid"/>
            <a:tailEnd type="triangle"/>
          </a:ln>
        </p:spPr>
        <p:txBody>
          <a:bodyPr/>
          <a:p/>
        </p:txBody>
      </p:sp>
      <p:sp>
        <p:nvSpPr>
          <p:cNvPr id="35" name="Shape 33"/>
          <p:cNvSpPr/>
          <p:nvPr/>
        </p:nvSpPr>
        <p:spPr>
          <a:xfrm>
            <a:off x="8842248" y="2240280"/>
            <a:ext cx="2743200" cy="2743200"/>
          </a:xfrm>
          <a:prstGeom prst="rect">
            <a:avLst/>
          </a:prstGeom>
          <a:solidFill>
            <a:srgbClr val="E6F5EC"/>
          </a:solidFill>
          <a:ln w="12700">
            <a:solidFill>
              <a:srgbClr val="E6F5EC"/>
            </a:solidFill>
            <a:prstDash val="solid"/>
          </a:ln>
        </p:spPr>
        <p:txBody>
          <a:bodyPr/>
          <a:p/>
        </p:txBody>
      </p:sp>
      <p:sp>
        <p:nvSpPr>
          <p:cNvPr id="36" name="Text 34"/>
          <p:cNvSpPr txBox="1"/>
          <p:nvPr/>
        </p:nvSpPr>
        <p:spPr>
          <a:xfrm>
            <a:off x="9025128" y="2331720"/>
            <a:ext cx="2377440" cy="2606040"/>
          </a:xfrm>
          <a:prstGeom prst="rect">
            <a:avLst/>
          </a:prstGeom>
          <a:noFill/>
          <a:ln/>
        </p:spPr>
        <p:txBody>
          <a:bodyPr wrap="square" lIns="0" tIns="0" rIns="0" bIns="0" rtlCol="0" anchor="t"/>
          <a:lstStyle/>
          <a:p>
            <a:pPr indent="0" marL="0">
              <a:lnSpc>
                <a:spcPct val="105000"/>
              </a:lnSpc>
              <a:buNone/>
            </a:pPr>
            <a:r>
              <a:rPr lang="en-US" sz="1200" b="1" dirty="0">
                <a:solidFill>
                  <a:srgbClr val="197A4B"/>
                </a:solidFill>
                <a:latin typeface="Noto Sans JP" pitchFamily="34" charset="0"/>
                <a:ea typeface="Noto Sans JP" pitchFamily="34" charset="-122"/>
                <a:cs typeface="Noto Sans JP" pitchFamily="34" charset="-120"/>
              </a:rPr>
              <a:t>出力（担当者に返る反応）</a:t>
            </a:r>
            <a:endParaRPr lang="en-US" sz="1200" dirty="0"/>
          </a:p>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① 判定</a:t>
            </a:r>
            <a:endParaRPr lang="en-US" sz="1200" dirty="0"/>
          </a:p>
          <a:p>
            <a:pPr indent="0" marL="0">
              <a:lnSpc>
                <a:spcPct val="105000"/>
              </a:lnSpc>
              <a:buNone/>
            </a:pPr>
            <a:r>
              <a:rPr lang="en-US" sz="1150" dirty="0">
                <a:solidFill>
                  <a:srgbClr val="666666"/>
                </a:solidFill>
                <a:latin typeface="Noto Sans JP" pitchFamily="34" charset="0"/>
                <a:ea typeface="Noto Sans JP" pitchFamily="34" charset="-122"/>
                <a:cs typeface="Noto Sans JP" pitchFamily="34" charset="-120"/>
              </a:rPr>
              <a:t>状態・理由・次の世代につなぎたいもの</a:t>
            </a:r>
            <a:endParaRPr lang="en-US" sz="1200" dirty="0"/>
          </a:p>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② 次にすること</a:t>
            </a:r>
            <a:endParaRPr lang="en-US" sz="1200" dirty="0"/>
          </a:p>
          <a:p>
            <a:pPr indent="0" marL="0">
              <a:lnSpc>
                <a:spcPct val="105000"/>
              </a:lnSpc>
              <a:buNone/>
            </a:pPr>
            <a:r>
              <a:rPr lang="en-US" sz="1150" dirty="0">
                <a:solidFill>
                  <a:srgbClr val="666666"/>
                </a:solidFill>
                <a:latin typeface="Noto Sans JP" pitchFamily="34" charset="0"/>
                <a:ea typeface="Noto Sans JP" pitchFamily="34" charset="-122"/>
                <a:cs typeface="Noto Sans JP" pitchFamily="34" charset="-120"/>
              </a:rPr>
              <a:t>会話のヒント・行内での準備</a:t>
            </a:r>
            <a:endParaRPr lang="en-US" sz="1200" dirty="0"/>
          </a:p>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③ 相談する</a:t>
            </a:r>
            <a:endParaRPr lang="en-US" sz="1200" dirty="0"/>
          </a:p>
          <a:p>
            <a:pPr indent="0" marL="0">
              <a:lnSpc>
                <a:spcPct val="105000"/>
              </a:lnSpc>
              <a:buNone/>
            </a:pPr>
            <a:r>
              <a:rPr lang="en-US" sz="1150" dirty="0">
                <a:solidFill>
                  <a:srgbClr val="666666"/>
                </a:solidFill>
                <a:latin typeface="Noto Sans JP" pitchFamily="34" charset="0"/>
                <a:ea typeface="Noto Sans JP" pitchFamily="34" charset="-122"/>
                <a:cs typeface="Noto Sans JP" pitchFamily="34" charset="-120"/>
              </a:rPr>
              <a:t>相談できる人・行内の窓口</a:t>
            </a:r>
            <a:endParaRPr lang="en-US" sz="1200" dirty="0"/>
          </a:p>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④ 参考にする</a:t>
            </a:r>
            <a:endParaRPr lang="en-US" sz="1200" dirty="0"/>
          </a:p>
          <a:p>
            <a:pPr indent="0" marL="0">
              <a:lnSpc>
                <a:spcPct val="105000"/>
              </a:lnSpc>
              <a:buNone/>
            </a:pPr>
            <a:r>
              <a:rPr lang="en-US" sz="1150" dirty="0">
                <a:solidFill>
                  <a:srgbClr val="666666"/>
                </a:solidFill>
                <a:latin typeface="Noto Sans JP" pitchFamily="34" charset="0"/>
                <a:ea typeface="Noto Sans JP" pitchFamily="34" charset="-122"/>
                <a:cs typeface="Noto Sans JP" pitchFamily="34" charset="-120"/>
              </a:rPr>
              <a:t>社内の支援事例・現場の知恵・制度</a:t>
            </a:r>
            <a:endParaRPr lang="en-US" sz="1200" dirty="0"/>
          </a:p>
        </p:txBody>
      </p:sp>
      <p:sp>
        <p:nvSpPr>
          <p:cNvPr id="37" name="Text 35"/>
          <p:cNvSpPr txBox="1"/>
          <p:nvPr/>
        </p:nvSpPr>
        <p:spPr>
          <a:xfrm>
            <a:off x="612648" y="5120640"/>
            <a:ext cx="5486400" cy="320040"/>
          </a:xfrm>
          <a:prstGeom prst="rect">
            <a:avLst/>
          </a:prstGeom>
          <a:noFill/>
          <a:ln/>
        </p:spPr>
        <p:txBody>
          <a:bodyPr wrap="square" lIns="0" tIns="0" rIns="0" bIns="0" rtlCol="0" anchor="t"/>
          <a:lstStyle/>
          <a:p>
            <a:pPr indent="0" marL="0">
              <a:buNone/>
            </a:pPr>
            <a:r>
              <a:rPr lang="en-US" sz="1400" b="1" dirty="0">
                <a:solidFill>
                  <a:srgbClr val="806300"/>
                </a:solidFill>
                <a:latin typeface="Noto Sans JP" pitchFamily="34" charset="0"/>
                <a:ea typeface="Noto Sans JP" pitchFamily="34" charset="-122"/>
                <a:cs typeface="Noto Sans JP" pitchFamily="34" charset="-120"/>
              </a:rPr>
              <a:t>入力されたデータはどこへ行くか</a:t>
            </a:r>
            <a:endParaRPr lang="en-US" sz="1400" dirty="0"/>
          </a:p>
        </p:txBody>
      </p:sp>
      <p:sp>
        <p:nvSpPr>
          <p:cNvPr id="38" name="Shape 36"/>
          <p:cNvSpPr/>
          <p:nvPr/>
        </p:nvSpPr>
        <p:spPr>
          <a:xfrm>
            <a:off x="612648" y="5486400"/>
            <a:ext cx="2640330" cy="749808"/>
          </a:xfrm>
          <a:prstGeom prst="rect">
            <a:avLst/>
          </a:prstGeom>
          <a:solidFill>
            <a:srgbClr val="FBF5E0"/>
          </a:solidFill>
          <a:ln w="12700">
            <a:solidFill>
              <a:srgbClr val="FBF5E0"/>
            </a:solidFill>
            <a:prstDash val="solid"/>
          </a:ln>
        </p:spPr>
        <p:txBody>
          <a:bodyPr/>
          <a:p/>
        </p:txBody>
      </p:sp>
      <p:sp>
        <p:nvSpPr>
          <p:cNvPr id="39" name="Text 37"/>
          <p:cNvSpPr txBox="1"/>
          <p:nvPr/>
        </p:nvSpPr>
        <p:spPr>
          <a:xfrm>
            <a:off x="795528" y="5623560"/>
            <a:ext cx="2274570" cy="521208"/>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A1A1A"/>
                </a:solidFill>
                <a:latin typeface="Noto Sans JP" pitchFamily="34" charset="0"/>
                <a:ea typeface="Noto Sans JP" pitchFamily="34" charset="-122"/>
                <a:cs typeface="Noto Sans JP" pitchFamily="34" charset="-120"/>
              </a:rPr>
              <a:t>日報</a:t>
            </a:r>
            <a:endParaRPr lang="en-US" sz="130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次に誰かが開いたときの材料になる</a:t>
            </a:r>
            <a:endParaRPr lang="en-US" sz="1300" dirty="0"/>
          </a:p>
        </p:txBody>
      </p:sp>
      <p:sp>
        <p:nvSpPr>
          <p:cNvPr id="40" name="Shape 38"/>
          <p:cNvSpPr/>
          <p:nvPr/>
        </p:nvSpPr>
        <p:spPr>
          <a:xfrm>
            <a:off x="3390138" y="5486400"/>
            <a:ext cx="2640330" cy="749808"/>
          </a:xfrm>
          <a:prstGeom prst="rect">
            <a:avLst/>
          </a:prstGeom>
          <a:solidFill>
            <a:srgbClr val="FBF5E0"/>
          </a:solidFill>
          <a:ln w="12700">
            <a:solidFill>
              <a:srgbClr val="FBF5E0"/>
            </a:solidFill>
            <a:prstDash val="solid"/>
          </a:ln>
        </p:spPr>
        <p:txBody>
          <a:bodyPr/>
          <a:p/>
        </p:txBody>
      </p:sp>
      <p:sp>
        <p:nvSpPr>
          <p:cNvPr id="41" name="Text 39"/>
          <p:cNvSpPr txBox="1"/>
          <p:nvPr/>
        </p:nvSpPr>
        <p:spPr>
          <a:xfrm>
            <a:off x="3573018" y="5623560"/>
            <a:ext cx="2274570" cy="521208"/>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A1A1A"/>
                </a:solidFill>
                <a:latin typeface="Noto Sans JP" pitchFamily="34" charset="0"/>
                <a:ea typeface="Noto Sans JP" pitchFamily="34" charset="-122"/>
                <a:cs typeface="Noto Sans JP" pitchFamily="34" charset="-120"/>
              </a:rPr>
              <a:t>判定</a:t>
            </a:r>
            <a:endParaRPr lang="en-US" sz="130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支店長の「対話の状況」になる</a:t>
            </a:r>
            <a:endParaRPr lang="en-US" sz="1300" dirty="0"/>
          </a:p>
        </p:txBody>
      </p:sp>
      <p:sp>
        <p:nvSpPr>
          <p:cNvPr id="42" name="Shape 40"/>
          <p:cNvSpPr/>
          <p:nvPr/>
        </p:nvSpPr>
        <p:spPr>
          <a:xfrm>
            <a:off x="6167628" y="5486400"/>
            <a:ext cx="2640330" cy="749808"/>
          </a:xfrm>
          <a:prstGeom prst="rect">
            <a:avLst/>
          </a:prstGeom>
          <a:solidFill>
            <a:srgbClr val="FBF5E0"/>
          </a:solidFill>
          <a:ln w="12700">
            <a:solidFill>
              <a:srgbClr val="FBF5E0"/>
            </a:solidFill>
            <a:prstDash val="solid"/>
          </a:ln>
        </p:spPr>
        <p:txBody>
          <a:bodyPr/>
          <a:p/>
        </p:txBody>
      </p:sp>
      <p:sp>
        <p:nvSpPr>
          <p:cNvPr id="43" name="Text 41"/>
          <p:cNvSpPr txBox="1"/>
          <p:nvPr/>
        </p:nvSpPr>
        <p:spPr>
          <a:xfrm>
            <a:off x="6350508" y="5623560"/>
            <a:ext cx="2274570" cy="521208"/>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A1A1A"/>
                </a:solidFill>
                <a:latin typeface="Noto Sans JP" pitchFamily="34" charset="0"/>
                <a:ea typeface="Noto Sans JP" pitchFamily="34" charset="-122"/>
                <a:cs typeface="Noto Sans JP" pitchFamily="34" charset="-120"/>
              </a:rPr>
              <a:t>相談</a:t>
            </a:r>
            <a:endParaRPr lang="en-US" sz="130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相談相手がその企業の記録を読める</a:t>
            </a:r>
            <a:endParaRPr lang="en-US" sz="1300" dirty="0"/>
          </a:p>
        </p:txBody>
      </p:sp>
      <p:sp>
        <p:nvSpPr>
          <p:cNvPr id="44" name="Shape 42"/>
          <p:cNvSpPr/>
          <p:nvPr/>
        </p:nvSpPr>
        <p:spPr>
          <a:xfrm>
            <a:off x="8945118" y="5486400"/>
            <a:ext cx="2640330" cy="749808"/>
          </a:xfrm>
          <a:prstGeom prst="rect">
            <a:avLst/>
          </a:prstGeom>
          <a:solidFill>
            <a:srgbClr val="FBF5E0"/>
          </a:solidFill>
          <a:ln w="12700">
            <a:solidFill>
              <a:srgbClr val="FBF5E0"/>
            </a:solidFill>
            <a:prstDash val="solid"/>
          </a:ln>
        </p:spPr>
        <p:txBody>
          <a:bodyPr/>
          <a:p/>
        </p:txBody>
      </p:sp>
      <p:sp>
        <p:nvSpPr>
          <p:cNvPr id="45" name="Text 43"/>
          <p:cNvSpPr txBox="1"/>
          <p:nvPr/>
        </p:nvSpPr>
        <p:spPr>
          <a:xfrm>
            <a:off x="9127998" y="5623560"/>
            <a:ext cx="2274570" cy="521208"/>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A1A1A"/>
                </a:solidFill>
                <a:latin typeface="Noto Sans JP" pitchFamily="34" charset="0"/>
                <a:ea typeface="Noto Sans JP" pitchFamily="34" charset="-122"/>
                <a:cs typeface="Noto Sans JP" pitchFamily="34" charset="-120"/>
              </a:rPr>
              <a:t>すべての操作</a:t>
            </a:r>
            <a:endParaRPr lang="en-US" sz="130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監査ログに残る</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実際の利用シーン（デモ）</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カナイ精工を担当する佐々木さんの 1 日で、「知らせる」ときと「黙る」ときを見せる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21</a:t>
            </a:r>
            <a:endParaRPr lang="en-US" sz="1200" dirty="0"/>
          </a:p>
        </p:txBody>
      </p:sp>
      <p:sp>
        <p:nvSpPr>
          <p:cNvPr id="8" name="Shape 6"/>
          <p:cNvSpPr/>
          <p:nvPr/>
        </p:nvSpPr>
        <p:spPr>
          <a:xfrm>
            <a:off x="612648" y="2240280"/>
            <a:ext cx="548640" cy="694944"/>
          </a:xfrm>
          <a:prstGeom prst="rect">
            <a:avLst/>
          </a:prstGeom>
          <a:solidFill>
            <a:srgbClr val="0017C1"/>
          </a:solidFill>
          <a:ln w="12700">
            <a:solidFill>
              <a:srgbClr val="0017C1"/>
            </a:solidFill>
            <a:prstDash val="solid"/>
          </a:ln>
        </p:spPr>
        <p:txBody>
          <a:bodyPr/>
          <a:p/>
        </p:txBody>
      </p:sp>
      <p:sp>
        <p:nvSpPr>
          <p:cNvPr id="9" name="Text 7"/>
          <p:cNvSpPr txBox="1"/>
          <p:nvPr/>
        </p:nvSpPr>
        <p:spPr>
          <a:xfrm>
            <a:off x="612648" y="2240280"/>
            <a:ext cx="54864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①</a:t>
            </a:r>
            <a:endParaRPr lang="en-US" sz="1800" dirty="0"/>
          </a:p>
        </p:txBody>
      </p:sp>
      <p:sp>
        <p:nvSpPr>
          <p:cNvPr id="10" name="Shape 8"/>
          <p:cNvSpPr/>
          <p:nvPr/>
        </p:nvSpPr>
        <p:spPr>
          <a:xfrm>
            <a:off x="1252728" y="2240280"/>
            <a:ext cx="10332720" cy="694944"/>
          </a:xfrm>
          <a:prstGeom prst="rect">
            <a:avLst/>
          </a:prstGeom>
          <a:solidFill>
            <a:srgbClr val="F2F2F2"/>
          </a:solidFill>
          <a:ln w="12700">
            <a:solidFill>
              <a:srgbClr val="F2F2F2"/>
            </a:solidFill>
            <a:prstDash val="solid"/>
          </a:ln>
        </p:spPr>
        <p:txBody>
          <a:bodyPr/>
          <a:p/>
        </p:txBody>
      </p:sp>
      <p:sp>
        <p:nvSpPr>
          <p:cNvPr id="11" name="Text 9"/>
          <p:cNvSpPr txBox="1"/>
          <p:nvPr/>
        </p:nvSpPr>
        <p:spPr>
          <a:xfrm>
            <a:off x="1435608" y="2313432"/>
            <a:ext cx="3931920" cy="603504"/>
          </a:xfrm>
          <a:prstGeom prst="rect">
            <a:avLst/>
          </a:prstGeom>
          <a:noFill/>
          <a:ln/>
        </p:spPr>
        <p:txBody>
          <a:bodyPr wrap="square" lIns="0" tIns="0" rIns="0" bIns="0" rtlCol="0" anchor="t"/>
          <a:lstStyle/>
          <a:p>
            <a:pPr indent="0" marL="0">
              <a:lnSpc>
                <a:spcPct val="105000"/>
              </a:lnSpc>
              <a:buNone/>
            </a:pPr>
            <a:r>
              <a:rPr lang="en-US" sz="1500" b="1" dirty="0">
                <a:solidFill>
                  <a:srgbClr val="1A1A1A"/>
                </a:solidFill>
                <a:latin typeface="Noto Sans JP" pitchFamily="34" charset="0"/>
                <a:ea typeface="Noto Sans JP" pitchFamily="34" charset="-122"/>
                <a:cs typeface="Noto Sans JP" pitchFamily="34" charset="-120"/>
              </a:rPr>
              <a:t>訪問前に読む</a:t>
            </a:r>
            <a:endParaRPr lang="en-US" sz="15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佐々木（法人担当）／カナイ精工</a:t>
            </a:r>
            <a:endParaRPr lang="en-US" sz="1500" dirty="0"/>
          </a:p>
        </p:txBody>
      </p:sp>
      <p:sp>
        <p:nvSpPr>
          <p:cNvPr id="12" name="Text 10"/>
          <p:cNvSpPr txBox="1"/>
          <p:nvPr/>
        </p:nvSpPr>
        <p:spPr>
          <a:xfrm>
            <a:off x="5458968" y="2240280"/>
            <a:ext cx="5943600" cy="694944"/>
          </a:xfrm>
          <a:prstGeom prst="rect">
            <a:avLst/>
          </a:prstGeom>
          <a:noFill/>
          <a:ln/>
        </p:spPr>
        <p:txBody>
          <a:bodyPr wrap="square" lIns="0" tIns="0" rIns="0" bIns="0" rtlCol="0" anchor="ctr"/>
          <a:lstStyle/>
          <a:p>
            <a:pPr indent="0" marL="0">
              <a:lnSpc>
                <a:spcPct val="110000"/>
              </a:lnSpc>
              <a:buNone/>
            </a:pPr>
            <a:r>
              <a:rPr lang="en-US" sz="1300" dirty="0">
                <a:solidFill>
                  <a:srgbClr val="1A1A1A"/>
                </a:solidFill>
                <a:latin typeface="Noto Sans JP" pitchFamily="34" charset="0"/>
                <a:ea typeface="Noto Sans JP" pitchFamily="34" charset="-122"/>
                <a:cs typeface="Noto Sans JP" pitchFamily="34" charset="-120"/>
              </a:rPr>
              <a:t>前任の林・宮本が見てきた予兆と根拠。次の世代につなぎたい技術と担い手（斎藤工場長）</a:t>
            </a:r>
            <a:endParaRPr lang="en-US" sz="1300" dirty="0"/>
          </a:p>
        </p:txBody>
      </p:sp>
      <p:sp>
        <p:nvSpPr>
          <p:cNvPr id="13" name="Shape 11"/>
          <p:cNvSpPr/>
          <p:nvPr/>
        </p:nvSpPr>
        <p:spPr>
          <a:xfrm>
            <a:off x="612648" y="3026664"/>
            <a:ext cx="548640" cy="694944"/>
          </a:xfrm>
          <a:prstGeom prst="rect">
            <a:avLst/>
          </a:prstGeom>
          <a:solidFill>
            <a:srgbClr val="197A4B"/>
          </a:solidFill>
          <a:ln w="12700">
            <a:solidFill>
              <a:srgbClr val="197A4B"/>
            </a:solidFill>
            <a:prstDash val="solid"/>
          </a:ln>
        </p:spPr>
        <p:txBody>
          <a:bodyPr/>
          <a:p/>
        </p:txBody>
      </p:sp>
      <p:sp>
        <p:nvSpPr>
          <p:cNvPr id="14" name="Text 12"/>
          <p:cNvSpPr txBox="1"/>
          <p:nvPr/>
        </p:nvSpPr>
        <p:spPr>
          <a:xfrm>
            <a:off x="612648" y="3026664"/>
            <a:ext cx="54864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②</a:t>
            </a:r>
            <a:endParaRPr lang="en-US" sz="1800" dirty="0"/>
          </a:p>
        </p:txBody>
      </p:sp>
      <p:sp>
        <p:nvSpPr>
          <p:cNvPr id="15" name="Shape 13"/>
          <p:cNvSpPr/>
          <p:nvPr/>
        </p:nvSpPr>
        <p:spPr>
          <a:xfrm>
            <a:off x="1252728" y="3026664"/>
            <a:ext cx="10332720" cy="694944"/>
          </a:xfrm>
          <a:prstGeom prst="rect">
            <a:avLst/>
          </a:prstGeom>
          <a:solidFill>
            <a:srgbClr val="E6F5EC"/>
          </a:solidFill>
          <a:ln w="12700">
            <a:solidFill>
              <a:srgbClr val="E6F5EC"/>
            </a:solidFill>
            <a:prstDash val="solid"/>
          </a:ln>
        </p:spPr>
        <p:txBody>
          <a:bodyPr/>
          <a:p/>
        </p:txBody>
      </p:sp>
      <p:sp>
        <p:nvSpPr>
          <p:cNvPr id="16" name="Text 14"/>
          <p:cNvSpPr txBox="1"/>
          <p:nvPr/>
        </p:nvSpPr>
        <p:spPr>
          <a:xfrm>
            <a:off x="1435608" y="3099816"/>
            <a:ext cx="3931920" cy="603504"/>
          </a:xfrm>
          <a:prstGeom prst="rect">
            <a:avLst/>
          </a:prstGeom>
          <a:noFill/>
          <a:ln/>
        </p:spPr>
        <p:txBody>
          <a:bodyPr wrap="square" lIns="0" tIns="0" rIns="0" bIns="0" rtlCol="0" anchor="t"/>
          <a:lstStyle/>
          <a:p>
            <a:pPr indent="0" marL="0">
              <a:lnSpc>
                <a:spcPct val="105000"/>
              </a:lnSpc>
              <a:buNone/>
            </a:pPr>
            <a:r>
              <a:rPr lang="en-US" sz="1500" b="1" dirty="0">
                <a:solidFill>
                  <a:srgbClr val="1A1A1A"/>
                </a:solidFill>
                <a:latin typeface="Noto Sans JP" pitchFamily="34" charset="0"/>
                <a:ea typeface="Noto Sans JP" pitchFamily="34" charset="-122"/>
                <a:cs typeface="Noto Sans JP" pitchFamily="34" charset="-120"/>
              </a:rPr>
              <a:t>日報 → 予兆が立つ</a:t>
            </a:r>
            <a:endParaRPr lang="en-US" sz="15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雑談で「工場長が来春退職を考えているらしい」</a:t>
            </a:r>
            <a:endParaRPr lang="en-US" sz="1500" dirty="0"/>
          </a:p>
        </p:txBody>
      </p:sp>
      <p:sp>
        <p:nvSpPr>
          <p:cNvPr id="17" name="Text 15"/>
          <p:cNvSpPr txBox="1"/>
          <p:nvPr/>
        </p:nvSpPr>
        <p:spPr>
          <a:xfrm>
            <a:off x="5458968" y="3026664"/>
            <a:ext cx="5943600" cy="694944"/>
          </a:xfrm>
          <a:prstGeom prst="rect">
            <a:avLst/>
          </a:prstGeom>
          <a:noFill/>
          <a:ln/>
        </p:spPr>
        <p:txBody>
          <a:bodyPr wrap="square" lIns="0" tIns="0" rIns="0" bIns="0" rtlCol="0" anchor="ctr"/>
          <a:lstStyle/>
          <a:p>
            <a:pPr indent="0" marL="0">
              <a:lnSpc>
                <a:spcPct val="110000"/>
              </a:lnSpc>
              <a:buNone/>
            </a:pPr>
            <a:r>
              <a:rPr lang="en-US" sz="1300" dirty="0">
                <a:solidFill>
                  <a:srgbClr val="1A1A1A"/>
                </a:solidFill>
                <a:latin typeface="Noto Sans JP" pitchFamily="34" charset="0"/>
                <a:ea typeface="Noto Sans JP" pitchFamily="34" charset="-122"/>
                <a:cs typeface="Noto Sans JP" pitchFamily="34" charset="-120"/>
              </a:rPr>
              <a:t>過去の記録と重なって判定 4。伝聞は「未確認」の印。相談できる人と社内の事例が返る</a:t>
            </a:r>
            <a:endParaRPr lang="en-US" sz="1300" dirty="0"/>
          </a:p>
        </p:txBody>
      </p:sp>
      <p:sp>
        <p:nvSpPr>
          <p:cNvPr id="18" name="Shape 16"/>
          <p:cNvSpPr/>
          <p:nvPr/>
        </p:nvSpPr>
        <p:spPr>
          <a:xfrm>
            <a:off x="612648" y="3813048"/>
            <a:ext cx="548640" cy="694944"/>
          </a:xfrm>
          <a:prstGeom prst="rect">
            <a:avLst/>
          </a:prstGeom>
          <a:solidFill>
            <a:srgbClr val="0017C1"/>
          </a:solidFill>
          <a:ln w="12700">
            <a:solidFill>
              <a:srgbClr val="0017C1"/>
            </a:solidFill>
            <a:prstDash val="solid"/>
          </a:ln>
        </p:spPr>
        <p:txBody>
          <a:bodyPr/>
          <a:p/>
        </p:txBody>
      </p:sp>
      <p:sp>
        <p:nvSpPr>
          <p:cNvPr id="19" name="Text 17"/>
          <p:cNvSpPr txBox="1"/>
          <p:nvPr/>
        </p:nvSpPr>
        <p:spPr>
          <a:xfrm>
            <a:off x="612648" y="3813048"/>
            <a:ext cx="54864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③</a:t>
            </a:r>
            <a:endParaRPr lang="en-US" sz="1800" dirty="0"/>
          </a:p>
        </p:txBody>
      </p:sp>
      <p:sp>
        <p:nvSpPr>
          <p:cNvPr id="20" name="Shape 18"/>
          <p:cNvSpPr/>
          <p:nvPr/>
        </p:nvSpPr>
        <p:spPr>
          <a:xfrm>
            <a:off x="1252728" y="3813048"/>
            <a:ext cx="10332720" cy="694944"/>
          </a:xfrm>
          <a:prstGeom prst="rect">
            <a:avLst/>
          </a:prstGeom>
          <a:solidFill>
            <a:srgbClr val="F2F2F2"/>
          </a:solidFill>
          <a:ln w="12700">
            <a:solidFill>
              <a:srgbClr val="F2F2F2"/>
            </a:solidFill>
            <a:prstDash val="solid"/>
          </a:ln>
        </p:spPr>
        <p:txBody>
          <a:bodyPr/>
          <a:p/>
        </p:txBody>
      </p:sp>
      <p:sp>
        <p:nvSpPr>
          <p:cNvPr id="21" name="Text 19"/>
          <p:cNvSpPr txBox="1"/>
          <p:nvPr/>
        </p:nvSpPr>
        <p:spPr>
          <a:xfrm>
            <a:off x="1435608" y="3886200"/>
            <a:ext cx="3931920" cy="603504"/>
          </a:xfrm>
          <a:prstGeom prst="rect">
            <a:avLst/>
          </a:prstGeom>
          <a:noFill/>
          <a:ln/>
        </p:spPr>
        <p:txBody>
          <a:bodyPr wrap="square" lIns="0" tIns="0" rIns="0" bIns="0" rtlCol="0" anchor="t"/>
          <a:lstStyle/>
          <a:p>
            <a:pPr indent="0" marL="0">
              <a:lnSpc>
                <a:spcPct val="105000"/>
              </a:lnSpc>
              <a:buNone/>
            </a:pPr>
            <a:r>
              <a:rPr lang="en-US" sz="1500" b="1" dirty="0">
                <a:solidFill>
                  <a:srgbClr val="1A1A1A"/>
                </a:solidFill>
                <a:latin typeface="Noto Sans JP" pitchFamily="34" charset="0"/>
                <a:ea typeface="Noto Sans JP" pitchFamily="34" charset="-122"/>
                <a:cs typeface="Noto Sans JP" pitchFamily="34" charset="-120"/>
              </a:rPr>
              <a:t>立たない（黙る）</a:t>
            </a:r>
            <a:endParaRPr lang="en-US" sz="15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宮本／太田電装「経営は外から人を招くことも」</a:t>
            </a:r>
            <a:endParaRPr lang="en-US" sz="1500" dirty="0"/>
          </a:p>
        </p:txBody>
      </p:sp>
      <p:sp>
        <p:nvSpPr>
          <p:cNvPr id="22" name="Text 20"/>
          <p:cNvSpPr txBox="1"/>
          <p:nvPr/>
        </p:nvSpPr>
        <p:spPr>
          <a:xfrm>
            <a:off x="5458968" y="3813048"/>
            <a:ext cx="5943600" cy="694944"/>
          </a:xfrm>
          <a:prstGeom prst="rect">
            <a:avLst/>
          </a:prstGeom>
          <a:noFill/>
          <a:ln/>
        </p:spPr>
        <p:txBody>
          <a:bodyPr wrap="square" lIns="0" tIns="0" rIns="0" bIns="0" rtlCol="0" anchor="ctr"/>
          <a:lstStyle/>
          <a:p>
            <a:pPr indent="0" marL="0">
              <a:lnSpc>
                <a:spcPct val="110000"/>
              </a:lnSpc>
              <a:buNone/>
            </a:pPr>
            <a:r>
              <a:rPr lang="en-US" sz="1300" dirty="0">
                <a:solidFill>
                  <a:srgbClr val="1A1A1A"/>
                </a:solidFill>
                <a:latin typeface="Noto Sans JP" pitchFamily="34" charset="0"/>
                <a:ea typeface="Noto Sans JP" pitchFamily="34" charset="-122"/>
                <a:cs typeface="Noto Sans JP" pitchFamily="34" charset="-120"/>
              </a:rPr>
              <a:t>予兆が 1 つでは知らせない。記録として残すだけ</a:t>
            </a:r>
            <a:endParaRPr lang="en-US" sz="1300" dirty="0"/>
          </a:p>
        </p:txBody>
      </p:sp>
      <p:sp>
        <p:nvSpPr>
          <p:cNvPr id="23" name="Shape 21"/>
          <p:cNvSpPr/>
          <p:nvPr/>
        </p:nvSpPr>
        <p:spPr>
          <a:xfrm>
            <a:off x="612648" y="4599432"/>
            <a:ext cx="548640" cy="694944"/>
          </a:xfrm>
          <a:prstGeom prst="rect">
            <a:avLst/>
          </a:prstGeom>
          <a:solidFill>
            <a:srgbClr val="0017C1"/>
          </a:solidFill>
          <a:ln w="12700">
            <a:solidFill>
              <a:srgbClr val="0017C1"/>
            </a:solidFill>
            <a:prstDash val="solid"/>
          </a:ln>
        </p:spPr>
        <p:txBody>
          <a:bodyPr/>
          <a:p/>
        </p:txBody>
      </p:sp>
      <p:sp>
        <p:nvSpPr>
          <p:cNvPr id="24" name="Text 22"/>
          <p:cNvSpPr txBox="1"/>
          <p:nvPr/>
        </p:nvSpPr>
        <p:spPr>
          <a:xfrm>
            <a:off x="612648" y="4599432"/>
            <a:ext cx="54864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④</a:t>
            </a:r>
            <a:endParaRPr lang="en-US" sz="1800" dirty="0"/>
          </a:p>
        </p:txBody>
      </p:sp>
      <p:sp>
        <p:nvSpPr>
          <p:cNvPr id="25" name="Shape 23"/>
          <p:cNvSpPr/>
          <p:nvPr/>
        </p:nvSpPr>
        <p:spPr>
          <a:xfrm>
            <a:off x="1252728" y="4599432"/>
            <a:ext cx="10332720" cy="694944"/>
          </a:xfrm>
          <a:prstGeom prst="rect">
            <a:avLst/>
          </a:prstGeom>
          <a:solidFill>
            <a:srgbClr val="F2F2F2"/>
          </a:solidFill>
          <a:ln w="12700">
            <a:solidFill>
              <a:srgbClr val="F2F2F2"/>
            </a:solidFill>
            <a:prstDash val="solid"/>
          </a:ln>
        </p:spPr>
        <p:txBody>
          <a:bodyPr/>
          <a:p/>
        </p:txBody>
      </p:sp>
      <p:sp>
        <p:nvSpPr>
          <p:cNvPr id="26" name="Text 24"/>
          <p:cNvSpPr txBox="1"/>
          <p:nvPr/>
        </p:nvSpPr>
        <p:spPr>
          <a:xfrm>
            <a:off x="1435608" y="4672584"/>
            <a:ext cx="3931920" cy="603504"/>
          </a:xfrm>
          <a:prstGeom prst="rect">
            <a:avLst/>
          </a:prstGeom>
          <a:noFill/>
          <a:ln/>
        </p:spPr>
        <p:txBody>
          <a:bodyPr wrap="square" lIns="0" tIns="0" rIns="0" bIns="0" rtlCol="0" anchor="t"/>
          <a:lstStyle/>
          <a:p>
            <a:pPr indent="0" marL="0">
              <a:lnSpc>
                <a:spcPct val="105000"/>
              </a:lnSpc>
              <a:buNone/>
            </a:pPr>
            <a:r>
              <a:rPr lang="en-US" sz="1500" b="1" dirty="0">
                <a:solidFill>
                  <a:srgbClr val="1A1A1A"/>
                </a:solidFill>
                <a:latin typeface="Noto Sans JP" pitchFamily="34" charset="0"/>
                <a:ea typeface="Noto Sans JP" pitchFamily="34" charset="-122"/>
                <a:cs typeface="Noto Sans JP" pitchFamily="34" charset="-120"/>
              </a:rPr>
              <a:t>くり返し出ている話</a:t>
            </a:r>
            <a:endParaRPr lang="en-US" sz="15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阿部／ヤマト化成「ベトナムの展示会へ出展」</a:t>
            </a:r>
            <a:endParaRPr lang="en-US" sz="1500" dirty="0"/>
          </a:p>
        </p:txBody>
      </p:sp>
      <p:sp>
        <p:nvSpPr>
          <p:cNvPr id="27" name="Text 25"/>
          <p:cNvSpPr txBox="1"/>
          <p:nvPr/>
        </p:nvSpPr>
        <p:spPr>
          <a:xfrm>
            <a:off x="5458968" y="4599432"/>
            <a:ext cx="5943600" cy="694944"/>
          </a:xfrm>
          <a:prstGeom prst="rect">
            <a:avLst/>
          </a:prstGeom>
          <a:noFill/>
          <a:ln/>
        </p:spPr>
        <p:txBody>
          <a:bodyPr wrap="square" lIns="0" tIns="0" rIns="0" bIns="0" rtlCol="0" anchor="ctr"/>
          <a:lstStyle/>
          <a:p>
            <a:pPr indent="0" marL="0">
              <a:lnSpc>
                <a:spcPct val="110000"/>
              </a:lnSpc>
              <a:buNone/>
            </a:pPr>
            <a:r>
              <a:rPr lang="en-US" sz="1300" dirty="0">
                <a:solidFill>
                  <a:srgbClr val="1A1A1A"/>
                </a:solidFill>
                <a:latin typeface="Noto Sans JP" pitchFamily="34" charset="0"/>
                <a:ea typeface="Noto Sans JP" pitchFamily="34" charset="-122"/>
                <a:cs typeface="Noto Sans JP" pitchFamily="34" charset="-120"/>
              </a:rPr>
              <a:t>まだ予兆の定義にない話。本部が予兆に加えるかを判断する</a:t>
            </a:r>
            <a:endParaRPr lang="en-US" sz="1300" dirty="0"/>
          </a:p>
        </p:txBody>
      </p:sp>
      <p:sp>
        <p:nvSpPr>
          <p:cNvPr id="28" name="Shape 26"/>
          <p:cNvSpPr/>
          <p:nvPr/>
        </p:nvSpPr>
        <p:spPr>
          <a:xfrm>
            <a:off x="612648" y="5385816"/>
            <a:ext cx="548640" cy="694944"/>
          </a:xfrm>
          <a:prstGeom prst="rect">
            <a:avLst/>
          </a:prstGeom>
          <a:solidFill>
            <a:srgbClr val="0017C1"/>
          </a:solidFill>
          <a:ln w="12700">
            <a:solidFill>
              <a:srgbClr val="0017C1"/>
            </a:solidFill>
            <a:prstDash val="solid"/>
          </a:ln>
        </p:spPr>
        <p:txBody>
          <a:bodyPr/>
          <a:p/>
        </p:txBody>
      </p:sp>
      <p:sp>
        <p:nvSpPr>
          <p:cNvPr id="29" name="Text 27"/>
          <p:cNvSpPr txBox="1"/>
          <p:nvPr/>
        </p:nvSpPr>
        <p:spPr>
          <a:xfrm>
            <a:off x="612648" y="5385816"/>
            <a:ext cx="54864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⑤</a:t>
            </a:r>
            <a:endParaRPr lang="en-US" sz="1800" dirty="0"/>
          </a:p>
        </p:txBody>
      </p:sp>
      <p:sp>
        <p:nvSpPr>
          <p:cNvPr id="30" name="Shape 28"/>
          <p:cNvSpPr/>
          <p:nvPr/>
        </p:nvSpPr>
        <p:spPr>
          <a:xfrm>
            <a:off x="1252728" y="5385816"/>
            <a:ext cx="10332720" cy="694944"/>
          </a:xfrm>
          <a:prstGeom prst="rect">
            <a:avLst/>
          </a:prstGeom>
          <a:solidFill>
            <a:srgbClr val="F2F2F2"/>
          </a:solidFill>
          <a:ln w="12700">
            <a:solidFill>
              <a:srgbClr val="F2F2F2"/>
            </a:solidFill>
            <a:prstDash val="solid"/>
          </a:ln>
        </p:spPr>
        <p:txBody>
          <a:bodyPr/>
          <a:p/>
        </p:txBody>
      </p:sp>
      <p:sp>
        <p:nvSpPr>
          <p:cNvPr id="31" name="Text 29"/>
          <p:cNvSpPr txBox="1"/>
          <p:nvPr/>
        </p:nvSpPr>
        <p:spPr>
          <a:xfrm>
            <a:off x="1435608" y="5458968"/>
            <a:ext cx="3931920" cy="603504"/>
          </a:xfrm>
          <a:prstGeom prst="rect">
            <a:avLst/>
          </a:prstGeom>
          <a:noFill/>
          <a:ln/>
        </p:spPr>
        <p:txBody>
          <a:bodyPr wrap="square" lIns="0" tIns="0" rIns="0" bIns="0" rtlCol="0" anchor="t"/>
          <a:lstStyle/>
          <a:p>
            <a:pPr indent="0" marL="0">
              <a:lnSpc>
                <a:spcPct val="105000"/>
              </a:lnSpc>
              <a:buNone/>
            </a:pPr>
            <a:r>
              <a:rPr lang="en-US" sz="1500" b="1" dirty="0">
                <a:solidFill>
                  <a:srgbClr val="1A1A1A"/>
                </a:solidFill>
                <a:latin typeface="Noto Sans JP" pitchFamily="34" charset="0"/>
                <a:ea typeface="Noto Sans JP" pitchFamily="34" charset="-122"/>
                <a:cs typeface="Noto Sans JP" pitchFamily="34" charset="-120"/>
              </a:rPr>
              <a:t>支店長・本部</a:t>
            </a:r>
            <a:endParaRPr lang="en-US" sz="15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土屋支店長／林（本部）</a:t>
            </a:r>
            <a:endParaRPr lang="en-US" sz="1500" dirty="0"/>
          </a:p>
        </p:txBody>
      </p:sp>
      <p:sp>
        <p:nvSpPr>
          <p:cNvPr id="32" name="Text 30"/>
          <p:cNvSpPr txBox="1"/>
          <p:nvPr/>
        </p:nvSpPr>
        <p:spPr>
          <a:xfrm>
            <a:off x="5458968" y="5385816"/>
            <a:ext cx="5943600" cy="694944"/>
          </a:xfrm>
          <a:prstGeom prst="rect">
            <a:avLst/>
          </a:prstGeom>
          <a:noFill/>
          <a:ln/>
        </p:spPr>
        <p:txBody>
          <a:bodyPr wrap="square" lIns="0" tIns="0" rIns="0" bIns="0" rtlCol="0" anchor="ctr"/>
          <a:lstStyle/>
          <a:p>
            <a:pPr indent="0" marL="0">
              <a:lnSpc>
                <a:spcPct val="110000"/>
              </a:lnSpc>
              <a:buNone/>
            </a:pPr>
            <a:r>
              <a:rPr lang="en-US" sz="1300" dirty="0">
                <a:solidFill>
                  <a:srgbClr val="1A1A1A"/>
                </a:solidFill>
                <a:latin typeface="Noto Sans JP" pitchFamily="34" charset="0"/>
                <a:ea typeface="Noto Sans JP" pitchFamily="34" charset="-122"/>
                <a:cs typeface="Noto Sans JP" pitchFamily="34" charset="-120"/>
              </a:rPr>
              <a:t>点数ではなく支援の段階で見る。受けた相談から記録を読める</a:t>
            </a:r>
            <a:endParaRPr lang="en-US" sz="1300" dirty="0"/>
          </a:p>
        </p:txBody>
      </p:sp>
      <p:sp>
        <p:nvSpPr>
          <p:cNvPr id="33" name="Text 31"/>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サイドバーの「デモの進め方」①〜⑤ で再現できる　https://nonsmoker-code-tsumugu-pilot-sketch-app-x2gh4i.streamlit.app</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当初案からの変化</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作りながら「本当に現場で使われるか」を確かめ、足すより削る判断を重ねた</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22</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12648" y="2240280"/>
          <a:ext cx="10972800" cy="914400"/>
        </p:xfrm>
        <a:graphic>
          <a:graphicData uri="http://schemas.openxmlformats.org/drawingml/2006/table">
            <a:tbl>
              <a:tblPr/>
              <a:tblGrid>
                <a:gridCol w="1600200"/>
                <a:gridCol w="2834640"/>
                <a:gridCol w="2926080"/>
                <a:gridCol w="3611880"/>
              </a:tblGrid>
              <a:tr h="457200">
                <a:tc>
                  <a:txBody>
                    <a:bodyPr/>
                    <a:lstStyle/>
                    <a:p>
                      <a:pPr indent="0" marL="0">
                        <a:buNone/>
                      </a:pP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最初はこう考えた</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こう変えた</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なぜ</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入力</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日報とは別に「一言」「気づき欄」を書く</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新しい欄をなくし、いつもの業務報告だけを読む</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追加の入力は使われない（現場の声）。予兆のもとは業務報告に書かれる事実だった</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画面</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独立したアプリを作る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SFA の中に表示領域を置く</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二重入力を避け、開く場所を増やさない</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外の情報</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外部の承継事例の記事も集める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公的な制度・法令だけ。事例は社内から</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自行の経験のほうが次の一手と相談相手につながる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見せ方</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「失われる地域価値」、大きな数字</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「次の世代につなぎたいもの」、控えめに</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脅す言い方は対話を止める。点数も付けない</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効果の証拠</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反応は「対話を始めた／見送り」の 2 つ</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「本部に相談した／案件になった」を足して 4 つ</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攻めの ROI（相談→案件化の率）を測るため</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判定の当てはめ方</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LLM がベテランの言葉を毎回読んで判断する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言葉を条件に訳し、知らせるかどうかはプログラムが決める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毎回同じ答えが出て、根拠を示せる。キーが無くても動く</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bl>
          </a:graphicData>
        </a:graphic>
      </p:graphicFrame>
      <p:sp>
        <p:nvSpPr>
          <p:cNvPr id="9" name="Shape 6"/>
          <p:cNvSpPr/>
          <p:nvPr/>
        </p:nvSpPr>
        <p:spPr>
          <a:xfrm>
            <a:off x="612648" y="5596128"/>
            <a:ext cx="10972800" cy="640080"/>
          </a:xfrm>
          <a:prstGeom prst="rect">
            <a:avLst/>
          </a:prstGeom>
          <a:solidFill>
            <a:srgbClr val="FBF5E0"/>
          </a:solidFill>
          <a:ln w="12700">
            <a:solidFill>
              <a:srgbClr val="FBF5E0"/>
            </a:solidFill>
            <a:prstDash val="solid"/>
          </a:ln>
        </p:spPr>
        <p:txBody>
          <a:bodyPr/>
          <a:p/>
        </p:txBody>
      </p:sp>
      <p:sp>
        <p:nvSpPr>
          <p:cNvPr id="10" name="Text 7"/>
          <p:cNvSpPr txBox="1"/>
          <p:nvPr/>
        </p:nvSpPr>
        <p:spPr>
          <a:xfrm>
            <a:off x="841248" y="5596128"/>
            <a:ext cx="10515600" cy="640080"/>
          </a:xfrm>
          <a:prstGeom prst="rect">
            <a:avLst/>
          </a:prstGeom>
          <a:noFill/>
          <a:ln/>
        </p:spPr>
        <p:txBody>
          <a:bodyPr wrap="square" lIns="0" tIns="0" rIns="0" bIns="0" rtlCol="0" anchor="ctr"/>
          <a:lstStyle/>
          <a:p>
            <a:pPr indent="0" marL="0">
              <a:buNone/>
            </a:pPr>
            <a:r>
              <a:rPr lang="en-US" sz="1400" b="1" dirty="0">
                <a:solidFill>
                  <a:srgbClr val="806300"/>
                </a:solidFill>
                <a:latin typeface="Noto Sans JP" pitchFamily="34" charset="0"/>
                <a:ea typeface="Noto Sans JP" pitchFamily="34" charset="-122"/>
                <a:cs typeface="Noto Sans JP" pitchFamily="34" charset="-120"/>
              </a:rPr>
              <a:t>変えなかったこと：予兆の判断に、現場の知見（ベテランの勘と判断基準）を使う　</a:t>
            </a:r>
            <a:pPr indent="0" marL="0">
              <a:buNone/>
            </a:pPr>
            <a:r>
              <a:rPr lang="en-US" sz="1300" dirty="0">
                <a:solidFill>
                  <a:srgbClr val="1A1A1A"/>
                </a:solidFill>
                <a:latin typeface="Noto Sans JP" pitchFamily="34" charset="0"/>
                <a:ea typeface="Noto Sans JP" pitchFamily="34" charset="-122"/>
                <a:cs typeface="Noto Sans JP" pitchFamily="34" charset="-120"/>
              </a:rPr>
              <a:t>ツムグの価値の核</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貸し続けられる環境を、自ら作る</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事業の継続を意識した営業を、いつもの日報から文化にする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効果・投資</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23</a:t>
            </a:r>
            <a:endParaRPr lang="en-US" sz="1200" dirty="0"/>
          </a:p>
        </p:txBody>
      </p:sp>
      <p:sp>
        <p:nvSpPr>
          <p:cNvPr id="8" name="Shape 6"/>
          <p:cNvSpPr/>
          <p:nvPr/>
        </p:nvSpPr>
        <p:spPr>
          <a:xfrm>
            <a:off x="612648" y="2286000"/>
            <a:ext cx="4937760" cy="2148840"/>
          </a:xfrm>
          <a:prstGeom prst="rect">
            <a:avLst/>
          </a:prstGeom>
          <a:solidFill>
            <a:srgbClr val="F2F2F2"/>
          </a:solidFill>
          <a:ln w="12700">
            <a:solidFill>
              <a:srgbClr val="F2F2F2"/>
            </a:solidFill>
            <a:prstDash val="solid"/>
          </a:ln>
        </p:spPr>
        <p:txBody>
          <a:bodyPr/>
          <a:p/>
        </p:txBody>
      </p:sp>
      <p:sp>
        <p:nvSpPr>
          <p:cNvPr id="9" name="Text 7"/>
          <p:cNvSpPr txBox="1"/>
          <p:nvPr/>
        </p:nvSpPr>
        <p:spPr>
          <a:xfrm>
            <a:off x="841248" y="2468880"/>
            <a:ext cx="4480560" cy="1874520"/>
          </a:xfrm>
          <a:prstGeom prst="rect">
            <a:avLst/>
          </a:prstGeom>
          <a:noFill/>
          <a:ln/>
        </p:spPr>
        <p:txBody>
          <a:bodyPr wrap="square" lIns="0" tIns="0" rIns="0" bIns="0" rtlCol="0" anchor="t"/>
          <a:lstStyle/>
          <a:p>
            <a:pPr indent="0" marL="0">
              <a:spcAft>
                <a:spcPts val="800"/>
              </a:spcAft>
              <a:buNone/>
            </a:pPr>
            <a:r>
              <a:rPr lang="en-US" sz="1600" b="1" dirty="0">
                <a:solidFill>
                  <a:srgbClr val="666666"/>
                </a:solidFill>
                <a:latin typeface="Noto Sans JP" pitchFamily="34" charset="0"/>
                <a:ea typeface="Noto Sans JP" pitchFamily="34" charset="-122"/>
                <a:cs typeface="Noto Sans JP" pitchFamily="34" charset="-120"/>
              </a:rPr>
              <a:t>融資するか、しないかを判断するだけの銀行</a:t>
            </a:r>
            <a:endParaRPr lang="en-US" sz="1400" dirty="0"/>
          </a:p>
          <a:p>
            <a:pPr indent="0" marL="0">
              <a:spcAft>
                <a:spcPts val="800"/>
              </a:spcAft>
              <a:buNone/>
            </a:pPr>
            <a:r>
              <a:rPr lang="en-US" sz="600" dirty="0">
                <a:solidFill>
                  <a:srgbClr val="1A1A1A"/>
                </a:solidFill>
                <a:latin typeface="Noto Sans JP" pitchFamily="34" charset="0"/>
                <a:ea typeface="Noto Sans JP" pitchFamily="34" charset="-122"/>
                <a:cs typeface="Noto Sans JP" pitchFamily="34" charset="-120"/>
              </a:rPr>
              <a:t> </a:t>
            </a:r>
            <a:endParaRPr lang="en-US" sz="1400" dirty="0"/>
          </a:p>
          <a:p>
            <a:pPr marL="342900" indent="-342900">
              <a:spcAft>
                <a:spcPts val="800"/>
              </a:spcAft>
              <a:buSzPct val="100000"/>
              <a:buChar char="•"/>
            </a:pPr>
            <a:r>
              <a:rPr lang="en-US" sz="1400" dirty="0">
                <a:solidFill>
                  <a:srgbClr val="1A1A1A"/>
                </a:solidFill>
                <a:latin typeface="Noto Sans JP" pitchFamily="34" charset="0"/>
                <a:ea typeface="Noto Sans JP" pitchFamily="34" charset="-122"/>
                <a:cs typeface="Noto Sans JP" pitchFamily="34" charset="-120"/>
              </a:rPr>
              <a:t>業績が悪くなってから気づく</a:t>
            </a:r>
            <a:endParaRPr lang="en-US" sz="1400" dirty="0"/>
          </a:p>
          <a:p>
            <a:pPr marL="342900" indent="-342900">
              <a:spcAft>
                <a:spcPts val="800"/>
              </a:spcAft>
              <a:buSzPct val="100000"/>
              <a:buChar char="•"/>
            </a:pPr>
            <a:r>
              <a:rPr lang="en-US" sz="1400" dirty="0">
                <a:solidFill>
                  <a:srgbClr val="1A1A1A"/>
                </a:solidFill>
                <a:latin typeface="Noto Sans JP" pitchFamily="34" charset="0"/>
                <a:ea typeface="Noto Sans JP" pitchFamily="34" charset="-122"/>
                <a:cs typeface="Noto Sans JP" pitchFamily="34" charset="-120"/>
              </a:rPr>
              <a:t>打てる手が少なく、貸すか引き上げるかの二択になる</a:t>
            </a:r>
            <a:endParaRPr lang="en-US" sz="1400" dirty="0"/>
          </a:p>
          <a:p>
            <a:pPr marL="342900" indent="-342900">
              <a:spcAft>
                <a:spcPts val="800"/>
              </a:spcAft>
              <a:buSzPct val="100000"/>
              <a:buChar char="•"/>
            </a:pPr>
            <a:r>
              <a:rPr lang="en-US" sz="1400" dirty="0">
                <a:solidFill>
                  <a:srgbClr val="1A1A1A"/>
                </a:solidFill>
                <a:latin typeface="Noto Sans JP" pitchFamily="34" charset="0"/>
                <a:ea typeface="Noto Sans JP" pitchFamily="34" charset="-122"/>
                <a:cs typeface="Noto Sans JP" pitchFamily="34" charset="-120"/>
              </a:rPr>
              <a:t>取引が先細り、関係も浅いまま</a:t>
            </a:r>
            <a:endParaRPr lang="en-US" sz="1400" dirty="0"/>
          </a:p>
        </p:txBody>
      </p:sp>
      <p:sp>
        <p:nvSpPr>
          <p:cNvPr id="10" name="Shape 8"/>
          <p:cNvSpPr/>
          <p:nvPr/>
        </p:nvSpPr>
        <p:spPr>
          <a:xfrm>
            <a:off x="5687568" y="3360420"/>
            <a:ext cx="822960" cy="0"/>
          </a:xfrm>
          <a:prstGeom prst="line">
            <a:avLst/>
          </a:prstGeom>
          <a:noFill/>
          <a:ln w="19050">
            <a:solidFill>
              <a:srgbClr val="666666"/>
            </a:solidFill>
            <a:prstDash val="solid"/>
            <a:tailEnd type="triangle"/>
          </a:ln>
        </p:spPr>
        <p:txBody>
          <a:bodyPr/>
          <a:p/>
        </p:txBody>
      </p:sp>
      <p:sp>
        <p:nvSpPr>
          <p:cNvPr id="11" name="Shape 9"/>
          <p:cNvSpPr/>
          <p:nvPr/>
        </p:nvSpPr>
        <p:spPr>
          <a:xfrm>
            <a:off x="6647688" y="2286000"/>
            <a:ext cx="4937760" cy="2148840"/>
          </a:xfrm>
          <a:prstGeom prst="rect">
            <a:avLst/>
          </a:prstGeom>
          <a:solidFill>
            <a:srgbClr val="E8F1FE"/>
          </a:solidFill>
          <a:ln w="12700">
            <a:solidFill>
              <a:srgbClr val="E8F1FE"/>
            </a:solidFill>
            <a:prstDash val="solid"/>
          </a:ln>
        </p:spPr>
        <p:txBody>
          <a:bodyPr/>
          <a:p/>
        </p:txBody>
      </p:sp>
      <p:sp>
        <p:nvSpPr>
          <p:cNvPr id="12" name="Text 10"/>
          <p:cNvSpPr txBox="1"/>
          <p:nvPr/>
        </p:nvSpPr>
        <p:spPr>
          <a:xfrm>
            <a:off x="6876288" y="2468880"/>
            <a:ext cx="4480560" cy="1874520"/>
          </a:xfrm>
          <a:prstGeom prst="rect">
            <a:avLst/>
          </a:prstGeom>
          <a:noFill/>
          <a:ln/>
        </p:spPr>
        <p:txBody>
          <a:bodyPr wrap="square" lIns="0" tIns="0" rIns="0" bIns="0" rtlCol="0" anchor="t"/>
          <a:lstStyle/>
          <a:p>
            <a:pPr indent="0" marL="0">
              <a:spcAft>
                <a:spcPts val="800"/>
              </a:spcAft>
              <a:buNone/>
            </a:pPr>
            <a:r>
              <a:rPr lang="en-US" sz="1600" b="1" dirty="0">
                <a:solidFill>
                  <a:srgbClr val="0017C1"/>
                </a:solidFill>
                <a:latin typeface="Noto Sans JP" pitchFamily="34" charset="0"/>
                <a:ea typeface="Noto Sans JP" pitchFamily="34" charset="-122"/>
                <a:cs typeface="Noto Sans JP" pitchFamily="34" charset="-120"/>
              </a:rPr>
              <a:t>支援して、貸し続けられる状態を作る銀行</a:t>
            </a:r>
            <a:endParaRPr lang="en-US" sz="1400" dirty="0"/>
          </a:p>
          <a:p>
            <a:pPr indent="0" marL="0">
              <a:spcAft>
                <a:spcPts val="800"/>
              </a:spcAft>
              <a:buNone/>
            </a:pPr>
            <a:r>
              <a:rPr lang="en-US" sz="600" dirty="0">
                <a:solidFill>
                  <a:srgbClr val="1A1A1A"/>
                </a:solidFill>
                <a:latin typeface="Noto Sans JP" pitchFamily="34" charset="0"/>
                <a:ea typeface="Noto Sans JP" pitchFamily="34" charset="-122"/>
                <a:cs typeface="Noto Sans JP" pitchFamily="34" charset="-120"/>
              </a:rPr>
              <a:t> </a:t>
            </a:r>
            <a:endParaRPr lang="en-US" sz="1400" dirty="0"/>
          </a:p>
          <a:p>
            <a:pPr marL="342900" indent="-342900">
              <a:spcAft>
                <a:spcPts val="800"/>
              </a:spcAft>
              <a:buSzPct val="100000"/>
              <a:buChar char="•"/>
            </a:pPr>
            <a:r>
              <a:rPr lang="en-US" sz="1400" dirty="0">
                <a:solidFill>
                  <a:srgbClr val="1A1A1A"/>
                </a:solidFill>
                <a:latin typeface="Noto Sans JP" pitchFamily="34" charset="0"/>
                <a:ea typeface="Noto Sans JP" pitchFamily="34" charset="-122"/>
                <a:cs typeface="Noto Sans JP" pitchFamily="34" charset="-120"/>
              </a:rPr>
              <a:t>日報の小さな変化から、早く気づく</a:t>
            </a:r>
            <a:endParaRPr lang="en-US" sz="1400" dirty="0"/>
          </a:p>
          <a:p>
            <a:pPr marL="342900" indent="-342900">
              <a:spcAft>
                <a:spcPts val="800"/>
              </a:spcAft>
              <a:buSzPct val="100000"/>
              <a:buChar char="•"/>
            </a:pPr>
            <a:r>
              <a:rPr lang="en-US" sz="1400" dirty="0">
                <a:solidFill>
                  <a:srgbClr val="1A1A1A"/>
                </a:solidFill>
                <a:latin typeface="Noto Sans JP" pitchFamily="34" charset="0"/>
                <a:ea typeface="Noto Sans JP" pitchFamily="34" charset="-122"/>
                <a:cs typeface="Noto Sans JP" pitchFamily="34" charset="-120"/>
              </a:rPr>
              <a:t>承継・成長・相続の支援で、打てる手を増やす</a:t>
            </a:r>
            <a:endParaRPr lang="en-US" sz="1400" dirty="0"/>
          </a:p>
          <a:p>
            <a:pPr marL="342900" indent="-342900">
              <a:spcAft>
                <a:spcPts val="800"/>
              </a:spcAft>
              <a:buSzPct val="100000"/>
              <a:buChar char="•"/>
            </a:pPr>
            <a:r>
              <a:rPr lang="en-US" sz="1400" dirty="0">
                <a:solidFill>
                  <a:srgbClr val="1A1A1A"/>
                </a:solidFill>
                <a:latin typeface="Noto Sans JP" pitchFamily="34" charset="0"/>
                <a:ea typeface="Noto Sans JP" pitchFamily="34" charset="-122"/>
                <a:cs typeface="Noto Sans JP" pitchFamily="34" charset="-120"/>
              </a:rPr>
              <a:t>企業が続き、貸出も続く。お金だけではない信頼ができる</a:t>
            </a:r>
            <a:endParaRPr lang="en-US" sz="1400" dirty="0"/>
          </a:p>
        </p:txBody>
      </p:sp>
      <p:sp>
        <p:nvSpPr>
          <p:cNvPr id="13" name="Shape 11"/>
          <p:cNvSpPr/>
          <p:nvPr/>
        </p:nvSpPr>
        <p:spPr>
          <a:xfrm>
            <a:off x="612648" y="4617720"/>
            <a:ext cx="3535680" cy="1097280"/>
          </a:xfrm>
          <a:prstGeom prst="rect">
            <a:avLst/>
          </a:prstGeom>
          <a:solidFill>
            <a:srgbClr val="E6F5EC"/>
          </a:solidFill>
          <a:ln w="12700">
            <a:solidFill>
              <a:srgbClr val="E6F5EC"/>
            </a:solidFill>
            <a:prstDash val="solid"/>
          </a:ln>
        </p:spPr>
        <p:txBody>
          <a:bodyPr/>
          <a:p/>
        </p:txBody>
      </p:sp>
      <p:sp>
        <p:nvSpPr>
          <p:cNvPr id="14" name="Text 12"/>
          <p:cNvSpPr txBox="1"/>
          <p:nvPr/>
        </p:nvSpPr>
        <p:spPr>
          <a:xfrm>
            <a:off x="795528" y="4754880"/>
            <a:ext cx="3169920" cy="868680"/>
          </a:xfrm>
          <a:prstGeom prst="rect">
            <a:avLst/>
          </a:prstGeom>
          <a:noFill/>
          <a:ln/>
        </p:spPr>
        <p:txBody>
          <a:bodyPr wrap="square" lIns="0" tIns="0" rIns="0" bIns="0" rtlCol="0" anchor="t"/>
          <a:lstStyle/>
          <a:p>
            <a:pPr indent="0" marL="0">
              <a:lnSpc>
                <a:spcPct val="120000"/>
              </a:lnSpc>
              <a:spcAft>
                <a:spcPts val="300"/>
              </a:spcAft>
              <a:buNone/>
            </a:pPr>
            <a:r>
              <a:rPr lang="en-US" sz="1400" b="1" dirty="0">
                <a:solidFill>
                  <a:srgbClr val="197A4B"/>
                </a:solidFill>
                <a:latin typeface="Noto Sans JP" pitchFamily="34" charset="0"/>
                <a:ea typeface="Noto Sans JP" pitchFamily="34" charset="-122"/>
                <a:cs typeface="Noto Sans JP" pitchFamily="34" charset="-120"/>
              </a:rPr>
              <a:t>承継に取り組める人が増える</a:t>
            </a:r>
            <a:endParaRPr lang="en-US" sz="1400" dirty="0"/>
          </a:p>
          <a:p>
            <a:pPr indent="0" marL="0">
              <a:lnSpc>
                <a:spcPct val="120000"/>
              </a:lnSpc>
              <a:spcAft>
                <a:spcPts val="300"/>
              </a:spcAft>
              <a:buNone/>
            </a:pPr>
            <a:r>
              <a:rPr lang="en-US" sz="1200" dirty="0">
                <a:solidFill>
                  <a:srgbClr val="1A1A1A"/>
                </a:solidFill>
                <a:latin typeface="Noto Sans JP" pitchFamily="34" charset="0"/>
                <a:ea typeface="Noto Sans JP" pitchFamily="34" charset="-122"/>
                <a:cs typeface="Noto Sans JP" pitchFamily="34" charset="-120"/>
              </a:rPr>
              <a:t>経験の浅い担当者も、ベテランの知見を借りて動ける</a:t>
            </a:r>
            <a:endParaRPr lang="en-US" sz="1400" dirty="0"/>
          </a:p>
        </p:txBody>
      </p:sp>
      <p:sp>
        <p:nvSpPr>
          <p:cNvPr id="15" name="Shape 13"/>
          <p:cNvSpPr/>
          <p:nvPr/>
        </p:nvSpPr>
        <p:spPr>
          <a:xfrm>
            <a:off x="4331208" y="4617720"/>
            <a:ext cx="3535680" cy="1097280"/>
          </a:xfrm>
          <a:prstGeom prst="rect">
            <a:avLst/>
          </a:prstGeom>
          <a:solidFill>
            <a:srgbClr val="E6F5EC"/>
          </a:solidFill>
          <a:ln w="12700">
            <a:solidFill>
              <a:srgbClr val="E6F5EC"/>
            </a:solidFill>
            <a:prstDash val="solid"/>
          </a:ln>
        </p:spPr>
        <p:txBody>
          <a:bodyPr/>
          <a:p/>
        </p:txBody>
      </p:sp>
      <p:sp>
        <p:nvSpPr>
          <p:cNvPr id="16" name="Text 14"/>
          <p:cNvSpPr txBox="1"/>
          <p:nvPr/>
        </p:nvSpPr>
        <p:spPr>
          <a:xfrm>
            <a:off x="4514088" y="4754880"/>
            <a:ext cx="3169920" cy="868680"/>
          </a:xfrm>
          <a:prstGeom prst="rect">
            <a:avLst/>
          </a:prstGeom>
          <a:noFill/>
          <a:ln/>
        </p:spPr>
        <p:txBody>
          <a:bodyPr wrap="square" lIns="0" tIns="0" rIns="0" bIns="0" rtlCol="0" anchor="t"/>
          <a:lstStyle/>
          <a:p>
            <a:pPr indent="0" marL="0">
              <a:lnSpc>
                <a:spcPct val="120000"/>
              </a:lnSpc>
              <a:spcAft>
                <a:spcPts val="300"/>
              </a:spcAft>
              <a:buNone/>
            </a:pPr>
            <a:r>
              <a:rPr lang="en-US" sz="1400" b="1" dirty="0">
                <a:solidFill>
                  <a:srgbClr val="197A4B"/>
                </a:solidFill>
                <a:latin typeface="Noto Sans JP" pitchFamily="34" charset="0"/>
                <a:ea typeface="Noto Sans JP" pitchFamily="34" charset="-122"/>
                <a:cs typeface="Noto Sans JP" pitchFamily="34" charset="-120"/>
              </a:rPr>
              <a:t>情報が自然に貯まる</a:t>
            </a:r>
            <a:endParaRPr lang="en-US" sz="1400" dirty="0"/>
          </a:p>
          <a:p>
            <a:pPr indent="0" marL="0">
              <a:lnSpc>
                <a:spcPct val="120000"/>
              </a:lnSpc>
              <a:spcAft>
                <a:spcPts val="300"/>
              </a:spcAft>
              <a:buNone/>
            </a:pPr>
            <a:r>
              <a:rPr lang="en-US" sz="1200" dirty="0">
                <a:solidFill>
                  <a:srgbClr val="1A1A1A"/>
                </a:solidFill>
                <a:latin typeface="Noto Sans JP" pitchFamily="34" charset="0"/>
                <a:ea typeface="Noto Sans JP" pitchFamily="34" charset="-122"/>
                <a:cs typeface="Noto Sans JP" pitchFamily="34" charset="-120"/>
              </a:rPr>
              <a:t>いつもの営業活動が、そのまま企業が続くための記録になる</a:t>
            </a:r>
            <a:endParaRPr lang="en-US" sz="1400" dirty="0"/>
          </a:p>
        </p:txBody>
      </p:sp>
      <p:sp>
        <p:nvSpPr>
          <p:cNvPr id="17" name="Shape 15"/>
          <p:cNvSpPr/>
          <p:nvPr/>
        </p:nvSpPr>
        <p:spPr>
          <a:xfrm>
            <a:off x="8049768" y="4617720"/>
            <a:ext cx="3535680" cy="1097280"/>
          </a:xfrm>
          <a:prstGeom prst="rect">
            <a:avLst/>
          </a:prstGeom>
          <a:solidFill>
            <a:srgbClr val="E6F5EC"/>
          </a:solidFill>
          <a:ln w="12700">
            <a:solidFill>
              <a:srgbClr val="E6F5EC"/>
            </a:solidFill>
            <a:prstDash val="solid"/>
          </a:ln>
        </p:spPr>
        <p:txBody>
          <a:bodyPr/>
          <a:p/>
        </p:txBody>
      </p:sp>
      <p:sp>
        <p:nvSpPr>
          <p:cNvPr id="18" name="Text 16"/>
          <p:cNvSpPr txBox="1"/>
          <p:nvPr/>
        </p:nvSpPr>
        <p:spPr>
          <a:xfrm>
            <a:off x="8232648" y="4754880"/>
            <a:ext cx="3169920" cy="868680"/>
          </a:xfrm>
          <a:prstGeom prst="rect">
            <a:avLst/>
          </a:prstGeom>
          <a:noFill/>
          <a:ln/>
        </p:spPr>
        <p:txBody>
          <a:bodyPr wrap="square" lIns="0" tIns="0" rIns="0" bIns="0" rtlCol="0" anchor="t"/>
          <a:lstStyle/>
          <a:p>
            <a:pPr indent="0" marL="0">
              <a:lnSpc>
                <a:spcPct val="120000"/>
              </a:lnSpc>
              <a:spcAft>
                <a:spcPts val="300"/>
              </a:spcAft>
              <a:buNone/>
            </a:pPr>
            <a:r>
              <a:rPr lang="en-US" sz="1400" b="1" dirty="0">
                <a:solidFill>
                  <a:srgbClr val="197A4B"/>
                </a:solidFill>
                <a:latin typeface="Noto Sans JP" pitchFamily="34" charset="0"/>
                <a:ea typeface="Noto Sans JP" pitchFamily="34" charset="-122"/>
                <a:cs typeface="Noto Sans JP" pitchFamily="34" charset="-120"/>
              </a:rPr>
              <a:t>示唆が育つ</a:t>
            </a:r>
            <a:endParaRPr lang="en-US" sz="1400" dirty="0"/>
          </a:p>
          <a:p>
            <a:pPr indent="0" marL="0">
              <a:lnSpc>
                <a:spcPct val="120000"/>
              </a:lnSpc>
              <a:spcAft>
                <a:spcPts val="300"/>
              </a:spcAft>
              <a:buNone/>
            </a:pPr>
            <a:r>
              <a:rPr lang="en-US" sz="1200" dirty="0">
                <a:solidFill>
                  <a:srgbClr val="1A1A1A"/>
                </a:solidFill>
                <a:latin typeface="Noto Sans JP" pitchFamily="34" charset="0"/>
                <a:ea typeface="Noto Sans JP" pitchFamily="34" charset="-122"/>
                <a:cs typeface="Noto Sans JP" pitchFamily="34" charset="-120"/>
              </a:rPr>
              <a:t>その日の日報がクエリとなり、貯まった記録から確かな示唆が返る</a:t>
            </a:r>
            <a:endParaRPr lang="en-US" sz="1400" dirty="0"/>
          </a:p>
        </p:txBody>
      </p:sp>
      <p:sp>
        <p:nvSpPr>
          <p:cNvPr id="19" name="Text 17"/>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ツムグの情報は融資の判断には使わない。使うのは、企業が続くよう支援するため</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導入によって期待される効果</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担当者が先に得をし、その記録から、支店・本部・銀行の効果が生まれる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効果・投資</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24</a:t>
            </a:r>
            <a:endParaRPr lang="en-US" sz="1200" dirty="0"/>
          </a:p>
        </p:txBody>
      </p:sp>
      <p:sp>
        <p:nvSpPr>
          <p:cNvPr id="8" name="Shape 6"/>
          <p:cNvSpPr/>
          <p:nvPr/>
        </p:nvSpPr>
        <p:spPr>
          <a:xfrm>
            <a:off x="612648" y="2240280"/>
            <a:ext cx="2571750" cy="1188720"/>
          </a:xfrm>
          <a:prstGeom prst="rect">
            <a:avLst/>
          </a:prstGeom>
          <a:solidFill>
            <a:srgbClr val="E6F5EC"/>
          </a:solidFill>
          <a:ln w="12700">
            <a:solidFill>
              <a:srgbClr val="E6F5EC"/>
            </a:solidFill>
            <a:prstDash val="solid"/>
          </a:ln>
        </p:spPr>
        <p:txBody>
          <a:bodyPr/>
          <a:p/>
        </p:txBody>
      </p:sp>
      <p:sp>
        <p:nvSpPr>
          <p:cNvPr id="9" name="Text 7"/>
          <p:cNvSpPr txBox="1"/>
          <p:nvPr/>
        </p:nvSpPr>
        <p:spPr>
          <a:xfrm>
            <a:off x="795528" y="2377440"/>
            <a:ext cx="2205990" cy="960120"/>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97A4B"/>
                </a:solidFill>
                <a:latin typeface="Noto Sans JP" pitchFamily="34" charset="0"/>
                <a:ea typeface="Noto Sans JP" pitchFamily="34" charset="-122"/>
                <a:cs typeface="Noto Sans JP" pitchFamily="34" charset="-120"/>
              </a:rPr>
              <a:t>承継に取り組める人が増える</a:t>
            </a:r>
            <a:endParaRPr lang="en-US" sz="1300" dirty="0"/>
          </a:p>
          <a:p>
            <a:pPr indent="0" marL="0">
              <a:lnSpc>
                <a:spcPct val="120000"/>
              </a:lnSpc>
              <a:spcAft>
                <a:spcPts val="300"/>
              </a:spcAft>
              <a:buNone/>
            </a:pPr>
            <a:r>
              <a:rPr lang="en-US" sz="1200" dirty="0">
                <a:solidFill>
                  <a:srgbClr val="1A1A1A"/>
                </a:solidFill>
                <a:latin typeface="Noto Sans JP" pitchFamily="34" charset="0"/>
                <a:ea typeface="Noto Sans JP" pitchFamily="34" charset="-122"/>
                <a:cs typeface="Noto Sans JP" pitchFamily="34" charset="-120"/>
              </a:rPr>
              <a:t>経験の浅い担当者も、ベテランの知見を借りて支援できる</a:t>
            </a:r>
            <a:endParaRPr lang="en-US" sz="1300" dirty="0"/>
          </a:p>
        </p:txBody>
      </p:sp>
      <p:sp>
        <p:nvSpPr>
          <p:cNvPr id="10" name="Shape 8"/>
          <p:cNvSpPr/>
          <p:nvPr/>
        </p:nvSpPr>
        <p:spPr>
          <a:xfrm>
            <a:off x="3412998" y="2240280"/>
            <a:ext cx="2571750" cy="1188720"/>
          </a:xfrm>
          <a:prstGeom prst="rect">
            <a:avLst/>
          </a:prstGeom>
          <a:solidFill>
            <a:srgbClr val="E6F5EC"/>
          </a:solidFill>
          <a:ln w="12700">
            <a:solidFill>
              <a:srgbClr val="E6F5EC"/>
            </a:solidFill>
            <a:prstDash val="solid"/>
          </a:ln>
        </p:spPr>
        <p:txBody>
          <a:bodyPr/>
          <a:p/>
        </p:txBody>
      </p:sp>
      <p:sp>
        <p:nvSpPr>
          <p:cNvPr id="11" name="Text 9"/>
          <p:cNvSpPr txBox="1"/>
          <p:nvPr/>
        </p:nvSpPr>
        <p:spPr>
          <a:xfrm>
            <a:off x="3595878" y="2377440"/>
            <a:ext cx="2205990" cy="960120"/>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97A4B"/>
                </a:solidFill>
                <a:latin typeface="Noto Sans JP" pitchFamily="34" charset="0"/>
                <a:ea typeface="Noto Sans JP" pitchFamily="34" charset="-122"/>
                <a:cs typeface="Noto Sans JP" pitchFamily="34" charset="-120"/>
              </a:rPr>
              <a:t>関係の継続性</a:t>
            </a:r>
            <a:endParaRPr lang="en-US" sz="1300" dirty="0"/>
          </a:p>
          <a:p>
            <a:pPr indent="0" marL="0">
              <a:lnSpc>
                <a:spcPct val="120000"/>
              </a:lnSpc>
              <a:spcAft>
                <a:spcPts val="300"/>
              </a:spcAft>
              <a:buNone/>
            </a:pPr>
            <a:r>
              <a:rPr lang="en-US" sz="1200" dirty="0">
                <a:solidFill>
                  <a:srgbClr val="1A1A1A"/>
                </a:solidFill>
                <a:latin typeface="Noto Sans JP" pitchFamily="34" charset="0"/>
                <a:ea typeface="Noto Sans JP" pitchFamily="34" charset="-122"/>
                <a:cs typeface="Noto Sans JP" pitchFamily="34" charset="-120"/>
              </a:rPr>
              <a:t>担当者が変わっても、顧客との関係の積み重ねが途切れない</a:t>
            </a:r>
            <a:endParaRPr lang="en-US" sz="1300" dirty="0"/>
          </a:p>
        </p:txBody>
      </p:sp>
      <p:sp>
        <p:nvSpPr>
          <p:cNvPr id="12" name="Shape 10"/>
          <p:cNvSpPr/>
          <p:nvPr/>
        </p:nvSpPr>
        <p:spPr>
          <a:xfrm>
            <a:off x="6213348" y="2240280"/>
            <a:ext cx="2571750" cy="1188720"/>
          </a:xfrm>
          <a:prstGeom prst="rect">
            <a:avLst/>
          </a:prstGeom>
          <a:solidFill>
            <a:srgbClr val="E6F5EC"/>
          </a:solidFill>
          <a:ln w="12700">
            <a:solidFill>
              <a:srgbClr val="E6F5EC"/>
            </a:solidFill>
            <a:prstDash val="solid"/>
          </a:ln>
        </p:spPr>
        <p:txBody>
          <a:bodyPr/>
          <a:p/>
        </p:txBody>
      </p:sp>
      <p:sp>
        <p:nvSpPr>
          <p:cNvPr id="13" name="Text 11"/>
          <p:cNvSpPr txBox="1"/>
          <p:nvPr/>
        </p:nvSpPr>
        <p:spPr>
          <a:xfrm>
            <a:off x="6396228" y="2377440"/>
            <a:ext cx="2205990" cy="960120"/>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97A4B"/>
                </a:solidFill>
                <a:latin typeface="Noto Sans JP" pitchFamily="34" charset="0"/>
                <a:ea typeface="Noto Sans JP" pitchFamily="34" charset="-122"/>
                <a:cs typeface="Noto Sans JP" pitchFamily="34" charset="-120"/>
              </a:rPr>
              <a:t>支援機会の早期発見</a:t>
            </a:r>
            <a:endParaRPr lang="en-US" sz="1300" dirty="0"/>
          </a:p>
          <a:p>
            <a:pPr indent="0" marL="0">
              <a:lnSpc>
                <a:spcPct val="120000"/>
              </a:lnSpc>
              <a:spcAft>
                <a:spcPts val="300"/>
              </a:spcAft>
              <a:buNone/>
            </a:pPr>
            <a:r>
              <a:rPr lang="en-US" sz="1200" dirty="0">
                <a:solidFill>
                  <a:srgbClr val="1A1A1A"/>
                </a:solidFill>
                <a:latin typeface="Noto Sans JP" pitchFamily="34" charset="0"/>
                <a:ea typeface="Noto Sans JP" pitchFamily="34" charset="-122"/>
                <a:cs typeface="Noto Sans JP" pitchFamily="34" charset="-120"/>
              </a:rPr>
              <a:t>複数の記録をつなぎ、個人では気づきにくい予兆に気づける</a:t>
            </a:r>
            <a:endParaRPr lang="en-US" sz="1300" dirty="0"/>
          </a:p>
        </p:txBody>
      </p:sp>
      <p:sp>
        <p:nvSpPr>
          <p:cNvPr id="14" name="Shape 12"/>
          <p:cNvSpPr/>
          <p:nvPr/>
        </p:nvSpPr>
        <p:spPr>
          <a:xfrm>
            <a:off x="9013698" y="2240280"/>
            <a:ext cx="2571750" cy="1188720"/>
          </a:xfrm>
          <a:prstGeom prst="rect">
            <a:avLst/>
          </a:prstGeom>
          <a:solidFill>
            <a:srgbClr val="E6F5EC"/>
          </a:solidFill>
          <a:ln w="12700">
            <a:solidFill>
              <a:srgbClr val="E6F5EC"/>
            </a:solidFill>
            <a:prstDash val="solid"/>
          </a:ln>
        </p:spPr>
        <p:txBody>
          <a:bodyPr/>
          <a:p/>
        </p:txBody>
      </p:sp>
      <p:sp>
        <p:nvSpPr>
          <p:cNvPr id="15" name="Text 13"/>
          <p:cNvSpPr txBox="1"/>
          <p:nvPr/>
        </p:nvSpPr>
        <p:spPr>
          <a:xfrm>
            <a:off x="9196578" y="2377440"/>
            <a:ext cx="2205990" cy="960120"/>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97A4B"/>
                </a:solidFill>
                <a:latin typeface="Noto Sans JP" pitchFamily="34" charset="0"/>
                <a:ea typeface="Noto Sans JP" pitchFamily="34" charset="-122"/>
                <a:cs typeface="Noto Sans JP" pitchFamily="34" charset="-120"/>
              </a:rPr>
              <a:t>担当者の負担軽減</a:t>
            </a:r>
            <a:endParaRPr lang="en-US" sz="1300" dirty="0"/>
          </a:p>
          <a:p>
            <a:pPr indent="0" marL="0">
              <a:lnSpc>
                <a:spcPct val="120000"/>
              </a:lnSpc>
              <a:spcAft>
                <a:spcPts val="300"/>
              </a:spcAft>
              <a:buNone/>
            </a:pPr>
            <a:r>
              <a:rPr lang="en-US" sz="1200" dirty="0">
                <a:solidFill>
                  <a:srgbClr val="1A1A1A"/>
                </a:solidFill>
                <a:latin typeface="Noto Sans JP" pitchFamily="34" charset="0"/>
                <a:ea typeface="Noto Sans JP" pitchFamily="34" charset="-122"/>
                <a:cs typeface="Noto Sans JP" pitchFamily="34" charset="-120"/>
              </a:rPr>
              <a:t>着任時から過去の経緯がわかり、築き直す負担が減る</a:t>
            </a:r>
            <a:endParaRPr lang="en-US" sz="1300" dirty="0"/>
          </a:p>
        </p:txBody>
      </p:sp>
      <p:sp>
        <p:nvSpPr>
          <p:cNvPr id="16" name="Text 14"/>
          <p:cNvSpPr txBox="1"/>
          <p:nvPr/>
        </p:nvSpPr>
        <p:spPr>
          <a:xfrm>
            <a:off x="612648" y="3611880"/>
            <a:ext cx="4572000" cy="320040"/>
          </a:xfrm>
          <a:prstGeom prst="rect">
            <a:avLst/>
          </a:prstGeom>
          <a:noFill/>
          <a:ln/>
        </p:spPr>
        <p:txBody>
          <a:bodyPr wrap="square" lIns="0" tIns="0" rIns="0" bIns="0" rtlCol="0" anchor="t"/>
          <a:lstStyle/>
          <a:p>
            <a:pPr indent="0" marL="0">
              <a:buNone/>
            </a:pPr>
            <a:r>
              <a:rPr lang="en-US" sz="1400" b="1" dirty="0">
                <a:solidFill>
                  <a:srgbClr val="666666"/>
                </a:solidFill>
                <a:latin typeface="Noto Sans JP" pitchFamily="34" charset="0"/>
                <a:ea typeface="Noto Sans JP" pitchFamily="34" charset="-122"/>
                <a:cs typeface="Noto Sans JP" pitchFamily="34" charset="-120"/>
              </a:rPr>
              <a:t>立場ごとに見ると</a:t>
            </a:r>
            <a:endParaRPr lang="en-US" sz="1400" dirty="0"/>
          </a:p>
        </p:txBody>
      </p:sp>
      <p:sp>
        <p:nvSpPr>
          <p:cNvPr id="17" name="Shape 15"/>
          <p:cNvSpPr/>
          <p:nvPr/>
        </p:nvSpPr>
        <p:spPr>
          <a:xfrm>
            <a:off x="612648" y="3977640"/>
            <a:ext cx="2640330" cy="384048"/>
          </a:xfrm>
          <a:prstGeom prst="rect">
            <a:avLst/>
          </a:prstGeom>
          <a:solidFill>
            <a:srgbClr val="0017C1"/>
          </a:solidFill>
          <a:ln w="12700">
            <a:solidFill>
              <a:srgbClr val="0017C1"/>
            </a:solidFill>
            <a:prstDash val="solid"/>
          </a:ln>
        </p:spPr>
        <p:txBody>
          <a:bodyPr/>
          <a:p/>
        </p:txBody>
      </p:sp>
      <p:sp>
        <p:nvSpPr>
          <p:cNvPr id="18" name="Text 16"/>
          <p:cNvSpPr txBox="1"/>
          <p:nvPr/>
        </p:nvSpPr>
        <p:spPr>
          <a:xfrm>
            <a:off x="612648" y="3977640"/>
            <a:ext cx="264033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担当者</a:t>
            </a:r>
            <a:endParaRPr lang="en-US" sz="1400" dirty="0"/>
          </a:p>
        </p:txBody>
      </p:sp>
      <p:sp>
        <p:nvSpPr>
          <p:cNvPr id="19" name="Shape 17"/>
          <p:cNvSpPr/>
          <p:nvPr/>
        </p:nvSpPr>
        <p:spPr>
          <a:xfrm>
            <a:off x="612648" y="4407408"/>
            <a:ext cx="2640330" cy="1783080"/>
          </a:xfrm>
          <a:prstGeom prst="rect">
            <a:avLst/>
          </a:prstGeom>
          <a:solidFill>
            <a:srgbClr val="F2F2F2"/>
          </a:solidFill>
          <a:ln w="12700">
            <a:solidFill>
              <a:srgbClr val="F2F2F2"/>
            </a:solidFill>
            <a:prstDash val="solid"/>
          </a:ln>
        </p:spPr>
        <p:txBody>
          <a:bodyPr/>
          <a:p/>
        </p:txBody>
      </p:sp>
      <p:sp>
        <p:nvSpPr>
          <p:cNvPr id="20" name="Text 18"/>
          <p:cNvSpPr txBox="1"/>
          <p:nvPr/>
        </p:nvSpPr>
        <p:spPr>
          <a:xfrm>
            <a:off x="722376" y="4498848"/>
            <a:ext cx="2420874" cy="16459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訪問前に過去の経緯がわかる</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何を聞けばよいかのヒント</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誰に聞けばよいかがわかる</a:t>
            </a:r>
            <a:endParaRPr lang="en-US" sz="1200" dirty="0"/>
          </a:p>
        </p:txBody>
      </p:sp>
      <p:sp>
        <p:nvSpPr>
          <p:cNvPr id="21" name="Shape 19"/>
          <p:cNvSpPr/>
          <p:nvPr/>
        </p:nvSpPr>
        <p:spPr>
          <a:xfrm>
            <a:off x="3390138" y="3977640"/>
            <a:ext cx="2640330" cy="384048"/>
          </a:xfrm>
          <a:prstGeom prst="rect">
            <a:avLst/>
          </a:prstGeom>
          <a:solidFill>
            <a:srgbClr val="0017C1"/>
          </a:solidFill>
          <a:ln w="12700">
            <a:solidFill>
              <a:srgbClr val="0017C1"/>
            </a:solidFill>
            <a:prstDash val="solid"/>
          </a:ln>
        </p:spPr>
        <p:txBody>
          <a:bodyPr/>
          <a:p/>
        </p:txBody>
      </p:sp>
      <p:sp>
        <p:nvSpPr>
          <p:cNvPr id="22" name="Text 20"/>
          <p:cNvSpPr txBox="1"/>
          <p:nvPr/>
        </p:nvSpPr>
        <p:spPr>
          <a:xfrm>
            <a:off x="3390138" y="3977640"/>
            <a:ext cx="264033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支店長</a:t>
            </a:r>
            <a:endParaRPr lang="en-US" sz="1400" dirty="0"/>
          </a:p>
        </p:txBody>
      </p:sp>
      <p:sp>
        <p:nvSpPr>
          <p:cNvPr id="23" name="Shape 21"/>
          <p:cNvSpPr/>
          <p:nvPr/>
        </p:nvSpPr>
        <p:spPr>
          <a:xfrm>
            <a:off x="3390138" y="4407408"/>
            <a:ext cx="2640330" cy="1783080"/>
          </a:xfrm>
          <a:prstGeom prst="rect">
            <a:avLst/>
          </a:prstGeom>
          <a:solidFill>
            <a:srgbClr val="F2F2F2"/>
          </a:solidFill>
          <a:ln w="12700">
            <a:solidFill>
              <a:srgbClr val="F2F2F2"/>
            </a:solidFill>
            <a:prstDash val="solid"/>
          </a:ln>
        </p:spPr>
        <p:txBody>
          <a:bodyPr/>
          <a:p/>
        </p:txBody>
      </p:sp>
      <p:sp>
        <p:nvSpPr>
          <p:cNvPr id="24" name="Text 22"/>
          <p:cNvSpPr txBox="1"/>
          <p:nvPr/>
        </p:nvSpPr>
        <p:spPr>
          <a:xfrm>
            <a:off x="3499866" y="4498848"/>
            <a:ext cx="2420874" cy="16459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支援の対話の進み具合が段階でわかる</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部下への声かけの材料</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異動の引継ぎで途切れない</a:t>
            </a:r>
            <a:endParaRPr lang="en-US" sz="1200" dirty="0"/>
          </a:p>
        </p:txBody>
      </p:sp>
      <p:sp>
        <p:nvSpPr>
          <p:cNvPr id="25" name="Shape 23"/>
          <p:cNvSpPr/>
          <p:nvPr/>
        </p:nvSpPr>
        <p:spPr>
          <a:xfrm>
            <a:off x="6167628" y="3977640"/>
            <a:ext cx="2640330" cy="384048"/>
          </a:xfrm>
          <a:prstGeom prst="rect">
            <a:avLst/>
          </a:prstGeom>
          <a:solidFill>
            <a:srgbClr val="0017C1"/>
          </a:solidFill>
          <a:ln w="12700">
            <a:solidFill>
              <a:srgbClr val="0017C1"/>
            </a:solidFill>
            <a:prstDash val="solid"/>
          </a:ln>
        </p:spPr>
        <p:txBody>
          <a:bodyPr/>
          <a:p/>
        </p:txBody>
      </p:sp>
      <p:sp>
        <p:nvSpPr>
          <p:cNvPr id="26" name="Text 24"/>
          <p:cNvSpPr txBox="1"/>
          <p:nvPr/>
        </p:nvSpPr>
        <p:spPr>
          <a:xfrm>
            <a:off x="6167628" y="3977640"/>
            <a:ext cx="264033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本部</a:t>
            </a:r>
            <a:endParaRPr lang="en-US" sz="1400" dirty="0"/>
          </a:p>
        </p:txBody>
      </p:sp>
      <p:sp>
        <p:nvSpPr>
          <p:cNvPr id="27" name="Shape 25"/>
          <p:cNvSpPr/>
          <p:nvPr/>
        </p:nvSpPr>
        <p:spPr>
          <a:xfrm>
            <a:off x="6167628" y="4407408"/>
            <a:ext cx="2640330" cy="1783080"/>
          </a:xfrm>
          <a:prstGeom prst="rect">
            <a:avLst/>
          </a:prstGeom>
          <a:solidFill>
            <a:srgbClr val="F2F2F2"/>
          </a:solidFill>
          <a:ln w="12700">
            <a:solidFill>
              <a:srgbClr val="F2F2F2"/>
            </a:solidFill>
            <a:prstDash val="solid"/>
          </a:ln>
        </p:spPr>
        <p:txBody>
          <a:bodyPr/>
          <a:p/>
        </p:txBody>
      </p:sp>
      <p:sp>
        <p:nvSpPr>
          <p:cNvPr id="28" name="Text 26"/>
          <p:cNvSpPr txBox="1"/>
          <p:nvPr/>
        </p:nvSpPr>
        <p:spPr>
          <a:xfrm>
            <a:off x="6277356" y="4498848"/>
            <a:ext cx="2420874" cy="16459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経営者が誰にも相談していない段階で相談が来る</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新しい予兆に気づける</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ベテランの判断を組織の資産に</a:t>
            </a:r>
            <a:endParaRPr lang="en-US" sz="1200" dirty="0"/>
          </a:p>
        </p:txBody>
      </p:sp>
      <p:sp>
        <p:nvSpPr>
          <p:cNvPr id="29" name="Shape 27"/>
          <p:cNvSpPr/>
          <p:nvPr/>
        </p:nvSpPr>
        <p:spPr>
          <a:xfrm>
            <a:off x="8945118" y="3977640"/>
            <a:ext cx="2640330" cy="384048"/>
          </a:xfrm>
          <a:prstGeom prst="rect">
            <a:avLst/>
          </a:prstGeom>
          <a:solidFill>
            <a:srgbClr val="0017C1"/>
          </a:solidFill>
          <a:ln w="12700">
            <a:solidFill>
              <a:srgbClr val="0017C1"/>
            </a:solidFill>
            <a:prstDash val="solid"/>
          </a:ln>
        </p:spPr>
        <p:txBody>
          <a:bodyPr/>
          <a:p/>
        </p:txBody>
      </p:sp>
      <p:sp>
        <p:nvSpPr>
          <p:cNvPr id="30" name="Text 28"/>
          <p:cNvSpPr txBox="1"/>
          <p:nvPr/>
        </p:nvSpPr>
        <p:spPr>
          <a:xfrm>
            <a:off x="8945118" y="3977640"/>
            <a:ext cx="264033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銀行</a:t>
            </a:r>
            <a:endParaRPr lang="en-US" sz="1400" dirty="0"/>
          </a:p>
        </p:txBody>
      </p:sp>
      <p:sp>
        <p:nvSpPr>
          <p:cNvPr id="31" name="Shape 29"/>
          <p:cNvSpPr/>
          <p:nvPr/>
        </p:nvSpPr>
        <p:spPr>
          <a:xfrm>
            <a:off x="8945118" y="4407408"/>
            <a:ext cx="2640330" cy="1783080"/>
          </a:xfrm>
          <a:prstGeom prst="rect">
            <a:avLst/>
          </a:prstGeom>
          <a:solidFill>
            <a:srgbClr val="F2F2F2"/>
          </a:solidFill>
          <a:ln w="12700">
            <a:solidFill>
              <a:srgbClr val="F2F2F2"/>
            </a:solidFill>
            <a:prstDash val="solid"/>
          </a:ln>
        </p:spPr>
        <p:txBody>
          <a:bodyPr/>
          <a:p/>
        </p:txBody>
      </p:sp>
      <p:sp>
        <p:nvSpPr>
          <p:cNvPr id="32" name="Text 30"/>
          <p:cNvSpPr txBox="1"/>
          <p:nvPr/>
        </p:nvSpPr>
        <p:spPr>
          <a:xfrm>
            <a:off x="9054846" y="4498848"/>
            <a:ext cx="2420874" cy="16459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守り：乗り換え・廃業を防ぎ取引を維持</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攻め：承継・M&amp;A・付随融資の案件</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眠っていた日報を活かす</a:t>
            </a:r>
            <a:endParaRPr lang="en-US" sz="1200" dirty="0"/>
          </a:p>
        </p:txBody>
      </p:sp>
      <p:sp>
        <p:nvSpPr>
          <p:cNvPr id="33" name="Text 31"/>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KPI は記録数ではなく、訪問前の閲覧率・日報の作成時間・早期相談の件数・「対話を始めた」の割合（記録数をノルマにしない）</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守りの ROI と攻めの ROI</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企業が続くことが収益になる。守り＝貸出が続く・乗り換えを防ぐ。攻め＝承継・相続などの支援が案件と手数料になる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効果・投資</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25</a:t>
            </a:r>
            <a:endParaRPr lang="en-US" sz="1200" dirty="0"/>
          </a:p>
        </p:txBody>
      </p:sp>
      <p:graphicFrame>
        <p:nvGraphicFramePr>
          <p:cNvPr id="8" name="Chart 0" descr=""/>
          <p:cNvGraphicFramePr/>
          <p:nvPr/>
        </p:nvGraphicFramePr>
        <p:xfrm>
          <a:off x="612648" y="2194560"/>
          <a:ext cx="5760720" cy="28803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2648" y="5166360"/>
            <a:ext cx="5760720" cy="274320"/>
          </a:xfrm>
          <a:prstGeom prst="rect">
            <a:avLst/>
          </a:prstGeom>
          <a:noFill/>
          <a:ln/>
        </p:spPr>
        <p:txBody>
          <a:bodyPr wrap="square" lIns="0" tIns="0" rIns="0" bIns="0" rtlCol="0" anchor="t"/>
          <a:lstStyle/>
          <a:p>
            <a:pPr indent="0" marL="0">
              <a:buNone/>
            </a:pPr>
            <a:r>
              <a:rPr lang="en-US" sz="1200" b="1" dirty="0">
                <a:solidFill>
                  <a:srgbClr val="1A1A1A"/>
                </a:solidFill>
                <a:latin typeface="Noto Sans JP" pitchFamily="34" charset="0"/>
                <a:ea typeface="Noto Sans JP" pitchFamily="34" charset="-122"/>
                <a:cs typeface="Noto Sans JP" pitchFamily="34" charset="-120"/>
              </a:rPr>
              <a:t>3 年目（定常時）の効果 11,650 万円の内訳</a:t>
            </a:r>
            <a:endParaRPr lang="en-US" sz="1200" dirty="0"/>
          </a:p>
        </p:txBody>
      </p:sp>
      <p:sp>
        <p:nvSpPr>
          <p:cNvPr id="10" name="Shape 7"/>
          <p:cNvSpPr/>
          <p:nvPr/>
        </p:nvSpPr>
        <p:spPr>
          <a:xfrm>
            <a:off x="612648" y="5468112"/>
            <a:ext cx="1582344" cy="365760"/>
          </a:xfrm>
          <a:prstGeom prst="rect">
            <a:avLst/>
          </a:prstGeom>
          <a:solidFill>
            <a:srgbClr val="7FA3D9"/>
          </a:solidFill>
          <a:ln w="12700">
            <a:solidFill>
              <a:srgbClr val="FFFFFF"/>
            </a:solidFill>
            <a:prstDash val="solid"/>
          </a:ln>
        </p:spPr>
        <p:txBody>
          <a:bodyPr/>
          <a:p/>
        </p:txBody>
      </p:sp>
      <p:sp>
        <p:nvSpPr>
          <p:cNvPr id="11" name="Text 8"/>
          <p:cNvSpPr txBox="1"/>
          <p:nvPr/>
        </p:nvSpPr>
        <p:spPr>
          <a:xfrm>
            <a:off x="612648" y="5468112"/>
            <a:ext cx="158234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守り 基礎 27%</a:t>
            </a:r>
            <a:endParaRPr lang="en-US" sz="1100" dirty="0"/>
          </a:p>
        </p:txBody>
      </p:sp>
      <p:sp>
        <p:nvSpPr>
          <p:cNvPr id="12" name="Shape 9"/>
          <p:cNvSpPr/>
          <p:nvPr/>
        </p:nvSpPr>
        <p:spPr>
          <a:xfrm>
            <a:off x="2194992" y="5468112"/>
            <a:ext cx="247241" cy="365760"/>
          </a:xfrm>
          <a:prstGeom prst="rect">
            <a:avLst/>
          </a:prstGeom>
          <a:solidFill>
            <a:srgbClr val="C9A227"/>
          </a:solidFill>
          <a:ln w="12700">
            <a:solidFill>
              <a:srgbClr val="FFFFFF"/>
            </a:solidFill>
            <a:prstDash val="solid"/>
          </a:ln>
        </p:spPr>
        <p:txBody>
          <a:bodyPr/>
          <a:p/>
        </p:txBody>
      </p:sp>
      <p:sp>
        <p:nvSpPr>
          <p:cNvPr id="13" name="Shape 10"/>
          <p:cNvSpPr/>
          <p:nvPr/>
        </p:nvSpPr>
        <p:spPr>
          <a:xfrm>
            <a:off x="2442233" y="5468112"/>
            <a:ext cx="3931135" cy="365760"/>
          </a:xfrm>
          <a:prstGeom prst="rect">
            <a:avLst/>
          </a:prstGeom>
          <a:solidFill>
            <a:srgbClr val="197A4B"/>
          </a:solidFill>
          <a:ln w="12700">
            <a:solidFill>
              <a:srgbClr val="FFFFFF"/>
            </a:solidFill>
            <a:prstDash val="solid"/>
          </a:ln>
        </p:spPr>
        <p:txBody>
          <a:bodyPr/>
          <a:p/>
        </p:txBody>
      </p:sp>
      <p:sp>
        <p:nvSpPr>
          <p:cNvPr id="14" name="Text 11"/>
          <p:cNvSpPr txBox="1"/>
          <p:nvPr/>
        </p:nvSpPr>
        <p:spPr>
          <a:xfrm>
            <a:off x="2442233" y="5468112"/>
            <a:ext cx="3931135"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攻め 社内 68%</a:t>
            </a:r>
            <a:endParaRPr lang="en-US" sz="1100" dirty="0"/>
          </a:p>
        </p:txBody>
      </p:sp>
      <p:sp>
        <p:nvSpPr>
          <p:cNvPr id="15" name="Text 12"/>
          <p:cNvSpPr txBox="1"/>
          <p:nvPr/>
        </p:nvSpPr>
        <p:spPr>
          <a:xfrm>
            <a:off x="612648" y="5870448"/>
            <a:ext cx="5760720" cy="411480"/>
          </a:xfrm>
          <a:prstGeom prst="rect">
            <a:avLst/>
          </a:prstGeom>
          <a:noFill/>
          <a:ln/>
        </p:spPr>
        <p:txBody>
          <a:bodyPr wrap="square" lIns="0" tIns="0" rIns="0" bIns="0" rtlCol="0" anchor="t"/>
          <a:lstStyle/>
          <a:p>
            <a:pPr indent="0" marL="0">
              <a:buNone/>
            </a:pPr>
            <a:r>
              <a:rPr lang="en-US" sz="1000" dirty="0">
                <a:solidFill>
                  <a:srgbClr val="666666"/>
                </a:solidFill>
                <a:latin typeface="Noto Sans JP" pitchFamily="34" charset="0"/>
                <a:ea typeface="Noto Sans JP" pitchFamily="34" charset="-122"/>
                <a:cs typeface="Noto Sans JP" pitchFamily="34" charset="-120"/>
              </a:rPr>
              <a:t>守り 基礎 3,200（探す時間・引継ぎ）／ 守り 本丸 500（乗り換え・廃業を防ぎ預貸を維持）／ 攻め 社内 7,950（承継・M&amp;A 手数料と付随融資）</a:t>
            </a:r>
            <a:endParaRPr lang="en-US" sz="1000" dirty="0"/>
          </a:p>
        </p:txBody>
      </p:sp>
      <p:sp>
        <p:nvSpPr>
          <p:cNvPr id="16" name="Text 13"/>
          <p:cNvSpPr txBox="1"/>
          <p:nvPr/>
        </p:nvSpPr>
        <p:spPr>
          <a:xfrm>
            <a:off x="6739128" y="2194560"/>
            <a:ext cx="4846320" cy="320040"/>
          </a:xfrm>
          <a:prstGeom prst="rect">
            <a:avLst/>
          </a:prstGeom>
          <a:noFill/>
          <a:ln/>
        </p:spPr>
        <p:txBody>
          <a:bodyPr wrap="square" lIns="0" tIns="0" rIns="0" bIns="0" rtlCol="0" anchor="t"/>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前提を変えたときの 3 年累計（費用 4,900 万円）</a:t>
            </a:r>
            <a:endParaRPr lang="en-US" sz="1300" dirty="0"/>
          </a:p>
        </p:txBody>
      </p:sp>
      <p:sp>
        <p:nvSpPr>
          <p:cNvPr id="17" name="Shape 14"/>
          <p:cNvSpPr/>
          <p:nvPr/>
        </p:nvSpPr>
        <p:spPr>
          <a:xfrm>
            <a:off x="6739128" y="2560320"/>
            <a:ext cx="4846320" cy="749808"/>
          </a:xfrm>
          <a:prstGeom prst="rect">
            <a:avLst/>
          </a:prstGeom>
          <a:solidFill>
            <a:srgbClr val="F2F2F2"/>
          </a:solidFill>
          <a:ln w="12700">
            <a:solidFill>
              <a:srgbClr val="F2F2F2"/>
            </a:solidFill>
            <a:prstDash val="solid"/>
          </a:ln>
        </p:spPr>
        <p:txBody>
          <a:bodyPr/>
          <a:p/>
        </p:txBody>
      </p:sp>
      <p:sp>
        <p:nvSpPr>
          <p:cNvPr id="18" name="Text 15"/>
          <p:cNvSpPr txBox="1"/>
          <p:nvPr/>
        </p:nvSpPr>
        <p:spPr>
          <a:xfrm>
            <a:off x="6922008" y="2560320"/>
            <a:ext cx="731520" cy="749808"/>
          </a:xfrm>
          <a:prstGeom prst="rect">
            <a:avLst/>
          </a:prstGeom>
          <a:noFill/>
          <a:ln/>
        </p:spPr>
        <p:txBody>
          <a:bodyPr wrap="square" lIns="0" tIns="0" rIns="0" bIns="0" rtlCol="0" anchor="ctr"/>
          <a:lstStyle/>
          <a:p>
            <a:pPr indent="0" marL="0">
              <a:buNone/>
            </a:pPr>
            <a:r>
              <a:rPr lang="en-US" sz="1500" b="1" dirty="0">
                <a:solidFill>
                  <a:srgbClr val="666666"/>
                </a:solidFill>
                <a:latin typeface="Noto Sans JP" pitchFamily="34" charset="0"/>
                <a:ea typeface="Noto Sans JP" pitchFamily="34" charset="-122"/>
                <a:cs typeface="Noto Sans JP" pitchFamily="34" charset="-120"/>
              </a:rPr>
              <a:t>保守</a:t>
            </a:r>
            <a:endParaRPr lang="en-US" sz="1500" dirty="0"/>
          </a:p>
        </p:txBody>
      </p:sp>
      <p:sp>
        <p:nvSpPr>
          <p:cNvPr id="19" name="Text 16"/>
          <p:cNvSpPr txBox="1"/>
          <p:nvPr/>
        </p:nvSpPr>
        <p:spPr>
          <a:xfrm>
            <a:off x="7699248" y="2633472"/>
            <a:ext cx="3794760" cy="658368"/>
          </a:xfrm>
          <a:prstGeom prst="rect">
            <a:avLst/>
          </a:prstGeom>
          <a:noFill/>
          <a:ln/>
        </p:spPr>
        <p:txBody>
          <a:bodyPr wrap="square" lIns="0" tIns="0" rIns="0" bIns="0" rtlCol="0" anchor="t"/>
          <a:lstStyle/>
          <a:p>
            <a:pPr indent="0" marL="0">
              <a:buNone/>
            </a:pPr>
            <a:r>
              <a:rPr lang="en-US" sz="1800" b="1" dirty="0">
                <a:solidFill>
                  <a:srgbClr val="1A1A1A"/>
                </a:solidFill>
                <a:latin typeface="Noto Sans JP" pitchFamily="34" charset="0"/>
                <a:ea typeface="Noto Sans JP" pitchFamily="34" charset="-122"/>
                <a:cs typeface="Noto Sans JP" pitchFamily="34" charset="-120"/>
              </a:rPr>
              <a:t>4,618 万円</a:t>
            </a:r>
            <a:endParaRPr lang="en-US" sz="1800" dirty="0"/>
          </a:p>
          <a:p>
            <a:pPr indent="0" marL="0">
              <a:buNone/>
            </a:pPr>
            <a:r>
              <a:rPr lang="en-US" sz="1150" dirty="0">
                <a:solidFill>
                  <a:srgbClr val="666666"/>
                </a:solidFill>
                <a:latin typeface="Noto Sans JP" pitchFamily="34" charset="0"/>
                <a:ea typeface="Noto Sans JP" pitchFamily="34" charset="-122"/>
                <a:cs typeface="Noto Sans JP" pitchFamily="34" charset="-120"/>
              </a:rPr>
              <a:t>効果 ÷ 費用 0.9 倍　3 年では回収しきれない</a:t>
            </a:r>
            <a:endParaRPr lang="en-US" sz="1800" dirty="0"/>
          </a:p>
        </p:txBody>
      </p:sp>
      <p:sp>
        <p:nvSpPr>
          <p:cNvPr id="20" name="Shape 17"/>
          <p:cNvSpPr/>
          <p:nvPr/>
        </p:nvSpPr>
        <p:spPr>
          <a:xfrm>
            <a:off x="6739128" y="3401568"/>
            <a:ext cx="4846320" cy="749808"/>
          </a:xfrm>
          <a:prstGeom prst="rect">
            <a:avLst/>
          </a:prstGeom>
          <a:solidFill>
            <a:srgbClr val="E8F1FE"/>
          </a:solidFill>
          <a:ln w="19050">
            <a:solidFill>
              <a:srgbClr val="0017C1"/>
            </a:solidFill>
            <a:prstDash val="solid"/>
          </a:ln>
        </p:spPr>
        <p:txBody>
          <a:bodyPr/>
          <a:p/>
        </p:txBody>
      </p:sp>
      <p:sp>
        <p:nvSpPr>
          <p:cNvPr id="21" name="Text 18"/>
          <p:cNvSpPr txBox="1"/>
          <p:nvPr/>
        </p:nvSpPr>
        <p:spPr>
          <a:xfrm>
            <a:off x="6922008" y="3401568"/>
            <a:ext cx="731520" cy="749808"/>
          </a:xfrm>
          <a:prstGeom prst="rect">
            <a:avLst/>
          </a:prstGeom>
          <a:noFill/>
          <a:ln/>
        </p:spPr>
        <p:txBody>
          <a:bodyPr wrap="square" lIns="0" tIns="0" rIns="0" bIns="0" rtlCol="0" anchor="ctr"/>
          <a:lstStyle/>
          <a:p>
            <a:pPr indent="0" marL="0">
              <a:buNone/>
            </a:pPr>
            <a:r>
              <a:rPr lang="en-US" sz="1500" b="1" dirty="0">
                <a:solidFill>
                  <a:srgbClr val="0017C1"/>
                </a:solidFill>
                <a:latin typeface="Noto Sans JP" pitchFamily="34" charset="0"/>
                <a:ea typeface="Noto Sans JP" pitchFamily="34" charset="-122"/>
                <a:cs typeface="Noto Sans JP" pitchFamily="34" charset="-120"/>
              </a:rPr>
              <a:t>中位</a:t>
            </a:r>
            <a:endParaRPr lang="en-US" sz="1500" dirty="0"/>
          </a:p>
        </p:txBody>
      </p:sp>
      <p:sp>
        <p:nvSpPr>
          <p:cNvPr id="22" name="Text 19"/>
          <p:cNvSpPr txBox="1"/>
          <p:nvPr/>
        </p:nvSpPr>
        <p:spPr>
          <a:xfrm>
            <a:off x="7699248" y="3474720"/>
            <a:ext cx="3794760" cy="658368"/>
          </a:xfrm>
          <a:prstGeom prst="rect">
            <a:avLst/>
          </a:prstGeom>
          <a:noFill/>
          <a:ln/>
        </p:spPr>
        <p:txBody>
          <a:bodyPr wrap="square" lIns="0" tIns="0" rIns="0" bIns="0" rtlCol="0" anchor="t"/>
          <a:lstStyle/>
          <a:p>
            <a:pPr indent="0" marL="0">
              <a:buNone/>
            </a:pPr>
            <a:r>
              <a:rPr lang="en-US" sz="1800" b="1" dirty="0">
                <a:solidFill>
                  <a:srgbClr val="1A1A1A"/>
                </a:solidFill>
                <a:latin typeface="Noto Sans JP" pitchFamily="34" charset="0"/>
                <a:ea typeface="Noto Sans JP" pitchFamily="34" charset="-122"/>
                <a:cs typeface="Noto Sans JP" pitchFamily="34" charset="-120"/>
              </a:rPr>
              <a:t>2 億 3,300 万円</a:t>
            </a:r>
            <a:endParaRPr lang="en-US" sz="1800" dirty="0"/>
          </a:p>
          <a:p>
            <a:pPr indent="0" marL="0">
              <a:buNone/>
            </a:pPr>
            <a:r>
              <a:rPr lang="en-US" sz="1150" dirty="0">
                <a:solidFill>
                  <a:srgbClr val="666666"/>
                </a:solidFill>
                <a:latin typeface="Noto Sans JP" pitchFamily="34" charset="0"/>
                <a:ea typeface="Noto Sans JP" pitchFamily="34" charset="-122"/>
                <a:cs typeface="Noto Sans JP" pitchFamily="34" charset="-120"/>
              </a:rPr>
              <a:t>効果 ÷ 費用 4.8 倍　2 年目に回収</a:t>
            </a:r>
            <a:endParaRPr lang="en-US" sz="1800" dirty="0"/>
          </a:p>
        </p:txBody>
      </p:sp>
      <p:sp>
        <p:nvSpPr>
          <p:cNvPr id="23" name="Shape 20"/>
          <p:cNvSpPr/>
          <p:nvPr/>
        </p:nvSpPr>
        <p:spPr>
          <a:xfrm>
            <a:off x="6739128" y="4242816"/>
            <a:ext cx="4846320" cy="749808"/>
          </a:xfrm>
          <a:prstGeom prst="rect">
            <a:avLst/>
          </a:prstGeom>
          <a:solidFill>
            <a:srgbClr val="E6F5EC"/>
          </a:solidFill>
          <a:ln w="12700">
            <a:solidFill>
              <a:srgbClr val="E6F5EC"/>
            </a:solidFill>
            <a:prstDash val="solid"/>
          </a:ln>
        </p:spPr>
        <p:txBody>
          <a:bodyPr/>
          <a:p/>
        </p:txBody>
      </p:sp>
      <p:sp>
        <p:nvSpPr>
          <p:cNvPr id="24" name="Text 21"/>
          <p:cNvSpPr txBox="1"/>
          <p:nvPr/>
        </p:nvSpPr>
        <p:spPr>
          <a:xfrm>
            <a:off x="6922008" y="4242816"/>
            <a:ext cx="731520" cy="749808"/>
          </a:xfrm>
          <a:prstGeom prst="rect">
            <a:avLst/>
          </a:prstGeom>
          <a:noFill/>
          <a:ln/>
        </p:spPr>
        <p:txBody>
          <a:bodyPr wrap="square" lIns="0" tIns="0" rIns="0" bIns="0" rtlCol="0" anchor="ctr"/>
          <a:lstStyle/>
          <a:p>
            <a:pPr indent="0" marL="0">
              <a:buNone/>
            </a:pPr>
            <a:r>
              <a:rPr lang="en-US" sz="1500" b="1" dirty="0">
                <a:solidFill>
                  <a:srgbClr val="197A4B"/>
                </a:solidFill>
                <a:latin typeface="Noto Sans JP" pitchFamily="34" charset="0"/>
                <a:ea typeface="Noto Sans JP" pitchFamily="34" charset="-122"/>
                <a:cs typeface="Noto Sans JP" pitchFamily="34" charset="-120"/>
              </a:rPr>
              <a:t>楽観</a:t>
            </a:r>
            <a:endParaRPr lang="en-US" sz="1500" dirty="0"/>
          </a:p>
        </p:txBody>
      </p:sp>
      <p:sp>
        <p:nvSpPr>
          <p:cNvPr id="25" name="Text 22"/>
          <p:cNvSpPr txBox="1"/>
          <p:nvPr/>
        </p:nvSpPr>
        <p:spPr>
          <a:xfrm>
            <a:off x="7699248" y="4315968"/>
            <a:ext cx="3794760" cy="658368"/>
          </a:xfrm>
          <a:prstGeom prst="rect">
            <a:avLst/>
          </a:prstGeom>
          <a:noFill/>
          <a:ln/>
        </p:spPr>
        <p:txBody>
          <a:bodyPr wrap="square" lIns="0" tIns="0" rIns="0" bIns="0" rtlCol="0" anchor="t"/>
          <a:lstStyle/>
          <a:p>
            <a:pPr indent="0" marL="0">
              <a:buNone/>
            </a:pPr>
            <a:r>
              <a:rPr lang="en-US" sz="1800" b="1" dirty="0">
                <a:solidFill>
                  <a:srgbClr val="1A1A1A"/>
                </a:solidFill>
                <a:latin typeface="Noto Sans JP" pitchFamily="34" charset="0"/>
                <a:ea typeface="Noto Sans JP" pitchFamily="34" charset="-122"/>
                <a:cs typeface="Noto Sans JP" pitchFamily="34" charset="-120"/>
              </a:rPr>
              <a:t>7 億 4,025 万円</a:t>
            </a:r>
            <a:endParaRPr lang="en-US" sz="1800" dirty="0"/>
          </a:p>
          <a:p>
            <a:pPr indent="0" marL="0">
              <a:buNone/>
            </a:pPr>
            <a:r>
              <a:rPr lang="en-US" sz="1150" dirty="0">
                <a:solidFill>
                  <a:srgbClr val="666666"/>
                </a:solidFill>
                <a:latin typeface="Noto Sans JP" pitchFamily="34" charset="0"/>
                <a:ea typeface="Noto Sans JP" pitchFamily="34" charset="-122"/>
                <a:cs typeface="Noto Sans JP" pitchFamily="34" charset="-120"/>
              </a:rPr>
              <a:t>効果 ÷ 費用 15.1 倍　1 年目に回収</a:t>
            </a:r>
            <a:endParaRPr lang="en-US" sz="1800" dirty="0"/>
          </a:p>
        </p:txBody>
      </p:sp>
      <p:sp>
        <p:nvSpPr>
          <p:cNvPr id="26" name="Text 23"/>
          <p:cNvSpPr txBox="1"/>
          <p:nvPr/>
        </p:nvSpPr>
        <p:spPr>
          <a:xfrm>
            <a:off x="6739128" y="5138928"/>
            <a:ext cx="4846320" cy="11430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A1A"/>
                </a:solidFill>
                <a:latin typeface="Noto Sans JP" pitchFamily="34" charset="0"/>
                <a:ea typeface="Noto Sans JP" pitchFamily="34" charset="-122"/>
                <a:cs typeface="Noto Sans JP" pitchFamily="34" charset="-120"/>
              </a:rPr>
              <a:t>守りの金額は「貸倒の削減」ではなく「取引の維持」で置く。前者は与信目的に見えるため</a:t>
            </a:r>
            <a:endParaRPr lang="en-US" sz="1150" dirty="0"/>
          </a:p>
          <a:p>
            <a:pPr marL="342900" indent="-342900">
              <a:spcAft>
                <a:spcPts val="400"/>
              </a:spcAft>
              <a:buSzPct val="100000"/>
              <a:buChar char="•"/>
            </a:pPr>
            <a:r>
              <a:rPr lang="en-US" sz="1150" dirty="0">
                <a:solidFill>
                  <a:srgbClr val="1A1A1A"/>
                </a:solidFill>
                <a:latin typeface="Noto Sans JP" pitchFamily="34" charset="0"/>
                <a:ea typeface="Noto Sans JP" pitchFamily="34" charset="-122"/>
                <a:cs typeface="Noto Sans JP" pitchFamily="34" charset="-120"/>
              </a:rPr>
              <a:t>攻めを生むのは ⑤ 事例 ⑥ 人 ⑦ 次の一手の出力。検索結果の出し方が ROI を決める</a:t>
            </a:r>
            <a:endParaRPr lang="en-US" sz="1150" dirty="0"/>
          </a:p>
          <a:p>
            <a:pPr marL="342900" indent="-342900">
              <a:spcAft>
                <a:spcPts val="400"/>
              </a:spcAft>
              <a:buSzPct val="100000"/>
              <a:buChar char="•"/>
            </a:pPr>
            <a:r>
              <a:rPr lang="en-US" sz="1150" dirty="0">
                <a:solidFill>
                  <a:srgbClr val="1A1A1A"/>
                </a:solidFill>
                <a:latin typeface="Noto Sans JP" pitchFamily="34" charset="0"/>
                <a:ea typeface="Noto Sans JP" pitchFamily="34" charset="-122"/>
                <a:cs typeface="Noto Sans JP" pitchFamily="34" charset="-120"/>
              </a:rPr>
              <a:t>数字はすべて仮置き。率はパイロットの 4 段階フィードバックで実測に置き換える</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承認してほしい投資内容</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第 1 段階として、1 支店・事業承継に絞ったパイロットを、5,000 万円の枠で</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効果・投資</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26</a:t>
            </a:r>
            <a:endParaRPr lang="en-US" sz="1200" dirty="0"/>
          </a:p>
        </p:txBody>
      </p:sp>
      <p:sp>
        <p:nvSpPr>
          <p:cNvPr id="8" name="Shape 6"/>
          <p:cNvSpPr/>
          <p:nvPr/>
        </p:nvSpPr>
        <p:spPr>
          <a:xfrm>
            <a:off x="612648" y="2240280"/>
            <a:ext cx="4297680" cy="77724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77240" y="2295144"/>
            <a:ext cx="1280160" cy="347472"/>
          </a:xfrm>
          <a:prstGeom prst="rect">
            <a:avLst/>
          </a:prstGeom>
          <a:noFill/>
          <a:ln/>
        </p:spPr>
        <p:txBody>
          <a:bodyPr wrap="square" lIns="0" tIns="0" rIns="0" bIns="0" rtlCol="0" anchor="t"/>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初期開発</a:t>
            </a:r>
            <a:endParaRPr lang="en-US" sz="1300" dirty="0"/>
          </a:p>
        </p:txBody>
      </p:sp>
      <p:sp>
        <p:nvSpPr>
          <p:cNvPr id="10" name="Text 8"/>
          <p:cNvSpPr txBox="1"/>
          <p:nvPr/>
        </p:nvSpPr>
        <p:spPr>
          <a:xfrm>
            <a:off x="2075688" y="2258568"/>
            <a:ext cx="2670048" cy="384048"/>
          </a:xfrm>
          <a:prstGeom prst="rect">
            <a:avLst/>
          </a:prstGeom>
          <a:noFill/>
          <a:ln/>
        </p:spPr>
        <p:txBody>
          <a:bodyPr wrap="square" lIns="0" tIns="0" rIns="0" bIns="0" rtlCol="0" anchor="t"/>
          <a:lstStyle/>
          <a:p>
            <a:pPr algn="r" indent="0" marL="0">
              <a:buNone/>
            </a:pPr>
            <a:r>
              <a:rPr lang="en-US" sz="1900" b="1" dirty="0">
                <a:solidFill>
                  <a:srgbClr val="1A1A1A"/>
                </a:solidFill>
                <a:latin typeface="Noto Sans JP" pitchFamily="34" charset="0"/>
                <a:ea typeface="Noto Sans JP" pitchFamily="34" charset="-122"/>
                <a:cs typeface="Noto Sans JP" pitchFamily="34" charset="-120"/>
              </a:rPr>
              <a:t>2,800</a:t>
            </a:r>
            <a:endParaRPr lang="en-US" sz="1900" dirty="0"/>
          </a:p>
        </p:txBody>
      </p:sp>
      <p:sp>
        <p:nvSpPr>
          <p:cNvPr id="11" name="Text 9"/>
          <p:cNvSpPr txBox="1"/>
          <p:nvPr/>
        </p:nvSpPr>
        <p:spPr>
          <a:xfrm>
            <a:off x="777240" y="2660904"/>
            <a:ext cx="3968496" cy="329184"/>
          </a:xfrm>
          <a:prstGeom prst="rect">
            <a:avLst/>
          </a:prstGeom>
          <a:noFill/>
          <a:ln/>
        </p:spPr>
        <p:txBody>
          <a:bodyPr wrap="square" lIns="0" tIns="0" rIns="0" bIns="0" rtlCol="0" anchor="t"/>
          <a:lstStyle/>
          <a:p>
            <a:pPr indent="0" marL="0">
              <a:buNone/>
            </a:pPr>
            <a:r>
              <a:rPr lang="en-US" sz="1050" dirty="0">
                <a:solidFill>
                  <a:srgbClr val="666666"/>
                </a:solidFill>
                <a:latin typeface="Noto Sans JP" pitchFamily="34" charset="0"/>
                <a:ea typeface="Noto Sans JP" pitchFamily="34" charset="-122"/>
                <a:cs typeface="Noto Sans JP" pitchFamily="34" charset="-120"/>
              </a:rPr>
              <a:t>内製 2 名 × 12 か月相当＋UI・基盤・権限設計</a:t>
            </a:r>
            <a:endParaRPr lang="en-US" sz="1050" dirty="0"/>
          </a:p>
        </p:txBody>
      </p:sp>
      <p:sp>
        <p:nvSpPr>
          <p:cNvPr id="12" name="Shape 10"/>
          <p:cNvSpPr/>
          <p:nvPr/>
        </p:nvSpPr>
        <p:spPr>
          <a:xfrm>
            <a:off x="612648" y="3108960"/>
            <a:ext cx="4297680" cy="777240"/>
          </a:xfrm>
          <a:prstGeom prst="rect">
            <a:avLst/>
          </a:prstGeom>
          <a:solidFill>
            <a:srgbClr val="F2F2F2"/>
          </a:solidFill>
          <a:ln w="12700">
            <a:solidFill>
              <a:srgbClr val="F2F2F2"/>
            </a:solidFill>
            <a:prstDash val="solid"/>
          </a:ln>
        </p:spPr>
        <p:txBody>
          <a:bodyPr/>
          <a:p/>
        </p:txBody>
      </p:sp>
      <p:sp>
        <p:nvSpPr>
          <p:cNvPr id="13" name="Text 11"/>
          <p:cNvSpPr txBox="1"/>
          <p:nvPr/>
        </p:nvSpPr>
        <p:spPr>
          <a:xfrm>
            <a:off x="777240" y="3163824"/>
            <a:ext cx="1280160" cy="347472"/>
          </a:xfrm>
          <a:prstGeom prst="rect">
            <a:avLst/>
          </a:prstGeom>
          <a:noFill/>
          <a:ln/>
        </p:spPr>
        <p:txBody>
          <a:bodyPr wrap="square" lIns="0" tIns="0" rIns="0" bIns="0" rtlCol="0" anchor="t"/>
          <a:lstStyle/>
          <a:p>
            <a:pPr indent="0" marL="0">
              <a:buNone/>
            </a:pPr>
            <a:r>
              <a:rPr lang="en-US" sz="1300" b="1" dirty="0">
                <a:solidFill>
                  <a:srgbClr val="1A1A1A"/>
                </a:solidFill>
                <a:latin typeface="Noto Sans JP" pitchFamily="34" charset="0"/>
                <a:ea typeface="Noto Sans JP" pitchFamily="34" charset="-122"/>
                <a:cs typeface="Noto Sans JP" pitchFamily="34" charset="-120"/>
              </a:rPr>
              <a:t>運用</a:t>
            </a:r>
            <a:endParaRPr lang="en-US" sz="1300" dirty="0"/>
          </a:p>
        </p:txBody>
      </p:sp>
      <p:sp>
        <p:nvSpPr>
          <p:cNvPr id="14" name="Text 12"/>
          <p:cNvSpPr txBox="1"/>
          <p:nvPr/>
        </p:nvSpPr>
        <p:spPr>
          <a:xfrm>
            <a:off x="2075688" y="3127248"/>
            <a:ext cx="2670048" cy="384048"/>
          </a:xfrm>
          <a:prstGeom prst="rect">
            <a:avLst/>
          </a:prstGeom>
          <a:noFill/>
          <a:ln/>
        </p:spPr>
        <p:txBody>
          <a:bodyPr wrap="square" lIns="0" tIns="0" rIns="0" bIns="0" rtlCol="0" anchor="t"/>
          <a:lstStyle/>
          <a:p>
            <a:pPr algn="r" indent="0" marL="0">
              <a:buNone/>
            </a:pPr>
            <a:r>
              <a:rPr lang="en-US" sz="1900" b="1" dirty="0">
                <a:solidFill>
                  <a:srgbClr val="1A1A1A"/>
                </a:solidFill>
                <a:latin typeface="Noto Sans JP" pitchFamily="34" charset="0"/>
                <a:ea typeface="Noto Sans JP" pitchFamily="34" charset="-122"/>
                <a:cs typeface="Noto Sans JP" pitchFamily="34" charset="-120"/>
              </a:rPr>
              <a:t>700 × 3 年</a:t>
            </a:r>
            <a:endParaRPr lang="en-US" sz="1900" dirty="0"/>
          </a:p>
        </p:txBody>
      </p:sp>
      <p:sp>
        <p:nvSpPr>
          <p:cNvPr id="15" name="Text 13"/>
          <p:cNvSpPr txBox="1"/>
          <p:nvPr/>
        </p:nvSpPr>
        <p:spPr>
          <a:xfrm>
            <a:off x="777240" y="3529584"/>
            <a:ext cx="3968496" cy="329184"/>
          </a:xfrm>
          <a:prstGeom prst="rect">
            <a:avLst/>
          </a:prstGeom>
          <a:noFill/>
          <a:ln/>
        </p:spPr>
        <p:txBody>
          <a:bodyPr wrap="square" lIns="0" tIns="0" rIns="0" bIns="0" rtlCol="0" anchor="t"/>
          <a:lstStyle/>
          <a:p>
            <a:pPr indent="0" marL="0">
              <a:buNone/>
            </a:pPr>
            <a:r>
              <a:rPr lang="en-US" sz="1050" dirty="0">
                <a:solidFill>
                  <a:srgbClr val="666666"/>
                </a:solidFill>
                <a:latin typeface="Noto Sans JP" pitchFamily="34" charset="0"/>
                <a:ea typeface="Noto Sans JP" pitchFamily="34" charset="-122"/>
                <a:cs typeface="Noto Sans JP" pitchFamily="34" charset="-120"/>
              </a:rPr>
              <a:t>クラウド・LLM API・保守改善</a:t>
            </a:r>
            <a:endParaRPr lang="en-US" sz="1050" dirty="0"/>
          </a:p>
        </p:txBody>
      </p:sp>
      <p:sp>
        <p:nvSpPr>
          <p:cNvPr id="16" name="Shape 14"/>
          <p:cNvSpPr/>
          <p:nvPr/>
        </p:nvSpPr>
        <p:spPr>
          <a:xfrm>
            <a:off x="612648" y="3977640"/>
            <a:ext cx="4297680" cy="777240"/>
          </a:xfrm>
          <a:prstGeom prst="rect">
            <a:avLst/>
          </a:prstGeom>
          <a:solidFill>
            <a:srgbClr val="0017C1"/>
          </a:solidFill>
          <a:ln w="12700">
            <a:solidFill>
              <a:srgbClr val="0017C1"/>
            </a:solidFill>
            <a:prstDash val="solid"/>
          </a:ln>
        </p:spPr>
        <p:txBody>
          <a:bodyPr/>
          <a:p/>
        </p:txBody>
      </p:sp>
      <p:sp>
        <p:nvSpPr>
          <p:cNvPr id="17" name="Text 15"/>
          <p:cNvSpPr txBox="1"/>
          <p:nvPr/>
        </p:nvSpPr>
        <p:spPr>
          <a:xfrm>
            <a:off x="777240" y="4032504"/>
            <a:ext cx="1280160" cy="347472"/>
          </a:xfrm>
          <a:prstGeom prst="rect">
            <a:avLst/>
          </a:prstGeom>
          <a:noFill/>
          <a:ln/>
        </p:spPr>
        <p:txBody>
          <a:bodyPr wrap="square" lIns="0" tIns="0" rIns="0" bIns="0" rtlCol="0" anchor="t"/>
          <a:lstStyle/>
          <a:p>
            <a:pPr indent="0" marL="0">
              <a:buNone/>
            </a:pPr>
            <a:r>
              <a:rPr lang="en-US" sz="1300" b="1" dirty="0">
                <a:solidFill>
                  <a:srgbClr val="FFFFFF"/>
                </a:solidFill>
                <a:latin typeface="Noto Sans JP" pitchFamily="34" charset="0"/>
                <a:ea typeface="Noto Sans JP" pitchFamily="34" charset="-122"/>
                <a:cs typeface="Noto Sans JP" pitchFamily="34" charset="-120"/>
              </a:rPr>
              <a:t>合計</a:t>
            </a:r>
            <a:endParaRPr lang="en-US" sz="1300" dirty="0"/>
          </a:p>
        </p:txBody>
      </p:sp>
      <p:sp>
        <p:nvSpPr>
          <p:cNvPr id="18" name="Text 16"/>
          <p:cNvSpPr txBox="1"/>
          <p:nvPr/>
        </p:nvSpPr>
        <p:spPr>
          <a:xfrm>
            <a:off x="2075688" y="3995928"/>
            <a:ext cx="2670048" cy="384048"/>
          </a:xfrm>
          <a:prstGeom prst="rect">
            <a:avLst/>
          </a:prstGeom>
          <a:noFill/>
          <a:ln/>
        </p:spPr>
        <p:txBody>
          <a:bodyPr wrap="square" lIns="0" tIns="0" rIns="0" bIns="0" rtlCol="0" anchor="t"/>
          <a:lstStyle/>
          <a:p>
            <a:pPr algn="r" indent="0" marL="0">
              <a:buNone/>
            </a:pPr>
            <a:r>
              <a:rPr lang="en-US" sz="1900" b="1" dirty="0">
                <a:solidFill>
                  <a:srgbClr val="FFFFFF"/>
                </a:solidFill>
                <a:latin typeface="Noto Sans JP" pitchFamily="34" charset="0"/>
                <a:ea typeface="Noto Sans JP" pitchFamily="34" charset="-122"/>
                <a:cs typeface="Noto Sans JP" pitchFamily="34" charset="-120"/>
              </a:rPr>
              <a:t>4,900</a:t>
            </a:r>
            <a:endParaRPr lang="en-US" sz="1900" dirty="0"/>
          </a:p>
        </p:txBody>
      </p:sp>
      <p:sp>
        <p:nvSpPr>
          <p:cNvPr id="19" name="Text 17"/>
          <p:cNvSpPr txBox="1"/>
          <p:nvPr/>
        </p:nvSpPr>
        <p:spPr>
          <a:xfrm>
            <a:off x="777240" y="4398264"/>
            <a:ext cx="3968496" cy="329184"/>
          </a:xfrm>
          <a:prstGeom prst="rect">
            <a:avLst/>
          </a:prstGeom>
          <a:noFill/>
          <a:ln/>
        </p:spPr>
        <p:txBody>
          <a:bodyPr wrap="square" lIns="0" tIns="0" rIns="0" bIns="0" rtlCol="0" anchor="t"/>
          <a:lstStyle/>
          <a:p>
            <a:pPr indent="0" marL="0">
              <a:buNone/>
            </a:pPr>
            <a:r>
              <a:rPr lang="en-US" sz="1050" dirty="0">
                <a:solidFill>
                  <a:srgbClr val="FFFFFF"/>
                </a:solidFill>
                <a:latin typeface="Noto Sans JP" pitchFamily="34" charset="0"/>
                <a:ea typeface="Noto Sans JP" pitchFamily="34" charset="-122"/>
                <a:cs typeface="Noto Sans JP" pitchFamily="34" charset="-120"/>
              </a:rPr>
              <a:t>予算 5,000 万円の内側（残り 100 は予備）</a:t>
            </a:r>
            <a:endParaRPr lang="en-US" sz="1050" dirty="0"/>
          </a:p>
        </p:txBody>
      </p:sp>
      <p:sp>
        <p:nvSpPr>
          <p:cNvPr id="20" name="Text 18"/>
          <p:cNvSpPr txBox="1"/>
          <p:nvPr/>
        </p:nvSpPr>
        <p:spPr>
          <a:xfrm>
            <a:off x="612648" y="4937760"/>
            <a:ext cx="4297680" cy="320040"/>
          </a:xfrm>
          <a:prstGeom prst="rect">
            <a:avLst/>
          </a:prstGeom>
          <a:noFill/>
          <a:ln/>
        </p:spPr>
        <p:txBody>
          <a:bodyPr wrap="square" lIns="0" tIns="0" rIns="0" bIns="0" rtlCol="0" anchor="t"/>
          <a:lstStyle/>
          <a:p>
            <a:pPr indent="0" marL="0">
              <a:buNone/>
            </a:pPr>
            <a:r>
              <a:rPr lang="en-US" sz="1400" b="1" dirty="0">
                <a:solidFill>
                  <a:srgbClr val="CE0000"/>
                </a:solidFill>
                <a:latin typeface="Noto Sans JP" pitchFamily="34" charset="0"/>
                <a:ea typeface="Noto Sans JP" pitchFamily="34" charset="-122"/>
                <a:cs typeface="Noto Sans JP" pitchFamily="34" charset="-120"/>
              </a:rPr>
              <a:t>お願いすること</a:t>
            </a:r>
            <a:endParaRPr lang="en-US" sz="1400" dirty="0"/>
          </a:p>
        </p:txBody>
      </p:sp>
      <p:sp>
        <p:nvSpPr>
          <p:cNvPr id="21" name="Text 19"/>
          <p:cNvSpPr txBox="1"/>
          <p:nvPr/>
        </p:nvSpPr>
        <p:spPr>
          <a:xfrm>
            <a:off x="612648" y="5285232"/>
            <a:ext cx="4297680" cy="100584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250" dirty="0">
                <a:solidFill>
                  <a:srgbClr val="1A1A1A"/>
                </a:solidFill>
                <a:latin typeface="Noto Sans JP" pitchFamily="34" charset="0"/>
                <a:ea typeface="Noto Sans JP" pitchFamily="34" charset="-122"/>
                <a:cs typeface="Noto Sans JP" pitchFamily="34" charset="-120"/>
              </a:rPr>
              <a:t>パイロット（1 支店・事業承継）の承認</a:t>
            </a:r>
            <a:endParaRPr lang="en-US" sz="1250" dirty="0"/>
          </a:p>
          <a:p>
            <a:pPr marL="342900" indent="-342900">
              <a:spcAft>
                <a:spcPts val="300"/>
              </a:spcAft>
              <a:buSzPct val="100000"/>
              <a:buFont typeface="+mj-lt"/>
              <a:buAutoNum type="arabicPeriod" startAt="1"/>
            </a:pPr>
            <a:r>
              <a:rPr lang="en-US" sz="1250" dirty="0">
                <a:solidFill>
                  <a:srgbClr val="1A1A1A"/>
                </a:solidFill>
                <a:latin typeface="Noto Sans JP" pitchFamily="34" charset="0"/>
                <a:ea typeface="Noto Sans JP" pitchFamily="34" charset="-122"/>
                <a:cs typeface="Noto Sans JP" pitchFamily="34" charset="-120"/>
              </a:rPr>
              <a:t>「記録は評価に使わない」方針の明示</a:t>
            </a:r>
            <a:endParaRPr lang="en-US" sz="1250" dirty="0"/>
          </a:p>
          <a:p>
            <a:pPr marL="342900" indent="-342900">
              <a:spcAft>
                <a:spcPts val="300"/>
              </a:spcAft>
              <a:buSzPct val="100000"/>
              <a:buFont typeface="+mj-lt"/>
              <a:buAutoNum type="arabicPeriod" startAt="1"/>
            </a:pPr>
            <a:r>
              <a:rPr lang="en-US" sz="1250" dirty="0">
                <a:solidFill>
                  <a:srgbClr val="1A1A1A"/>
                </a:solidFill>
                <a:latin typeface="Noto Sans JP" pitchFamily="34" charset="0"/>
                <a:ea typeface="Noto Sans JP" pitchFamily="34" charset="-122"/>
                <a:cs typeface="Noto Sans JP" pitchFamily="34" charset="-120"/>
              </a:rPr>
              <a:t>SFA 外データの連携許可と、協力部署のアサイン</a:t>
            </a:r>
            <a:endParaRPr lang="en-US" sz="1250" dirty="0"/>
          </a:p>
        </p:txBody>
      </p:sp>
      <p:sp>
        <p:nvSpPr>
          <p:cNvPr id="22" name="Text 20"/>
          <p:cNvSpPr txBox="1"/>
          <p:nvPr/>
        </p:nvSpPr>
        <p:spPr>
          <a:xfrm>
            <a:off x="5276088" y="2194560"/>
            <a:ext cx="6309360" cy="320040"/>
          </a:xfrm>
          <a:prstGeom prst="rect">
            <a:avLst/>
          </a:prstGeom>
          <a:noFill/>
          <a:ln/>
        </p:spPr>
        <p:txBody>
          <a:bodyPr wrap="square" lIns="0" tIns="0" rIns="0" bIns="0" rtlCol="0" anchor="t"/>
          <a:lstStyle/>
          <a:p>
            <a:pPr indent="0" marL="0">
              <a:buNone/>
            </a:pPr>
            <a:r>
              <a:rPr lang="en-US" sz="1400" b="1" dirty="0">
                <a:solidFill>
                  <a:srgbClr val="1A1A1A"/>
                </a:solidFill>
                <a:latin typeface="Noto Sans JP" pitchFamily="34" charset="0"/>
                <a:ea typeface="Noto Sans JP" pitchFamily="34" charset="-122"/>
                <a:cs typeface="Noto Sans JP" pitchFamily="34" charset="-120"/>
              </a:rPr>
              <a:t>段階ごとに「続ける／直す／やめる」を判断する</a:t>
            </a:r>
            <a:endParaRPr lang="en-US" sz="1400" dirty="0"/>
          </a:p>
        </p:txBody>
      </p:sp>
      <p:sp>
        <p:nvSpPr>
          <p:cNvPr id="23" name="Shape 21"/>
          <p:cNvSpPr/>
          <p:nvPr/>
        </p:nvSpPr>
        <p:spPr>
          <a:xfrm>
            <a:off x="5276088" y="2651760"/>
            <a:ext cx="475488" cy="475488"/>
          </a:xfrm>
          <a:prstGeom prst="ellipse">
            <a:avLst/>
          </a:prstGeom>
          <a:solidFill>
            <a:srgbClr val="666666"/>
          </a:solidFill>
          <a:ln w="12700">
            <a:solidFill>
              <a:srgbClr val="666666"/>
            </a:solidFill>
            <a:prstDash val="solid"/>
          </a:ln>
        </p:spPr>
        <p:txBody>
          <a:bodyPr/>
          <a:p/>
        </p:txBody>
      </p:sp>
      <p:sp>
        <p:nvSpPr>
          <p:cNvPr id="24" name="Text 22"/>
          <p:cNvSpPr txBox="1"/>
          <p:nvPr/>
        </p:nvSpPr>
        <p:spPr>
          <a:xfrm>
            <a:off x="5276088" y="26517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0</a:t>
            </a:r>
            <a:endParaRPr lang="en-US" sz="1500" dirty="0"/>
          </a:p>
        </p:txBody>
      </p:sp>
      <p:sp>
        <p:nvSpPr>
          <p:cNvPr id="25" name="Text 23"/>
          <p:cNvSpPr txBox="1"/>
          <p:nvPr/>
        </p:nvSpPr>
        <p:spPr>
          <a:xfrm>
            <a:off x="5870448" y="2596896"/>
            <a:ext cx="2743200" cy="640080"/>
          </a:xfrm>
          <a:prstGeom prst="rect">
            <a:avLst/>
          </a:prstGeom>
          <a:noFill/>
          <a:ln/>
        </p:spPr>
        <p:txBody>
          <a:bodyPr wrap="square" lIns="0" tIns="0" rIns="0" bIns="0" rtlCol="0" anchor="t"/>
          <a:lstStyle/>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準備</a:t>
            </a:r>
            <a:endParaRPr lang="en-US" sz="14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過去日報の取り込みと名寄せ、判定基準を作る</a:t>
            </a:r>
            <a:endParaRPr lang="en-US" sz="1400" dirty="0"/>
          </a:p>
        </p:txBody>
      </p:sp>
      <p:sp>
        <p:nvSpPr>
          <p:cNvPr id="26" name="Shape 24"/>
          <p:cNvSpPr/>
          <p:nvPr/>
        </p:nvSpPr>
        <p:spPr>
          <a:xfrm>
            <a:off x="5276088" y="3337560"/>
            <a:ext cx="475488" cy="475488"/>
          </a:xfrm>
          <a:prstGeom prst="ellipse">
            <a:avLst/>
          </a:prstGeom>
          <a:solidFill>
            <a:srgbClr val="0017C1"/>
          </a:solidFill>
          <a:ln w="12700">
            <a:solidFill>
              <a:srgbClr val="0017C1"/>
            </a:solidFill>
            <a:prstDash val="solid"/>
          </a:ln>
        </p:spPr>
        <p:txBody>
          <a:bodyPr/>
          <a:p/>
        </p:txBody>
      </p:sp>
      <p:sp>
        <p:nvSpPr>
          <p:cNvPr id="27" name="Text 25"/>
          <p:cNvSpPr txBox="1"/>
          <p:nvPr/>
        </p:nvSpPr>
        <p:spPr>
          <a:xfrm>
            <a:off x="5276088" y="33375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1</a:t>
            </a:r>
            <a:endParaRPr lang="en-US" sz="1500" dirty="0"/>
          </a:p>
        </p:txBody>
      </p:sp>
      <p:sp>
        <p:nvSpPr>
          <p:cNvPr id="28" name="Text 26"/>
          <p:cNvSpPr txBox="1"/>
          <p:nvPr/>
        </p:nvSpPr>
        <p:spPr>
          <a:xfrm>
            <a:off x="5870448" y="3282696"/>
            <a:ext cx="2743200" cy="640080"/>
          </a:xfrm>
          <a:prstGeom prst="rect">
            <a:avLst/>
          </a:prstGeom>
          <a:noFill/>
          <a:ln/>
        </p:spPr>
        <p:txBody>
          <a:bodyPr wrap="square" lIns="0" tIns="0" rIns="0" bIns="0" rtlCol="0" anchor="t"/>
          <a:lstStyle/>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読む</a:t>
            </a:r>
            <a:endParaRPr lang="en-US" sz="14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訪問前に過去の記録が読める</a:t>
            </a:r>
            <a:endParaRPr lang="en-US" sz="1400" dirty="0"/>
          </a:p>
        </p:txBody>
      </p:sp>
      <p:sp>
        <p:nvSpPr>
          <p:cNvPr id="29" name="Shape 27"/>
          <p:cNvSpPr/>
          <p:nvPr/>
        </p:nvSpPr>
        <p:spPr>
          <a:xfrm>
            <a:off x="8659368" y="3319272"/>
            <a:ext cx="2926080" cy="530352"/>
          </a:xfrm>
          <a:prstGeom prst="rect">
            <a:avLst/>
          </a:prstGeom>
          <a:solidFill>
            <a:srgbClr val="FBF5E0"/>
          </a:solidFill>
          <a:ln w="12700">
            <a:solidFill>
              <a:srgbClr val="FBF5E0"/>
            </a:solidFill>
            <a:prstDash val="solid"/>
          </a:ln>
        </p:spPr>
        <p:txBody>
          <a:bodyPr/>
          <a:p/>
        </p:txBody>
      </p:sp>
      <p:sp>
        <p:nvSpPr>
          <p:cNvPr id="30" name="Text 28"/>
          <p:cNvSpPr txBox="1"/>
          <p:nvPr/>
        </p:nvSpPr>
        <p:spPr>
          <a:xfrm>
            <a:off x="8796528" y="3319272"/>
            <a:ext cx="2651760" cy="530352"/>
          </a:xfrm>
          <a:prstGeom prst="rect">
            <a:avLst/>
          </a:prstGeom>
          <a:noFill/>
          <a:ln/>
        </p:spPr>
        <p:txBody>
          <a:bodyPr wrap="square" lIns="0" tIns="0" rIns="0" bIns="0" rtlCol="0" anchor="ctr"/>
          <a:lstStyle/>
          <a:p>
            <a:pPr indent="0" marL="0">
              <a:buNone/>
            </a:pPr>
            <a:r>
              <a:rPr lang="en-US" sz="1150" dirty="0">
                <a:solidFill>
                  <a:srgbClr val="1A1A1A"/>
                </a:solidFill>
                <a:latin typeface="Noto Sans JP" pitchFamily="34" charset="0"/>
                <a:ea typeface="Noto Sans JP" pitchFamily="34" charset="-122"/>
                <a:cs typeface="Noto Sans JP" pitchFamily="34" charset="-120"/>
              </a:rPr>
              <a:t>判断①　開く習慣がついたか</a:t>
            </a:r>
            <a:endParaRPr lang="en-US" sz="1150" dirty="0"/>
          </a:p>
        </p:txBody>
      </p:sp>
      <p:sp>
        <p:nvSpPr>
          <p:cNvPr id="31" name="Shape 29"/>
          <p:cNvSpPr/>
          <p:nvPr/>
        </p:nvSpPr>
        <p:spPr>
          <a:xfrm>
            <a:off x="5276088" y="4023360"/>
            <a:ext cx="475488" cy="475488"/>
          </a:xfrm>
          <a:prstGeom prst="ellipse">
            <a:avLst/>
          </a:prstGeom>
          <a:solidFill>
            <a:srgbClr val="0017C1"/>
          </a:solidFill>
          <a:ln w="12700">
            <a:solidFill>
              <a:srgbClr val="0017C1"/>
            </a:solidFill>
            <a:prstDash val="solid"/>
          </a:ln>
        </p:spPr>
        <p:txBody>
          <a:bodyPr/>
          <a:p/>
        </p:txBody>
      </p:sp>
      <p:sp>
        <p:nvSpPr>
          <p:cNvPr id="32" name="Text 30"/>
          <p:cNvSpPr txBox="1"/>
          <p:nvPr/>
        </p:nvSpPr>
        <p:spPr>
          <a:xfrm>
            <a:off x="5276088" y="40233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2</a:t>
            </a:r>
            <a:endParaRPr lang="en-US" sz="1500" dirty="0"/>
          </a:p>
        </p:txBody>
      </p:sp>
      <p:sp>
        <p:nvSpPr>
          <p:cNvPr id="33" name="Text 31"/>
          <p:cNvSpPr txBox="1"/>
          <p:nvPr/>
        </p:nvSpPr>
        <p:spPr>
          <a:xfrm>
            <a:off x="5870448" y="3968496"/>
            <a:ext cx="2743200" cy="640080"/>
          </a:xfrm>
          <a:prstGeom prst="rect">
            <a:avLst/>
          </a:prstGeom>
          <a:noFill/>
          <a:ln/>
        </p:spPr>
        <p:txBody>
          <a:bodyPr wrap="square" lIns="0" tIns="0" rIns="0" bIns="0" rtlCol="0" anchor="t"/>
          <a:lstStyle/>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書くのが楽に</a:t>
            </a:r>
            <a:endParaRPr lang="en-US" sz="14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音声入力・下書きで手間が減る</a:t>
            </a:r>
            <a:endParaRPr lang="en-US" sz="1400" dirty="0"/>
          </a:p>
        </p:txBody>
      </p:sp>
      <p:sp>
        <p:nvSpPr>
          <p:cNvPr id="34" name="Shape 32"/>
          <p:cNvSpPr/>
          <p:nvPr/>
        </p:nvSpPr>
        <p:spPr>
          <a:xfrm>
            <a:off x="8659368" y="4005072"/>
            <a:ext cx="2926080" cy="530352"/>
          </a:xfrm>
          <a:prstGeom prst="rect">
            <a:avLst/>
          </a:prstGeom>
          <a:solidFill>
            <a:srgbClr val="FBF5E0"/>
          </a:solidFill>
          <a:ln w="12700">
            <a:solidFill>
              <a:srgbClr val="FBF5E0"/>
            </a:solidFill>
            <a:prstDash val="solid"/>
          </a:ln>
        </p:spPr>
        <p:txBody>
          <a:bodyPr/>
          <a:p/>
        </p:txBody>
      </p:sp>
      <p:sp>
        <p:nvSpPr>
          <p:cNvPr id="35" name="Text 33"/>
          <p:cNvSpPr txBox="1"/>
          <p:nvPr/>
        </p:nvSpPr>
        <p:spPr>
          <a:xfrm>
            <a:off x="8796528" y="4005072"/>
            <a:ext cx="2651760" cy="530352"/>
          </a:xfrm>
          <a:prstGeom prst="rect">
            <a:avLst/>
          </a:prstGeom>
          <a:noFill/>
          <a:ln/>
        </p:spPr>
        <p:txBody>
          <a:bodyPr wrap="square" lIns="0" tIns="0" rIns="0" bIns="0" rtlCol="0" anchor="ctr"/>
          <a:lstStyle/>
          <a:p>
            <a:pPr indent="0" marL="0">
              <a:buNone/>
            </a:pPr>
            <a:r>
              <a:rPr lang="en-US" sz="1150" dirty="0">
                <a:solidFill>
                  <a:srgbClr val="1A1A1A"/>
                </a:solidFill>
                <a:latin typeface="Noto Sans JP" pitchFamily="34" charset="0"/>
                <a:ea typeface="Noto Sans JP" pitchFamily="34" charset="-122"/>
                <a:cs typeface="Noto Sans JP" pitchFamily="34" charset="-120"/>
              </a:rPr>
              <a:t>判断②　作成時間は減ったか</a:t>
            </a:r>
            <a:endParaRPr lang="en-US" sz="1150" dirty="0"/>
          </a:p>
        </p:txBody>
      </p:sp>
      <p:sp>
        <p:nvSpPr>
          <p:cNvPr id="36" name="Shape 34"/>
          <p:cNvSpPr/>
          <p:nvPr/>
        </p:nvSpPr>
        <p:spPr>
          <a:xfrm>
            <a:off x="5276088" y="4709160"/>
            <a:ext cx="475488" cy="475488"/>
          </a:xfrm>
          <a:prstGeom prst="ellipse">
            <a:avLst/>
          </a:prstGeom>
          <a:solidFill>
            <a:srgbClr val="197A4B"/>
          </a:solidFill>
          <a:ln w="12700">
            <a:solidFill>
              <a:srgbClr val="197A4B"/>
            </a:solidFill>
            <a:prstDash val="solid"/>
          </a:ln>
        </p:spPr>
        <p:txBody>
          <a:bodyPr/>
          <a:p/>
        </p:txBody>
      </p:sp>
      <p:sp>
        <p:nvSpPr>
          <p:cNvPr id="37" name="Text 35"/>
          <p:cNvSpPr txBox="1"/>
          <p:nvPr/>
        </p:nvSpPr>
        <p:spPr>
          <a:xfrm>
            <a:off x="5276088" y="47091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3</a:t>
            </a:r>
            <a:endParaRPr lang="en-US" sz="1500" dirty="0"/>
          </a:p>
        </p:txBody>
      </p:sp>
      <p:sp>
        <p:nvSpPr>
          <p:cNvPr id="38" name="Text 36"/>
          <p:cNvSpPr txBox="1"/>
          <p:nvPr/>
        </p:nvSpPr>
        <p:spPr>
          <a:xfrm>
            <a:off x="5870448" y="4654296"/>
            <a:ext cx="2743200" cy="640080"/>
          </a:xfrm>
          <a:prstGeom prst="rect">
            <a:avLst/>
          </a:prstGeom>
          <a:noFill/>
          <a:ln/>
        </p:spPr>
        <p:txBody>
          <a:bodyPr wrap="square" lIns="0" tIns="0" rIns="0" bIns="0" rtlCol="0" anchor="t"/>
          <a:lstStyle/>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つながる</a:t>
            </a:r>
            <a:endParaRPr lang="en-US" sz="14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予兆・事例・相談先が返る</a:t>
            </a:r>
            <a:endParaRPr lang="en-US" sz="1400" dirty="0"/>
          </a:p>
        </p:txBody>
      </p:sp>
      <p:sp>
        <p:nvSpPr>
          <p:cNvPr id="39" name="Shape 37"/>
          <p:cNvSpPr/>
          <p:nvPr/>
        </p:nvSpPr>
        <p:spPr>
          <a:xfrm>
            <a:off x="8659368" y="4690872"/>
            <a:ext cx="2926080" cy="530352"/>
          </a:xfrm>
          <a:prstGeom prst="rect">
            <a:avLst/>
          </a:prstGeom>
          <a:solidFill>
            <a:srgbClr val="FBF5E0"/>
          </a:solidFill>
          <a:ln w="12700">
            <a:solidFill>
              <a:srgbClr val="FBF5E0"/>
            </a:solidFill>
            <a:prstDash val="solid"/>
          </a:ln>
        </p:spPr>
        <p:txBody>
          <a:bodyPr/>
          <a:p/>
        </p:txBody>
      </p:sp>
      <p:sp>
        <p:nvSpPr>
          <p:cNvPr id="40" name="Text 38"/>
          <p:cNvSpPr txBox="1"/>
          <p:nvPr/>
        </p:nvSpPr>
        <p:spPr>
          <a:xfrm>
            <a:off x="8796528" y="4690872"/>
            <a:ext cx="2651760" cy="530352"/>
          </a:xfrm>
          <a:prstGeom prst="rect">
            <a:avLst/>
          </a:prstGeom>
          <a:noFill/>
          <a:ln/>
        </p:spPr>
        <p:txBody>
          <a:bodyPr wrap="square" lIns="0" tIns="0" rIns="0" bIns="0" rtlCol="0" anchor="ctr"/>
          <a:lstStyle/>
          <a:p>
            <a:pPr indent="0" marL="0">
              <a:buNone/>
            </a:pPr>
            <a:r>
              <a:rPr lang="en-US" sz="1150" dirty="0">
                <a:solidFill>
                  <a:srgbClr val="1A1A1A"/>
                </a:solidFill>
                <a:latin typeface="Noto Sans JP" pitchFamily="34" charset="0"/>
                <a:ea typeface="Noto Sans JP" pitchFamily="34" charset="-122"/>
                <a:cs typeface="Noto Sans JP" pitchFamily="34" charset="-120"/>
              </a:rPr>
              <a:t>判断③　シグナルは妥当か、早期相談は増えたか</a:t>
            </a:r>
            <a:endParaRPr lang="en-US" sz="1150" dirty="0"/>
          </a:p>
        </p:txBody>
      </p:sp>
      <p:sp>
        <p:nvSpPr>
          <p:cNvPr id="41" name="Text 39"/>
          <p:cNvSpPr txBox="1"/>
          <p:nvPr/>
        </p:nvSpPr>
        <p:spPr>
          <a:xfrm>
            <a:off x="5276088" y="5349240"/>
            <a:ext cx="6309360" cy="292608"/>
          </a:xfrm>
          <a:prstGeom prst="rect">
            <a:avLst/>
          </a:prstGeom>
          <a:noFill/>
          <a:ln/>
        </p:spPr>
        <p:txBody>
          <a:bodyPr wrap="square" lIns="0" tIns="0" rIns="0" bIns="0" rtlCol="0" anchor="t"/>
          <a:lstStyle/>
          <a:p>
            <a:pPr indent="0" marL="0">
              <a:buNone/>
            </a:pPr>
            <a:r>
              <a:rPr lang="en-US" sz="1200" dirty="0">
                <a:solidFill>
                  <a:srgbClr val="666666"/>
                </a:solidFill>
                <a:latin typeface="Noto Sans JP" pitchFamily="34" charset="0"/>
                <a:ea typeface="Noto Sans JP" pitchFamily="34" charset="-122"/>
                <a:cs typeface="Noto Sans JP" pitchFamily="34" charset="-120"/>
              </a:rPr>
              <a:t>パイロット：1 支店・9〜12 か月。証明できたら全店へ、そして次の広がりへ</a:t>
            </a:r>
            <a:endParaRPr lang="en-US" sz="1200" dirty="0"/>
          </a:p>
        </p:txBody>
      </p:sp>
      <p:sp>
        <p:nvSpPr>
          <p:cNvPr id="42" name="Shape 40"/>
          <p:cNvSpPr/>
          <p:nvPr/>
        </p:nvSpPr>
        <p:spPr>
          <a:xfrm>
            <a:off x="5276088" y="5715000"/>
            <a:ext cx="2011680" cy="502920"/>
          </a:xfrm>
          <a:prstGeom prst="rect">
            <a:avLst/>
          </a:prstGeom>
          <a:solidFill>
            <a:srgbClr val="E8F1FE"/>
          </a:solidFill>
          <a:ln w="12700">
            <a:solidFill>
              <a:srgbClr val="E8F1FE"/>
            </a:solidFill>
            <a:prstDash val="solid"/>
          </a:ln>
        </p:spPr>
        <p:txBody>
          <a:bodyPr/>
          <a:p/>
        </p:txBody>
      </p:sp>
      <p:sp>
        <p:nvSpPr>
          <p:cNvPr id="43" name="Text 41"/>
          <p:cNvSpPr txBox="1"/>
          <p:nvPr/>
        </p:nvSpPr>
        <p:spPr>
          <a:xfrm>
            <a:off x="5276088" y="5715000"/>
            <a:ext cx="2011680" cy="502920"/>
          </a:xfrm>
          <a:prstGeom prst="rect">
            <a:avLst/>
          </a:prstGeom>
          <a:noFill/>
          <a:ln/>
        </p:spPr>
        <p:txBody>
          <a:bodyPr wrap="square" lIns="0" tIns="0" rIns="0" bIns="0" rtlCol="0" anchor="ctr"/>
          <a:lstStyle/>
          <a:p>
            <a:pPr algn="ctr" indent="0" marL="0">
              <a:buNone/>
            </a:pPr>
            <a:r>
              <a:rPr lang="en-US" sz="1300" b="1" dirty="0">
                <a:solidFill>
                  <a:srgbClr val="1A1A1A"/>
                </a:solidFill>
                <a:latin typeface="Noto Sans JP" pitchFamily="34" charset="0"/>
                <a:ea typeface="Noto Sans JP" pitchFamily="34" charset="-122"/>
                <a:cs typeface="Noto Sans JP" pitchFamily="34" charset="-120"/>
              </a:rPr>
              <a:t>成長を支える</a:t>
            </a:r>
            <a:endParaRPr lang="en-US" sz="1300" dirty="0"/>
          </a:p>
        </p:txBody>
      </p:sp>
      <p:sp>
        <p:nvSpPr>
          <p:cNvPr id="44" name="Shape 42"/>
          <p:cNvSpPr/>
          <p:nvPr/>
        </p:nvSpPr>
        <p:spPr>
          <a:xfrm>
            <a:off x="7424928" y="5715000"/>
            <a:ext cx="2011680" cy="502920"/>
          </a:xfrm>
          <a:prstGeom prst="rect">
            <a:avLst/>
          </a:prstGeom>
          <a:solidFill>
            <a:srgbClr val="E8F1FE"/>
          </a:solidFill>
          <a:ln w="12700">
            <a:solidFill>
              <a:srgbClr val="E8F1FE"/>
            </a:solidFill>
            <a:prstDash val="solid"/>
          </a:ln>
        </p:spPr>
        <p:txBody>
          <a:bodyPr/>
          <a:p/>
        </p:txBody>
      </p:sp>
      <p:sp>
        <p:nvSpPr>
          <p:cNvPr id="45" name="Text 43"/>
          <p:cNvSpPr txBox="1"/>
          <p:nvPr/>
        </p:nvSpPr>
        <p:spPr>
          <a:xfrm>
            <a:off x="7424928" y="5715000"/>
            <a:ext cx="2011680" cy="502920"/>
          </a:xfrm>
          <a:prstGeom prst="rect">
            <a:avLst/>
          </a:prstGeom>
          <a:noFill/>
          <a:ln/>
        </p:spPr>
        <p:txBody>
          <a:bodyPr wrap="square" lIns="0" tIns="0" rIns="0" bIns="0" rtlCol="0" anchor="ctr"/>
          <a:lstStyle/>
          <a:p>
            <a:pPr algn="ctr" indent="0" marL="0">
              <a:buNone/>
            </a:pPr>
            <a:r>
              <a:rPr lang="en-US" sz="1300" b="1" dirty="0">
                <a:solidFill>
                  <a:srgbClr val="1A1A1A"/>
                </a:solidFill>
                <a:latin typeface="Noto Sans JP" pitchFamily="34" charset="0"/>
                <a:ea typeface="Noto Sans JP" pitchFamily="34" charset="-122"/>
                <a:cs typeface="Noto Sans JP" pitchFamily="34" charset="-120"/>
              </a:rPr>
              <a:t>相続・資産承継へ</a:t>
            </a:r>
            <a:endParaRPr lang="en-US" sz="1300" dirty="0"/>
          </a:p>
        </p:txBody>
      </p:sp>
      <p:sp>
        <p:nvSpPr>
          <p:cNvPr id="46" name="Shape 44"/>
          <p:cNvSpPr/>
          <p:nvPr/>
        </p:nvSpPr>
        <p:spPr>
          <a:xfrm>
            <a:off x="9573768" y="5715000"/>
            <a:ext cx="2011680" cy="502920"/>
          </a:xfrm>
          <a:prstGeom prst="rect">
            <a:avLst/>
          </a:prstGeom>
          <a:solidFill>
            <a:srgbClr val="E6F5EC"/>
          </a:solidFill>
          <a:ln w="12700">
            <a:solidFill>
              <a:srgbClr val="E6F5EC"/>
            </a:solidFill>
            <a:prstDash val="solid"/>
          </a:ln>
        </p:spPr>
        <p:txBody>
          <a:bodyPr/>
          <a:p/>
        </p:txBody>
      </p:sp>
      <p:sp>
        <p:nvSpPr>
          <p:cNvPr id="47" name="Text 45"/>
          <p:cNvSpPr txBox="1"/>
          <p:nvPr/>
        </p:nvSpPr>
        <p:spPr>
          <a:xfrm>
            <a:off x="9573768" y="5715000"/>
            <a:ext cx="2011680" cy="502920"/>
          </a:xfrm>
          <a:prstGeom prst="rect">
            <a:avLst/>
          </a:prstGeom>
          <a:noFill/>
          <a:ln/>
        </p:spPr>
        <p:txBody>
          <a:bodyPr wrap="square" lIns="0" tIns="0" rIns="0" bIns="0" rtlCol="0" anchor="ctr"/>
          <a:lstStyle/>
          <a:p>
            <a:pPr algn="ctr" indent="0" marL="0">
              <a:buNone/>
            </a:pPr>
            <a:r>
              <a:rPr lang="en-US" sz="1300" b="1" dirty="0">
                <a:solidFill>
                  <a:srgbClr val="1A1A1A"/>
                </a:solidFill>
                <a:latin typeface="Noto Sans JP" pitchFamily="34" charset="0"/>
                <a:ea typeface="Noto Sans JP" pitchFamily="34" charset="-122"/>
                <a:cs typeface="Noto Sans JP" pitchFamily="34" charset="-120"/>
              </a:rPr>
              <a:t>地域のつなぎ役へ</a:t>
            </a:r>
            <a:endParaRPr lang="en-US" sz="1300" dirty="0"/>
          </a:p>
        </p:txBody>
      </p:sp>
      <p:sp>
        <p:nvSpPr>
          <p:cNvPr id="48" name="Text 46"/>
          <p:cNvSpPr txBox="1"/>
          <p:nvPr/>
        </p:nvSpPr>
        <p:spPr>
          <a:xfrm>
            <a:off x="612648" y="6327648"/>
            <a:ext cx="9966960" cy="320040"/>
          </a:xfrm>
          <a:prstGeom prst="rect">
            <a:avLst/>
          </a:prstGeom>
          <a:noFill/>
          <a:ln/>
        </p:spPr>
        <p:txBody>
          <a:bodyPr wrap="square" lIns="0" tIns="0" rIns="0" bIns="0" rtlCol="0" anchor="ctr"/>
          <a:lstStyle/>
          <a:p>
            <a:pPr indent="0" marL="0">
              <a:buNone/>
            </a:pP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有用性が証明された後の広がり方</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承継の支援を起点に、成長・相続へと支援が深まり、その積み重ねで銀行は地域のつなぎ役になる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効果・投資</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27</a:t>
            </a:r>
            <a:endParaRPr lang="en-US" sz="1200" dirty="0"/>
          </a:p>
        </p:txBody>
      </p:sp>
      <p:sp>
        <p:nvSpPr>
          <p:cNvPr id="8" name="Shape 6"/>
          <p:cNvSpPr/>
          <p:nvPr/>
        </p:nvSpPr>
        <p:spPr>
          <a:xfrm>
            <a:off x="612648" y="2286000"/>
            <a:ext cx="2523744" cy="2514600"/>
          </a:xfrm>
          <a:prstGeom prst="rect">
            <a:avLst/>
          </a:prstGeom>
          <a:solidFill>
            <a:srgbClr val="E8F1FE"/>
          </a:solidFill>
          <a:ln w="12700">
            <a:solidFill>
              <a:srgbClr val="E8F1FE"/>
            </a:solidFill>
            <a:prstDash val="solid"/>
          </a:ln>
        </p:spPr>
        <p:txBody>
          <a:bodyPr/>
          <a:p/>
        </p:txBody>
      </p:sp>
      <p:sp>
        <p:nvSpPr>
          <p:cNvPr id="9" name="Text 7"/>
          <p:cNvSpPr txBox="1"/>
          <p:nvPr/>
        </p:nvSpPr>
        <p:spPr>
          <a:xfrm>
            <a:off x="749808" y="2395728"/>
            <a:ext cx="2249424" cy="1691640"/>
          </a:xfrm>
          <a:prstGeom prst="rect">
            <a:avLst/>
          </a:prstGeom>
          <a:noFill/>
          <a:ln/>
        </p:spPr>
        <p:txBody>
          <a:bodyPr wrap="square" lIns="0" tIns="0" rIns="0" bIns="0" rtlCol="0" anchor="t"/>
          <a:lstStyle/>
          <a:p>
            <a:pPr indent="0" marL="0">
              <a:lnSpc>
                <a:spcPct val="115000"/>
              </a:lnSpc>
              <a:buNone/>
            </a:pPr>
            <a:r>
              <a:rPr lang="en-US" sz="1100" b="1" dirty="0">
                <a:solidFill>
                  <a:srgbClr val="0017C1"/>
                </a:solidFill>
                <a:latin typeface="Noto Sans JP" pitchFamily="34" charset="0"/>
                <a:ea typeface="Noto Sans JP" pitchFamily="34" charset="-122"/>
                <a:cs typeface="Noto Sans JP" pitchFamily="34" charset="-120"/>
              </a:rPr>
              <a:t>起点</a:t>
            </a:r>
            <a:endParaRPr lang="en-US" sz="1100" dirty="0"/>
          </a:p>
          <a:p>
            <a:pPr indent="0" marL="0">
              <a:lnSpc>
                <a:spcPct val="115000"/>
              </a:lnSpc>
              <a:buNone/>
            </a:pPr>
            <a:r>
              <a:rPr lang="en-US" sz="1500" b="1" dirty="0">
                <a:solidFill>
                  <a:srgbClr val="1A1A1A"/>
                </a:solidFill>
                <a:latin typeface="Noto Sans JP" pitchFamily="34" charset="0"/>
                <a:ea typeface="Noto Sans JP" pitchFamily="34" charset="-122"/>
                <a:cs typeface="Noto Sans JP" pitchFamily="34" charset="-120"/>
              </a:rPr>
              <a:t>事業承継を支える</a:t>
            </a:r>
            <a:endParaRPr lang="en-US" sz="1100" dirty="0"/>
          </a:p>
          <a:p>
            <a:pPr indent="0" marL="0">
              <a:lnSpc>
                <a:spcPct val="115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100" dirty="0"/>
          </a:p>
          <a:p>
            <a:pPr indent="0" marL="0">
              <a:lnSpc>
                <a:spcPct val="115000"/>
              </a:lnSpc>
              <a:buNone/>
            </a:pPr>
            <a:r>
              <a:rPr lang="en-US" sz="1150" dirty="0">
                <a:solidFill>
                  <a:srgbClr val="666666"/>
                </a:solidFill>
                <a:latin typeface="Noto Sans JP" pitchFamily="34" charset="0"/>
                <a:ea typeface="Noto Sans JP" pitchFamily="34" charset="-122"/>
                <a:cs typeface="Noto Sans JP" pitchFamily="34" charset="-120"/>
              </a:rPr>
              <a:t>今回のパイロット。承継は、停滞から成長へのきっかけにもなる</a:t>
            </a:r>
            <a:endParaRPr lang="en-US" sz="1100" dirty="0"/>
          </a:p>
        </p:txBody>
      </p:sp>
      <p:sp>
        <p:nvSpPr>
          <p:cNvPr id="10" name="Shape 8"/>
          <p:cNvSpPr/>
          <p:nvPr/>
        </p:nvSpPr>
        <p:spPr>
          <a:xfrm>
            <a:off x="749808" y="4114800"/>
            <a:ext cx="2249424" cy="0"/>
          </a:xfrm>
          <a:prstGeom prst="line">
            <a:avLst/>
          </a:prstGeom>
          <a:noFill/>
          <a:ln w="9525">
            <a:solidFill>
              <a:srgbClr val="CCCCCC"/>
            </a:solidFill>
            <a:prstDash val="solid"/>
          </a:ln>
        </p:spPr>
        <p:txBody>
          <a:bodyPr/>
          <a:p/>
        </p:txBody>
      </p:sp>
      <p:sp>
        <p:nvSpPr>
          <p:cNvPr id="11" name="Text 9"/>
          <p:cNvSpPr txBox="1"/>
          <p:nvPr/>
        </p:nvSpPr>
        <p:spPr>
          <a:xfrm>
            <a:off x="749808" y="4187952"/>
            <a:ext cx="2249424" cy="548640"/>
          </a:xfrm>
          <a:prstGeom prst="rect">
            <a:avLst/>
          </a:prstGeom>
          <a:noFill/>
          <a:ln/>
        </p:spPr>
        <p:txBody>
          <a:bodyPr wrap="square" lIns="0" tIns="0" rIns="0" bIns="0" rtlCol="0" anchor="t"/>
          <a:lstStyle/>
          <a:p>
            <a:pPr indent="0" marL="0">
              <a:lnSpc>
                <a:spcPct val="110000"/>
              </a:lnSpc>
              <a:buNone/>
            </a:pPr>
            <a:r>
              <a:rPr lang="en-US" sz="950" b="1" dirty="0">
                <a:solidFill>
                  <a:srgbClr val="0017C1"/>
                </a:solidFill>
                <a:latin typeface="Noto Sans JP" pitchFamily="34" charset="0"/>
                <a:ea typeface="Noto Sans JP" pitchFamily="34" charset="-122"/>
                <a:cs typeface="Noto Sans JP" pitchFamily="34" charset="-120"/>
              </a:rPr>
              <a:t>銀行にとって　</a:t>
            </a:r>
            <a:pPr indent="0" marL="0">
              <a:lnSpc>
                <a:spcPct val="110000"/>
              </a:lnSpc>
              <a:buNone/>
            </a:pPr>
            <a:r>
              <a:rPr lang="en-US" sz="1100" dirty="0">
                <a:solidFill>
                  <a:srgbClr val="1A1A1A"/>
                </a:solidFill>
                <a:latin typeface="Noto Sans JP" pitchFamily="34" charset="0"/>
                <a:ea typeface="Noto Sans JP" pitchFamily="34" charset="-122"/>
                <a:cs typeface="Noto Sans JP" pitchFamily="34" charset="-120"/>
              </a:rPr>
              <a:t>承継コンサル・M&amp;A</a:t>
            </a:r>
            <a:endParaRPr lang="en-US" sz="950" dirty="0"/>
          </a:p>
        </p:txBody>
      </p:sp>
      <p:sp>
        <p:nvSpPr>
          <p:cNvPr id="12" name="Shape 10"/>
          <p:cNvSpPr/>
          <p:nvPr/>
        </p:nvSpPr>
        <p:spPr>
          <a:xfrm>
            <a:off x="3163824" y="3543300"/>
            <a:ext cx="237744" cy="0"/>
          </a:xfrm>
          <a:prstGeom prst="line">
            <a:avLst/>
          </a:prstGeom>
          <a:noFill/>
          <a:ln w="19050">
            <a:solidFill>
              <a:srgbClr val="666666"/>
            </a:solidFill>
            <a:prstDash val="solid"/>
            <a:tailEnd type="triangle"/>
          </a:ln>
        </p:spPr>
        <p:txBody>
          <a:bodyPr/>
          <a:p/>
        </p:txBody>
      </p:sp>
      <p:sp>
        <p:nvSpPr>
          <p:cNvPr id="13" name="Shape 11"/>
          <p:cNvSpPr/>
          <p:nvPr/>
        </p:nvSpPr>
        <p:spPr>
          <a:xfrm>
            <a:off x="3429000" y="2286000"/>
            <a:ext cx="2523744" cy="2514600"/>
          </a:xfrm>
          <a:prstGeom prst="rect">
            <a:avLst/>
          </a:prstGeom>
          <a:solidFill>
            <a:srgbClr val="E8F1FE"/>
          </a:solidFill>
          <a:ln w="12700">
            <a:solidFill>
              <a:srgbClr val="E8F1FE"/>
            </a:solidFill>
            <a:prstDash val="solid"/>
          </a:ln>
        </p:spPr>
        <p:txBody>
          <a:bodyPr/>
          <a:p/>
        </p:txBody>
      </p:sp>
      <p:sp>
        <p:nvSpPr>
          <p:cNvPr id="14" name="Text 12"/>
          <p:cNvSpPr txBox="1"/>
          <p:nvPr/>
        </p:nvSpPr>
        <p:spPr>
          <a:xfrm>
            <a:off x="3566160" y="2395728"/>
            <a:ext cx="2249424" cy="1691640"/>
          </a:xfrm>
          <a:prstGeom prst="rect">
            <a:avLst/>
          </a:prstGeom>
          <a:noFill/>
          <a:ln/>
        </p:spPr>
        <p:txBody>
          <a:bodyPr wrap="square" lIns="0" tIns="0" rIns="0" bIns="0" rtlCol="0" anchor="t"/>
          <a:lstStyle/>
          <a:p>
            <a:pPr indent="0" marL="0">
              <a:lnSpc>
                <a:spcPct val="115000"/>
              </a:lnSpc>
              <a:buNone/>
            </a:pPr>
            <a:r>
              <a:rPr lang="en-US" sz="1100" b="1" dirty="0">
                <a:solidFill>
                  <a:srgbClr val="0017C1"/>
                </a:solidFill>
                <a:latin typeface="Noto Sans JP" pitchFamily="34" charset="0"/>
                <a:ea typeface="Noto Sans JP" pitchFamily="34" charset="-122"/>
                <a:cs typeface="Noto Sans JP" pitchFamily="34" charset="-120"/>
              </a:rPr>
              <a:t>A　深さ</a:t>
            </a:r>
            <a:endParaRPr lang="en-US" sz="1100" dirty="0"/>
          </a:p>
          <a:p>
            <a:pPr indent="0" marL="0">
              <a:lnSpc>
                <a:spcPct val="115000"/>
              </a:lnSpc>
              <a:buNone/>
            </a:pPr>
            <a:r>
              <a:rPr lang="en-US" sz="1500" b="1" dirty="0">
                <a:solidFill>
                  <a:srgbClr val="1A1A1A"/>
                </a:solidFill>
                <a:latin typeface="Noto Sans JP" pitchFamily="34" charset="0"/>
                <a:ea typeface="Noto Sans JP" pitchFamily="34" charset="-122"/>
                <a:cs typeface="Noto Sans JP" pitchFamily="34" charset="-120"/>
              </a:rPr>
              <a:t>成長を支える</a:t>
            </a:r>
            <a:endParaRPr lang="en-US" sz="1100" dirty="0"/>
          </a:p>
          <a:p>
            <a:pPr indent="0" marL="0">
              <a:lnSpc>
                <a:spcPct val="115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100" dirty="0"/>
          </a:p>
          <a:p>
            <a:pPr indent="0" marL="0">
              <a:lnSpc>
                <a:spcPct val="115000"/>
              </a:lnSpc>
              <a:buNone/>
            </a:pPr>
            <a:r>
              <a:rPr lang="en-US" sz="1150" dirty="0">
                <a:solidFill>
                  <a:srgbClr val="666666"/>
                </a:solidFill>
                <a:latin typeface="Noto Sans JP" pitchFamily="34" charset="0"/>
                <a:ea typeface="Noto Sans JP" pitchFamily="34" charset="-122"/>
                <a:cs typeface="Noto Sans JP" pitchFamily="34" charset="-120"/>
              </a:rPr>
              <a:t>承継後の設備投資・新しい事業・人材。予兆の定義に「成長の兆し」などを足す</a:t>
            </a:r>
            <a:endParaRPr lang="en-US" sz="1100" dirty="0"/>
          </a:p>
        </p:txBody>
      </p:sp>
      <p:sp>
        <p:nvSpPr>
          <p:cNvPr id="15" name="Shape 13"/>
          <p:cNvSpPr/>
          <p:nvPr/>
        </p:nvSpPr>
        <p:spPr>
          <a:xfrm>
            <a:off x="3566160" y="4114800"/>
            <a:ext cx="2249424" cy="0"/>
          </a:xfrm>
          <a:prstGeom prst="line">
            <a:avLst/>
          </a:prstGeom>
          <a:noFill/>
          <a:ln w="9525">
            <a:solidFill>
              <a:srgbClr val="CCCCCC"/>
            </a:solidFill>
            <a:prstDash val="solid"/>
          </a:ln>
        </p:spPr>
        <p:txBody>
          <a:bodyPr/>
          <a:p/>
        </p:txBody>
      </p:sp>
      <p:sp>
        <p:nvSpPr>
          <p:cNvPr id="16" name="Text 14"/>
          <p:cNvSpPr txBox="1"/>
          <p:nvPr/>
        </p:nvSpPr>
        <p:spPr>
          <a:xfrm>
            <a:off x="3566160" y="4187952"/>
            <a:ext cx="2249424" cy="548640"/>
          </a:xfrm>
          <a:prstGeom prst="rect">
            <a:avLst/>
          </a:prstGeom>
          <a:noFill/>
          <a:ln/>
        </p:spPr>
        <p:txBody>
          <a:bodyPr wrap="square" lIns="0" tIns="0" rIns="0" bIns="0" rtlCol="0" anchor="t"/>
          <a:lstStyle/>
          <a:p>
            <a:pPr indent="0" marL="0">
              <a:lnSpc>
                <a:spcPct val="110000"/>
              </a:lnSpc>
              <a:buNone/>
            </a:pPr>
            <a:r>
              <a:rPr lang="en-US" sz="950" b="1" dirty="0">
                <a:solidFill>
                  <a:srgbClr val="0017C1"/>
                </a:solidFill>
                <a:latin typeface="Noto Sans JP" pitchFamily="34" charset="0"/>
                <a:ea typeface="Noto Sans JP" pitchFamily="34" charset="-122"/>
                <a:cs typeface="Noto Sans JP" pitchFamily="34" charset="-120"/>
              </a:rPr>
              <a:t>銀行にとって　</a:t>
            </a:r>
            <a:pPr indent="0" marL="0">
              <a:lnSpc>
                <a:spcPct val="110000"/>
              </a:lnSpc>
              <a:buNone/>
            </a:pPr>
            <a:r>
              <a:rPr lang="en-US" sz="1100" dirty="0">
                <a:solidFill>
                  <a:srgbClr val="1A1A1A"/>
                </a:solidFill>
                <a:latin typeface="Noto Sans JP" pitchFamily="34" charset="0"/>
                <a:ea typeface="Noto Sans JP" pitchFamily="34" charset="-122"/>
                <a:cs typeface="Noto Sans JP" pitchFamily="34" charset="-120"/>
              </a:rPr>
              <a:t>設備投資・運転資金の融資、ビジネスマッチング</a:t>
            </a:r>
            <a:endParaRPr lang="en-US" sz="950" dirty="0"/>
          </a:p>
        </p:txBody>
      </p:sp>
      <p:sp>
        <p:nvSpPr>
          <p:cNvPr id="17" name="Shape 15"/>
          <p:cNvSpPr/>
          <p:nvPr/>
        </p:nvSpPr>
        <p:spPr>
          <a:xfrm>
            <a:off x="5980176" y="3543300"/>
            <a:ext cx="237744" cy="0"/>
          </a:xfrm>
          <a:prstGeom prst="line">
            <a:avLst/>
          </a:prstGeom>
          <a:noFill/>
          <a:ln w="19050">
            <a:solidFill>
              <a:srgbClr val="666666"/>
            </a:solidFill>
            <a:prstDash val="solid"/>
            <a:tailEnd type="triangle"/>
          </a:ln>
        </p:spPr>
        <p:txBody>
          <a:bodyPr/>
          <a:p/>
        </p:txBody>
      </p:sp>
      <p:sp>
        <p:nvSpPr>
          <p:cNvPr id="18" name="Shape 16"/>
          <p:cNvSpPr/>
          <p:nvPr/>
        </p:nvSpPr>
        <p:spPr>
          <a:xfrm>
            <a:off x="6245352" y="2286000"/>
            <a:ext cx="2523744" cy="2514600"/>
          </a:xfrm>
          <a:prstGeom prst="rect">
            <a:avLst/>
          </a:prstGeom>
          <a:solidFill>
            <a:srgbClr val="E8F1FE"/>
          </a:solidFill>
          <a:ln w="12700">
            <a:solidFill>
              <a:srgbClr val="E8F1FE"/>
            </a:solidFill>
            <a:prstDash val="solid"/>
          </a:ln>
        </p:spPr>
        <p:txBody>
          <a:bodyPr/>
          <a:p/>
        </p:txBody>
      </p:sp>
      <p:sp>
        <p:nvSpPr>
          <p:cNvPr id="19" name="Text 17"/>
          <p:cNvSpPr txBox="1"/>
          <p:nvPr/>
        </p:nvSpPr>
        <p:spPr>
          <a:xfrm>
            <a:off x="6382512" y="2395728"/>
            <a:ext cx="2249424" cy="1691640"/>
          </a:xfrm>
          <a:prstGeom prst="rect">
            <a:avLst/>
          </a:prstGeom>
          <a:noFill/>
          <a:ln/>
        </p:spPr>
        <p:txBody>
          <a:bodyPr wrap="square" lIns="0" tIns="0" rIns="0" bIns="0" rtlCol="0" anchor="t"/>
          <a:lstStyle/>
          <a:p>
            <a:pPr indent="0" marL="0">
              <a:lnSpc>
                <a:spcPct val="115000"/>
              </a:lnSpc>
              <a:buNone/>
            </a:pPr>
            <a:r>
              <a:rPr lang="en-US" sz="1100" b="1" dirty="0">
                <a:solidFill>
                  <a:srgbClr val="0017C1"/>
                </a:solidFill>
                <a:latin typeface="Noto Sans JP" pitchFamily="34" charset="0"/>
                <a:ea typeface="Noto Sans JP" pitchFamily="34" charset="-122"/>
                <a:cs typeface="Noto Sans JP" pitchFamily="34" charset="-120"/>
              </a:rPr>
              <a:t>B　横</a:t>
            </a:r>
            <a:endParaRPr lang="en-US" sz="1100" dirty="0"/>
          </a:p>
          <a:p>
            <a:pPr indent="0" marL="0">
              <a:lnSpc>
                <a:spcPct val="115000"/>
              </a:lnSpc>
              <a:buNone/>
            </a:pPr>
            <a:r>
              <a:rPr lang="en-US" sz="1500" b="1" dirty="0">
                <a:solidFill>
                  <a:srgbClr val="1A1A1A"/>
                </a:solidFill>
                <a:latin typeface="Noto Sans JP" pitchFamily="34" charset="0"/>
                <a:ea typeface="Noto Sans JP" pitchFamily="34" charset="-122"/>
                <a:cs typeface="Noto Sans JP" pitchFamily="34" charset="-120"/>
              </a:rPr>
              <a:t>相続・資産承継を支える</a:t>
            </a:r>
            <a:endParaRPr lang="en-US" sz="1100" dirty="0"/>
          </a:p>
          <a:p>
            <a:pPr indent="0" marL="0">
              <a:lnSpc>
                <a:spcPct val="115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100" dirty="0"/>
          </a:p>
          <a:p>
            <a:pPr indent="0" marL="0">
              <a:lnSpc>
                <a:spcPct val="115000"/>
              </a:lnSpc>
              <a:buNone/>
            </a:pPr>
            <a:r>
              <a:rPr lang="en-US" sz="1150" dirty="0">
                <a:solidFill>
                  <a:srgbClr val="666666"/>
                </a:solidFill>
                <a:latin typeface="Noto Sans JP" pitchFamily="34" charset="0"/>
                <a:ea typeface="Noto Sans JP" pitchFamily="34" charset="-122"/>
                <a:cs typeface="Noto Sans JP" pitchFamily="34" charset="-120"/>
              </a:rPr>
              <a:t>事業の承継は、経営者個人の相続や株式の承継でもある。法人と個人の担当がつながる</a:t>
            </a:r>
            <a:endParaRPr lang="en-US" sz="1100" dirty="0"/>
          </a:p>
        </p:txBody>
      </p:sp>
      <p:sp>
        <p:nvSpPr>
          <p:cNvPr id="20" name="Shape 18"/>
          <p:cNvSpPr/>
          <p:nvPr/>
        </p:nvSpPr>
        <p:spPr>
          <a:xfrm>
            <a:off x="6382512" y="4114800"/>
            <a:ext cx="2249424" cy="0"/>
          </a:xfrm>
          <a:prstGeom prst="line">
            <a:avLst/>
          </a:prstGeom>
          <a:noFill/>
          <a:ln w="9525">
            <a:solidFill>
              <a:srgbClr val="CCCCCC"/>
            </a:solidFill>
            <a:prstDash val="solid"/>
          </a:ln>
        </p:spPr>
        <p:txBody>
          <a:bodyPr/>
          <a:p/>
        </p:txBody>
      </p:sp>
      <p:sp>
        <p:nvSpPr>
          <p:cNvPr id="21" name="Text 19"/>
          <p:cNvSpPr txBox="1"/>
          <p:nvPr/>
        </p:nvSpPr>
        <p:spPr>
          <a:xfrm>
            <a:off x="6382512" y="4187952"/>
            <a:ext cx="2249424" cy="548640"/>
          </a:xfrm>
          <a:prstGeom prst="rect">
            <a:avLst/>
          </a:prstGeom>
          <a:noFill/>
          <a:ln/>
        </p:spPr>
        <p:txBody>
          <a:bodyPr wrap="square" lIns="0" tIns="0" rIns="0" bIns="0" rtlCol="0" anchor="t"/>
          <a:lstStyle/>
          <a:p>
            <a:pPr indent="0" marL="0">
              <a:lnSpc>
                <a:spcPct val="110000"/>
              </a:lnSpc>
              <a:buNone/>
            </a:pPr>
            <a:r>
              <a:rPr lang="en-US" sz="950" b="1" dirty="0">
                <a:solidFill>
                  <a:srgbClr val="0017C1"/>
                </a:solidFill>
                <a:latin typeface="Noto Sans JP" pitchFamily="34" charset="0"/>
                <a:ea typeface="Noto Sans JP" pitchFamily="34" charset="-122"/>
                <a:cs typeface="Noto Sans JP" pitchFamily="34" charset="-120"/>
              </a:rPr>
              <a:t>銀行にとって　</a:t>
            </a:r>
            <a:pPr indent="0" marL="0">
              <a:lnSpc>
                <a:spcPct val="110000"/>
              </a:lnSpc>
              <a:buNone/>
            </a:pPr>
            <a:r>
              <a:rPr lang="en-US" sz="1100" dirty="0">
                <a:solidFill>
                  <a:srgbClr val="1A1A1A"/>
                </a:solidFill>
                <a:latin typeface="Noto Sans JP" pitchFamily="34" charset="0"/>
                <a:ea typeface="Noto Sans JP" pitchFamily="34" charset="-122"/>
                <a:cs typeface="Noto Sans JP" pitchFamily="34" charset="-120"/>
              </a:rPr>
              <a:t>相続・信託・資産運用</a:t>
            </a:r>
            <a:endParaRPr lang="en-US" sz="950" dirty="0"/>
          </a:p>
        </p:txBody>
      </p:sp>
      <p:sp>
        <p:nvSpPr>
          <p:cNvPr id="22" name="Shape 20"/>
          <p:cNvSpPr/>
          <p:nvPr/>
        </p:nvSpPr>
        <p:spPr>
          <a:xfrm>
            <a:off x="8796528" y="3543300"/>
            <a:ext cx="237744" cy="0"/>
          </a:xfrm>
          <a:prstGeom prst="line">
            <a:avLst/>
          </a:prstGeom>
          <a:noFill/>
          <a:ln w="19050">
            <a:solidFill>
              <a:srgbClr val="666666"/>
            </a:solidFill>
            <a:prstDash val="solid"/>
            <a:tailEnd type="triangle"/>
          </a:ln>
        </p:spPr>
        <p:txBody>
          <a:bodyPr/>
          <a:p/>
        </p:txBody>
      </p:sp>
      <p:sp>
        <p:nvSpPr>
          <p:cNvPr id="23" name="Shape 21"/>
          <p:cNvSpPr/>
          <p:nvPr/>
        </p:nvSpPr>
        <p:spPr>
          <a:xfrm>
            <a:off x="9061704" y="2286000"/>
            <a:ext cx="2523744" cy="2514600"/>
          </a:xfrm>
          <a:prstGeom prst="rect">
            <a:avLst/>
          </a:prstGeom>
          <a:solidFill>
            <a:srgbClr val="E6F5EC"/>
          </a:solidFill>
          <a:ln w="19050">
            <a:solidFill>
              <a:srgbClr val="197A4B"/>
            </a:solidFill>
            <a:prstDash val="solid"/>
          </a:ln>
        </p:spPr>
        <p:txBody>
          <a:bodyPr/>
          <a:p/>
        </p:txBody>
      </p:sp>
      <p:sp>
        <p:nvSpPr>
          <p:cNvPr id="24" name="Text 22"/>
          <p:cNvSpPr txBox="1"/>
          <p:nvPr/>
        </p:nvSpPr>
        <p:spPr>
          <a:xfrm>
            <a:off x="9198864" y="2395728"/>
            <a:ext cx="2249424" cy="1691640"/>
          </a:xfrm>
          <a:prstGeom prst="rect">
            <a:avLst/>
          </a:prstGeom>
          <a:noFill/>
          <a:ln/>
        </p:spPr>
        <p:txBody>
          <a:bodyPr wrap="square" lIns="0" tIns="0" rIns="0" bIns="0" rtlCol="0" anchor="t"/>
          <a:lstStyle/>
          <a:p>
            <a:pPr indent="0" marL="0">
              <a:lnSpc>
                <a:spcPct val="115000"/>
              </a:lnSpc>
              <a:buNone/>
            </a:pPr>
            <a:r>
              <a:rPr lang="en-US" sz="1100" b="1" dirty="0">
                <a:solidFill>
                  <a:srgbClr val="197A4B"/>
                </a:solidFill>
                <a:latin typeface="Noto Sans JP" pitchFamily="34" charset="0"/>
                <a:ea typeface="Noto Sans JP" pitchFamily="34" charset="-122"/>
                <a:cs typeface="Noto Sans JP" pitchFamily="34" charset="-120"/>
              </a:rPr>
              <a:t>C　地域</a:t>
            </a:r>
            <a:endParaRPr lang="en-US" sz="1100" dirty="0"/>
          </a:p>
          <a:p>
            <a:pPr indent="0" marL="0">
              <a:lnSpc>
                <a:spcPct val="115000"/>
              </a:lnSpc>
              <a:buNone/>
            </a:pPr>
            <a:r>
              <a:rPr lang="en-US" sz="1500" b="1" dirty="0">
                <a:solidFill>
                  <a:srgbClr val="1A1A1A"/>
                </a:solidFill>
                <a:latin typeface="Noto Sans JP" pitchFamily="34" charset="0"/>
                <a:ea typeface="Noto Sans JP" pitchFamily="34" charset="-122"/>
                <a:cs typeface="Noto Sans JP" pitchFamily="34" charset="-120"/>
              </a:rPr>
              <a:t>地域のつなぎ役になる</a:t>
            </a:r>
            <a:endParaRPr lang="en-US" sz="1100" dirty="0"/>
          </a:p>
          <a:p>
            <a:pPr indent="0" marL="0">
              <a:lnSpc>
                <a:spcPct val="115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100" dirty="0"/>
          </a:p>
          <a:p>
            <a:pPr indent="0" marL="0">
              <a:lnSpc>
                <a:spcPct val="115000"/>
              </a:lnSpc>
              <a:buNone/>
            </a:pPr>
            <a:r>
              <a:rPr lang="en-US" sz="1150" dirty="0">
                <a:solidFill>
                  <a:srgbClr val="666666"/>
                </a:solidFill>
                <a:latin typeface="Noto Sans JP" pitchFamily="34" charset="0"/>
                <a:ea typeface="Noto Sans JP" pitchFamily="34" charset="-122"/>
                <a:cs typeface="Noto Sans JP" pitchFamily="34" charset="-120"/>
              </a:rPr>
              <a:t>継ぐ人がいない企業と受け手、技術と若手、支援機関をつなぐ</a:t>
            </a:r>
            <a:endParaRPr lang="en-US" sz="1100" dirty="0"/>
          </a:p>
        </p:txBody>
      </p:sp>
      <p:sp>
        <p:nvSpPr>
          <p:cNvPr id="25" name="Shape 23"/>
          <p:cNvSpPr/>
          <p:nvPr/>
        </p:nvSpPr>
        <p:spPr>
          <a:xfrm>
            <a:off x="9198864" y="4114800"/>
            <a:ext cx="2249424" cy="0"/>
          </a:xfrm>
          <a:prstGeom prst="line">
            <a:avLst/>
          </a:prstGeom>
          <a:noFill/>
          <a:ln w="9525">
            <a:solidFill>
              <a:srgbClr val="CCCCCC"/>
            </a:solidFill>
            <a:prstDash val="solid"/>
          </a:ln>
        </p:spPr>
        <p:txBody>
          <a:bodyPr/>
          <a:p/>
        </p:txBody>
      </p:sp>
      <p:sp>
        <p:nvSpPr>
          <p:cNvPr id="26" name="Text 24"/>
          <p:cNvSpPr txBox="1"/>
          <p:nvPr/>
        </p:nvSpPr>
        <p:spPr>
          <a:xfrm>
            <a:off x="9198864" y="4187952"/>
            <a:ext cx="2249424" cy="548640"/>
          </a:xfrm>
          <a:prstGeom prst="rect">
            <a:avLst/>
          </a:prstGeom>
          <a:noFill/>
          <a:ln/>
        </p:spPr>
        <p:txBody>
          <a:bodyPr wrap="square" lIns="0" tIns="0" rIns="0" bIns="0" rtlCol="0" anchor="t"/>
          <a:lstStyle/>
          <a:p>
            <a:pPr indent="0" marL="0">
              <a:lnSpc>
                <a:spcPct val="110000"/>
              </a:lnSpc>
              <a:buNone/>
            </a:pPr>
            <a:r>
              <a:rPr lang="en-US" sz="950" b="1" dirty="0">
                <a:solidFill>
                  <a:srgbClr val="197A4B"/>
                </a:solidFill>
                <a:latin typeface="Noto Sans JP" pitchFamily="34" charset="0"/>
                <a:ea typeface="Noto Sans JP" pitchFamily="34" charset="-122"/>
                <a:cs typeface="Noto Sans JP" pitchFamily="34" charset="-120"/>
              </a:rPr>
              <a:t>銀行にとって　</a:t>
            </a:r>
            <a:pPr indent="0" marL="0">
              <a:lnSpc>
                <a:spcPct val="110000"/>
              </a:lnSpc>
              <a:buNone/>
            </a:pPr>
            <a:r>
              <a:rPr lang="en-US" sz="1100" dirty="0">
                <a:solidFill>
                  <a:srgbClr val="1A1A1A"/>
                </a:solidFill>
                <a:latin typeface="Noto Sans JP" pitchFamily="34" charset="0"/>
                <a:ea typeface="Noto Sans JP" pitchFamily="34" charset="-122"/>
                <a:cs typeface="Noto Sans JP" pitchFamily="34" charset="-120"/>
              </a:rPr>
              <a:t>地域の中で取引・雇用・預貸が回る</a:t>
            </a:r>
            <a:endParaRPr lang="en-US" sz="950" dirty="0"/>
          </a:p>
        </p:txBody>
      </p:sp>
      <p:sp>
        <p:nvSpPr>
          <p:cNvPr id="27" name="Text 25"/>
          <p:cNvSpPr txBox="1"/>
          <p:nvPr/>
        </p:nvSpPr>
        <p:spPr>
          <a:xfrm>
            <a:off x="612648" y="4873752"/>
            <a:ext cx="10972800" cy="320040"/>
          </a:xfrm>
          <a:prstGeom prst="rect">
            <a:avLst/>
          </a:prstGeom>
          <a:noFill/>
          <a:ln/>
        </p:spPr>
        <p:txBody>
          <a:bodyPr wrap="square" lIns="0" tIns="0" rIns="0" bIns="0" rtlCol="0" anchor="t"/>
          <a:lstStyle/>
          <a:p>
            <a:pPr indent="0" marL="0">
              <a:buNone/>
            </a:pPr>
            <a:r>
              <a:rPr lang="en-US" sz="1300" b="1" dirty="0">
                <a:solidFill>
                  <a:srgbClr val="197A4B"/>
                </a:solidFill>
                <a:latin typeface="Noto Sans JP" pitchFamily="34" charset="0"/>
                <a:ea typeface="Noto Sans JP" pitchFamily="34" charset="-122"/>
                <a:cs typeface="Noto Sans JP" pitchFamily="34" charset="-120"/>
              </a:rPr>
              <a:t>C は目指して作るものではなく、承継・成長・相続の支援を重ねた結果として、銀行が立つ位置</a:t>
            </a:r>
            <a:endParaRPr lang="en-US" sz="1300" dirty="0"/>
          </a:p>
        </p:txBody>
      </p:sp>
      <p:sp>
        <p:nvSpPr>
          <p:cNvPr id="28" name="Shape 26"/>
          <p:cNvSpPr/>
          <p:nvPr/>
        </p:nvSpPr>
        <p:spPr>
          <a:xfrm>
            <a:off x="612648" y="5285232"/>
            <a:ext cx="5349240" cy="960120"/>
          </a:xfrm>
          <a:prstGeom prst="rect">
            <a:avLst/>
          </a:prstGeom>
          <a:solidFill>
            <a:srgbClr val="F2F2F2"/>
          </a:solidFill>
          <a:ln w="12700">
            <a:solidFill>
              <a:srgbClr val="F2F2F2"/>
            </a:solidFill>
            <a:prstDash val="solid"/>
          </a:ln>
        </p:spPr>
        <p:txBody>
          <a:bodyPr/>
          <a:p/>
        </p:txBody>
      </p:sp>
      <p:sp>
        <p:nvSpPr>
          <p:cNvPr id="29" name="Text 27"/>
          <p:cNvSpPr txBox="1"/>
          <p:nvPr/>
        </p:nvSpPr>
        <p:spPr>
          <a:xfrm>
            <a:off x="795528" y="5422392"/>
            <a:ext cx="4983480" cy="731520"/>
          </a:xfrm>
          <a:prstGeom prst="rect">
            <a:avLst/>
          </a:prstGeom>
          <a:noFill/>
          <a:ln/>
        </p:spPr>
        <p:txBody>
          <a:bodyPr wrap="square" lIns="0" tIns="0" rIns="0" bIns="0" rtlCol="0" anchor="t"/>
          <a:lstStyle/>
          <a:p>
            <a:pPr indent="0" marL="0">
              <a:lnSpc>
                <a:spcPct val="120000"/>
              </a:lnSpc>
              <a:spcAft>
                <a:spcPts val="300"/>
              </a:spcAft>
              <a:buNone/>
            </a:pPr>
            <a:r>
              <a:rPr lang="en-US" sz="1350" b="1" dirty="0">
                <a:solidFill>
                  <a:srgbClr val="1A1A1A"/>
                </a:solidFill>
                <a:latin typeface="Noto Sans JP" pitchFamily="34" charset="0"/>
                <a:ea typeface="Noto Sans JP" pitchFamily="34" charset="-122"/>
                <a:cs typeface="Noto Sans JP" pitchFamily="34" charset="-120"/>
              </a:rPr>
              <a:t>広がるたびに貯まるもの</a:t>
            </a:r>
            <a:endParaRPr lang="en-US" sz="1350" dirty="0"/>
          </a:p>
          <a:p>
            <a:pPr indent="0" marL="0">
              <a:lnSpc>
                <a:spcPct val="120000"/>
              </a:lnSpc>
              <a:spcAft>
                <a:spcPts val="300"/>
              </a:spcAft>
              <a:buNone/>
            </a:pPr>
            <a:r>
              <a:rPr lang="en-US" sz="1100" dirty="0">
                <a:solidFill>
                  <a:srgbClr val="666666"/>
                </a:solidFill>
                <a:latin typeface="Noto Sans JP" pitchFamily="34" charset="0"/>
                <a:ea typeface="Noto Sans JP" pitchFamily="34" charset="-122"/>
                <a:cs typeface="Noto Sans JP" pitchFamily="34" charset="-120"/>
              </a:rPr>
              <a:t>地域企業が続いていくための情報、判断の知見、人と企業のつながり。器は同じで、予兆の定義とつなぐ先を足していく</a:t>
            </a:r>
            <a:endParaRPr lang="en-US" sz="1350" dirty="0"/>
          </a:p>
        </p:txBody>
      </p:sp>
      <p:sp>
        <p:nvSpPr>
          <p:cNvPr id="30" name="Shape 28"/>
          <p:cNvSpPr/>
          <p:nvPr/>
        </p:nvSpPr>
        <p:spPr>
          <a:xfrm>
            <a:off x="6236208" y="5285232"/>
            <a:ext cx="5349240" cy="960120"/>
          </a:xfrm>
          <a:prstGeom prst="rect">
            <a:avLst/>
          </a:prstGeom>
          <a:solidFill>
            <a:srgbClr val="FBF5E0"/>
          </a:solidFill>
          <a:ln w="12700">
            <a:solidFill>
              <a:srgbClr val="FBF5E0"/>
            </a:solidFill>
            <a:prstDash val="solid"/>
          </a:ln>
        </p:spPr>
        <p:txBody>
          <a:bodyPr/>
          <a:p/>
        </p:txBody>
      </p:sp>
      <p:sp>
        <p:nvSpPr>
          <p:cNvPr id="31" name="Text 29"/>
          <p:cNvSpPr txBox="1"/>
          <p:nvPr/>
        </p:nvSpPr>
        <p:spPr>
          <a:xfrm>
            <a:off x="6419088" y="5422392"/>
            <a:ext cx="4983480" cy="731520"/>
          </a:xfrm>
          <a:prstGeom prst="rect">
            <a:avLst/>
          </a:prstGeom>
          <a:noFill/>
          <a:ln/>
        </p:spPr>
        <p:txBody>
          <a:bodyPr wrap="square" lIns="0" tIns="0" rIns="0" bIns="0" rtlCol="0" anchor="t"/>
          <a:lstStyle/>
          <a:p>
            <a:pPr indent="0" marL="0">
              <a:lnSpc>
                <a:spcPct val="120000"/>
              </a:lnSpc>
              <a:spcAft>
                <a:spcPts val="300"/>
              </a:spcAft>
              <a:buNone/>
            </a:pPr>
            <a:r>
              <a:rPr lang="en-US" sz="1350" b="1" dirty="0">
                <a:solidFill>
                  <a:srgbClr val="806300"/>
                </a:solidFill>
                <a:latin typeface="Noto Sans JP" pitchFamily="34" charset="0"/>
                <a:ea typeface="Noto Sans JP" pitchFamily="34" charset="-122"/>
                <a:cs typeface="Noto Sans JP" pitchFamily="34" charset="-120"/>
              </a:rPr>
              <a:t>先に決めておく条件</a:t>
            </a:r>
            <a:endParaRPr lang="en-US" sz="1350" dirty="0"/>
          </a:p>
          <a:p>
            <a:pPr indent="0" marL="0">
              <a:lnSpc>
                <a:spcPct val="120000"/>
              </a:lnSpc>
              <a:spcAft>
                <a:spcPts val="300"/>
              </a:spcAft>
              <a:buNone/>
            </a:pPr>
            <a:r>
              <a:rPr lang="en-US" sz="1100" dirty="0">
                <a:solidFill>
                  <a:srgbClr val="666666"/>
                </a:solidFill>
                <a:latin typeface="Noto Sans JP" pitchFamily="34" charset="0"/>
                <a:ea typeface="Noto Sans JP" pitchFamily="34" charset="-122"/>
                <a:cs typeface="Noto Sans JP" pitchFamily="34" charset="-120"/>
              </a:rPr>
              <a:t>企業同士をつなぐ前のお客さまの同意。与信に使わない約束を地域にも広げる。情報の扱いと説明のルール</a:t>
            </a:r>
            <a:endParaRPr lang="en-US" sz="1350" dirty="0"/>
          </a:p>
        </p:txBody>
      </p:sp>
      <p:sp>
        <p:nvSpPr>
          <p:cNvPr id="32" name="Text 30"/>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他の金融機関への仕組みの提供（外販）は、地域が重ならない相手との共同利用などに限った最後の選択肢（付録 A2）</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貸し続けられる環境を、自ら作る</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企業が続けば、雇用と技術が守られ、銀行は貸出を続けられる。その第一歩として、1 支店・事業承継のパイロットを承認してください</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結論</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28</a:t>
            </a:r>
            <a:endParaRPr lang="en-US" sz="1200" dirty="0"/>
          </a:p>
        </p:txBody>
      </p:sp>
      <p:sp>
        <p:nvSpPr>
          <p:cNvPr id="8" name="Shape 6"/>
          <p:cNvSpPr/>
          <p:nvPr/>
        </p:nvSpPr>
        <p:spPr>
          <a:xfrm>
            <a:off x="612648" y="2606040"/>
            <a:ext cx="3474720" cy="1280160"/>
          </a:xfrm>
          <a:prstGeom prst="rect">
            <a:avLst/>
          </a:prstGeom>
          <a:solidFill>
            <a:srgbClr val="E8F1FE"/>
          </a:solidFill>
          <a:ln w="12700">
            <a:solidFill>
              <a:srgbClr val="E8F1FE"/>
            </a:solidFill>
            <a:prstDash val="solid"/>
          </a:ln>
        </p:spPr>
        <p:txBody>
          <a:bodyPr/>
          <a:p/>
        </p:txBody>
      </p:sp>
      <p:sp>
        <p:nvSpPr>
          <p:cNvPr id="9" name="Text 7"/>
          <p:cNvSpPr txBox="1"/>
          <p:nvPr/>
        </p:nvSpPr>
        <p:spPr>
          <a:xfrm>
            <a:off x="795528" y="2743200"/>
            <a:ext cx="3108960" cy="1051560"/>
          </a:xfrm>
          <a:prstGeom prst="rect">
            <a:avLst/>
          </a:prstGeom>
          <a:noFill/>
          <a:ln/>
        </p:spPr>
        <p:txBody>
          <a:bodyPr wrap="square" lIns="0" tIns="0" rIns="0" bIns="0" rtlCol="0" anchor="t"/>
          <a:lstStyle/>
          <a:p>
            <a:pPr indent="0" marL="0">
              <a:lnSpc>
                <a:spcPct val="120000"/>
              </a:lnSpc>
              <a:spcAft>
                <a:spcPts val="300"/>
              </a:spcAft>
              <a:buNone/>
            </a:pPr>
            <a:r>
              <a:rPr lang="en-US" sz="1800" b="1" dirty="0">
                <a:solidFill>
                  <a:srgbClr val="1A1A1A"/>
                </a:solidFill>
                <a:latin typeface="Noto Sans JP" pitchFamily="34" charset="0"/>
                <a:ea typeface="Noto Sans JP" pitchFamily="34" charset="-122"/>
                <a:cs typeface="Noto Sans JP" pitchFamily="34" charset="-120"/>
              </a:rPr>
              <a:t>承継に取り組める人を増やす</a:t>
            </a:r>
            <a:endParaRPr lang="en-US" sz="1800" dirty="0"/>
          </a:p>
          <a:p>
            <a:pPr indent="0" marL="0">
              <a:lnSpc>
                <a:spcPct val="120000"/>
              </a:lnSpc>
              <a:spcAft>
                <a:spcPts val="300"/>
              </a:spcAft>
              <a:buNone/>
            </a:pPr>
            <a:r>
              <a:rPr lang="en-US" sz="1400" dirty="0">
                <a:solidFill>
                  <a:srgbClr val="666666"/>
                </a:solidFill>
                <a:latin typeface="Noto Sans JP" pitchFamily="34" charset="0"/>
                <a:ea typeface="Noto Sans JP" pitchFamily="34" charset="-122"/>
                <a:cs typeface="Noto Sans JP" pitchFamily="34" charset="-120"/>
              </a:rPr>
              <a:t>ベテランの知見を LLM で届ける</a:t>
            </a:r>
            <a:endParaRPr lang="en-US" sz="1800" dirty="0"/>
          </a:p>
        </p:txBody>
      </p:sp>
      <p:sp>
        <p:nvSpPr>
          <p:cNvPr id="10" name="Shape 8"/>
          <p:cNvSpPr/>
          <p:nvPr/>
        </p:nvSpPr>
        <p:spPr>
          <a:xfrm>
            <a:off x="4361688" y="2606040"/>
            <a:ext cx="3474720" cy="1280160"/>
          </a:xfrm>
          <a:prstGeom prst="rect">
            <a:avLst/>
          </a:prstGeom>
          <a:solidFill>
            <a:srgbClr val="E8F1FE"/>
          </a:solidFill>
          <a:ln w="12700">
            <a:solidFill>
              <a:srgbClr val="E8F1FE"/>
            </a:solidFill>
            <a:prstDash val="solid"/>
          </a:ln>
        </p:spPr>
        <p:txBody>
          <a:bodyPr/>
          <a:p/>
        </p:txBody>
      </p:sp>
      <p:sp>
        <p:nvSpPr>
          <p:cNvPr id="11" name="Text 9"/>
          <p:cNvSpPr txBox="1"/>
          <p:nvPr/>
        </p:nvSpPr>
        <p:spPr>
          <a:xfrm>
            <a:off x="4544568" y="2743200"/>
            <a:ext cx="3108960" cy="1051560"/>
          </a:xfrm>
          <a:prstGeom prst="rect">
            <a:avLst/>
          </a:prstGeom>
          <a:noFill/>
          <a:ln/>
        </p:spPr>
        <p:txBody>
          <a:bodyPr wrap="square" lIns="0" tIns="0" rIns="0" bIns="0" rtlCol="0" anchor="t"/>
          <a:lstStyle/>
          <a:p>
            <a:pPr indent="0" marL="0">
              <a:lnSpc>
                <a:spcPct val="120000"/>
              </a:lnSpc>
              <a:spcAft>
                <a:spcPts val="300"/>
              </a:spcAft>
              <a:buNone/>
            </a:pPr>
            <a:r>
              <a:rPr lang="en-US" sz="1800" b="1" dirty="0">
                <a:solidFill>
                  <a:srgbClr val="1A1A1A"/>
                </a:solidFill>
                <a:latin typeface="Noto Sans JP" pitchFamily="34" charset="0"/>
                <a:ea typeface="Noto Sans JP" pitchFamily="34" charset="-122"/>
                <a:cs typeface="Noto Sans JP" pitchFamily="34" charset="-120"/>
              </a:rPr>
              <a:t>手間は増やさない</a:t>
            </a:r>
            <a:endParaRPr lang="en-US" sz="1800" dirty="0"/>
          </a:p>
          <a:p>
            <a:pPr indent="0" marL="0">
              <a:lnSpc>
                <a:spcPct val="120000"/>
              </a:lnSpc>
              <a:spcAft>
                <a:spcPts val="300"/>
              </a:spcAft>
              <a:buNone/>
            </a:pPr>
            <a:r>
              <a:rPr lang="en-US" sz="1400" dirty="0">
                <a:solidFill>
                  <a:srgbClr val="666666"/>
                </a:solidFill>
                <a:latin typeface="Noto Sans JP" pitchFamily="34" charset="0"/>
                <a:ea typeface="Noto Sans JP" pitchFamily="34" charset="-122"/>
                <a:cs typeface="Noto Sans JP" pitchFamily="34" charset="-120"/>
              </a:rPr>
              <a:t>いつもの日報だけを読む</a:t>
            </a:r>
            <a:endParaRPr lang="en-US" sz="1800" dirty="0"/>
          </a:p>
        </p:txBody>
      </p:sp>
      <p:sp>
        <p:nvSpPr>
          <p:cNvPr id="12" name="Shape 10"/>
          <p:cNvSpPr/>
          <p:nvPr/>
        </p:nvSpPr>
        <p:spPr>
          <a:xfrm>
            <a:off x="8110728" y="2606040"/>
            <a:ext cx="3474720" cy="1280160"/>
          </a:xfrm>
          <a:prstGeom prst="rect">
            <a:avLst/>
          </a:prstGeom>
          <a:solidFill>
            <a:srgbClr val="E8F1FE"/>
          </a:solidFill>
          <a:ln w="12700">
            <a:solidFill>
              <a:srgbClr val="E8F1FE"/>
            </a:solidFill>
            <a:prstDash val="solid"/>
          </a:ln>
        </p:spPr>
        <p:txBody>
          <a:bodyPr/>
          <a:p/>
        </p:txBody>
      </p:sp>
      <p:sp>
        <p:nvSpPr>
          <p:cNvPr id="13" name="Text 11"/>
          <p:cNvSpPr txBox="1"/>
          <p:nvPr/>
        </p:nvSpPr>
        <p:spPr>
          <a:xfrm>
            <a:off x="8293608" y="2743200"/>
            <a:ext cx="3108960" cy="1051560"/>
          </a:xfrm>
          <a:prstGeom prst="rect">
            <a:avLst/>
          </a:prstGeom>
          <a:noFill/>
          <a:ln/>
        </p:spPr>
        <p:txBody>
          <a:bodyPr wrap="square" lIns="0" tIns="0" rIns="0" bIns="0" rtlCol="0" anchor="t"/>
          <a:lstStyle/>
          <a:p>
            <a:pPr indent="0" marL="0">
              <a:lnSpc>
                <a:spcPct val="120000"/>
              </a:lnSpc>
              <a:spcAft>
                <a:spcPts val="300"/>
              </a:spcAft>
              <a:buNone/>
            </a:pPr>
            <a:r>
              <a:rPr lang="en-US" sz="1800" b="1" dirty="0">
                <a:solidFill>
                  <a:srgbClr val="1A1A1A"/>
                </a:solidFill>
                <a:latin typeface="Noto Sans JP" pitchFamily="34" charset="0"/>
                <a:ea typeface="Noto Sans JP" pitchFamily="34" charset="-122"/>
                <a:cs typeface="Noto Sans JP" pitchFamily="34" charset="-120"/>
              </a:rPr>
              <a:t>与信・評価には使わない</a:t>
            </a:r>
            <a:endParaRPr lang="en-US" sz="1800" dirty="0"/>
          </a:p>
          <a:p>
            <a:pPr indent="0" marL="0">
              <a:lnSpc>
                <a:spcPct val="120000"/>
              </a:lnSpc>
              <a:spcAft>
                <a:spcPts val="300"/>
              </a:spcAft>
              <a:buNone/>
            </a:pPr>
            <a:r>
              <a:rPr lang="en-US" sz="1400" dirty="0">
                <a:solidFill>
                  <a:srgbClr val="666666"/>
                </a:solidFill>
                <a:latin typeface="Noto Sans JP" pitchFamily="34" charset="0"/>
                <a:ea typeface="Noto Sans JP" pitchFamily="34" charset="-122"/>
                <a:cs typeface="Noto Sans JP" pitchFamily="34" charset="-120"/>
              </a:rPr>
              <a:t>企業が続くよう支援するために使う</a:t>
            </a:r>
            <a:endParaRPr lang="en-US" sz="1800" dirty="0"/>
          </a:p>
        </p:txBody>
      </p:sp>
      <p:sp>
        <p:nvSpPr>
          <p:cNvPr id="14" name="Shape 12"/>
          <p:cNvSpPr/>
          <p:nvPr/>
        </p:nvSpPr>
        <p:spPr>
          <a:xfrm>
            <a:off x="612648" y="4251960"/>
            <a:ext cx="10972800" cy="914400"/>
          </a:xfrm>
          <a:prstGeom prst="rect">
            <a:avLst/>
          </a:prstGeom>
          <a:solidFill>
            <a:srgbClr val="8EA9DB"/>
          </a:solidFill>
          <a:ln w="12700">
            <a:solidFill>
              <a:srgbClr val="8EA9DB"/>
            </a:solidFill>
            <a:prstDash val="solid"/>
          </a:ln>
        </p:spPr>
        <p:txBody>
          <a:bodyPr/>
          <a:p/>
        </p:txBody>
      </p:sp>
      <p:sp>
        <p:nvSpPr>
          <p:cNvPr id="15" name="Text 13"/>
          <p:cNvSpPr txBox="1"/>
          <p:nvPr/>
        </p:nvSpPr>
        <p:spPr>
          <a:xfrm>
            <a:off x="886968" y="4251960"/>
            <a:ext cx="10424160" cy="914400"/>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数字が悪くなってからでは、遅い。一人の担当者の気づきを、地域を支える銀行の力に変える。</a:t>
            </a:r>
            <a:endParaRPr lang="en-US" sz="1900" dirty="0"/>
          </a:p>
        </p:txBody>
      </p:sp>
      <p:sp>
        <p:nvSpPr>
          <p:cNvPr id="16" name="Text 14"/>
          <p:cNvSpPr txBox="1"/>
          <p:nvPr/>
        </p:nvSpPr>
        <p:spPr>
          <a:xfrm>
            <a:off x="612648" y="5486400"/>
            <a:ext cx="5486400" cy="365760"/>
          </a:xfrm>
          <a:prstGeom prst="rect">
            <a:avLst/>
          </a:prstGeom>
          <a:noFill/>
          <a:ln/>
        </p:spPr>
        <p:txBody>
          <a:bodyPr wrap="square" lIns="0" tIns="0" rIns="0" bIns="0" rtlCol="0" anchor="t"/>
          <a:lstStyle/>
          <a:p>
            <a:pPr indent="0" marL="0">
              <a:buNone/>
            </a:pPr>
            <a:r>
              <a:rPr lang="en-US" sz="1400" b="1" dirty="0">
                <a:solidFill>
                  <a:srgbClr val="1A1A1A"/>
                </a:solidFill>
                <a:latin typeface="Noto Sans JP" pitchFamily="34" charset="0"/>
                <a:ea typeface="Noto Sans JP" pitchFamily="34" charset="-122"/>
                <a:cs typeface="Noto Sans JP" pitchFamily="34" charset="-120"/>
              </a:rPr>
              <a:t>ご質問をお待ちしています</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付録 A1　ROI 試算の前提</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数字はすべて仮置き。公開資料は要再確認、それ以外は本番前に実数へ差し替える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付録</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29</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12648" y="2240280"/>
          <a:ext cx="10972800" cy="914400"/>
        </p:xfrm>
        <a:graphic>
          <a:graphicData uri="http://schemas.openxmlformats.org/drawingml/2006/table">
            <a:tbl>
              <a:tblPr/>
              <a:tblGrid>
                <a:gridCol w="2926080"/>
                <a:gridCol w="1920240"/>
                <a:gridCol w="1920240"/>
                <a:gridCol w="1920240"/>
                <a:gridCol w="2286000"/>
              </a:tblGrid>
              <a:tr h="384048">
                <a:tc>
                  <a:txBody>
                    <a:bodyPr/>
                    <a:lstStyle/>
                    <a:p>
                      <a:pPr indent="0" marL="0">
                        <a:buNone/>
                      </a:pPr>
                      <a:r>
                        <a:rPr lang="en-US" sz="1050" b="1" dirty="0">
                          <a:solidFill>
                            <a:srgbClr val="666666"/>
                          </a:solidFill>
                          <a:latin typeface="Noto Sans JP" pitchFamily="34" charset="0"/>
                          <a:ea typeface="Noto Sans JP" pitchFamily="34" charset="-122"/>
                          <a:cs typeface="Noto Sans JP" pitchFamily="34" charset="-120"/>
                        </a:rPr>
                        <a:t>前提</a:t>
                      </a:r>
                      <a:endParaRPr lang="en-US" sz="10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50" b="1" dirty="0">
                          <a:solidFill>
                            <a:srgbClr val="666666"/>
                          </a:solidFill>
                          <a:latin typeface="Noto Sans JP" pitchFamily="34" charset="0"/>
                          <a:ea typeface="Noto Sans JP" pitchFamily="34" charset="-122"/>
                          <a:cs typeface="Noto Sans JP" pitchFamily="34" charset="-120"/>
                        </a:rPr>
                        <a:t>保守</a:t>
                      </a:r>
                      <a:endParaRPr lang="en-US" sz="10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50" b="1" dirty="0">
                          <a:solidFill>
                            <a:srgbClr val="666666"/>
                          </a:solidFill>
                          <a:latin typeface="Noto Sans JP" pitchFamily="34" charset="0"/>
                          <a:ea typeface="Noto Sans JP" pitchFamily="34" charset="-122"/>
                          <a:cs typeface="Noto Sans JP" pitchFamily="34" charset="-120"/>
                        </a:rPr>
                        <a:t>中位</a:t>
                      </a:r>
                      <a:endParaRPr lang="en-US" sz="10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50" b="1" dirty="0">
                          <a:solidFill>
                            <a:srgbClr val="666666"/>
                          </a:solidFill>
                          <a:latin typeface="Noto Sans JP" pitchFamily="34" charset="0"/>
                          <a:ea typeface="Noto Sans JP" pitchFamily="34" charset="-122"/>
                          <a:cs typeface="Noto Sans JP" pitchFamily="34" charset="-120"/>
                        </a:rPr>
                        <a:t>楽観</a:t>
                      </a:r>
                      <a:endParaRPr lang="en-US" sz="10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50" b="1" dirty="0">
                          <a:solidFill>
                            <a:srgbClr val="666666"/>
                          </a:solidFill>
                          <a:latin typeface="Noto Sans JP" pitchFamily="34" charset="0"/>
                          <a:ea typeface="Noto Sans JP" pitchFamily="34" charset="-122"/>
                          <a:cs typeface="Noto Sans JP" pitchFamily="34" charset="-120"/>
                        </a:rPr>
                        <a:t>出所・状態</a:t>
                      </a:r>
                      <a:endParaRPr lang="en-US" sz="10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法人担当者 × 担当先</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200 人 × 50 社</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同左</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同左</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中規模地銀の仮置き</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時間単価</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4,000 円/h</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同左</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同左</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人件費＋間接費の仮置き</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探す時間（1 人・週）× 削減率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1.0h × 30%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1.5h × 50%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2.0h × 60%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パイロットで実測へ</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廃業率 × 回避率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0.3% × 10%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0.5% × 20%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0.7% × 30%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因果は証明しにくい → 感度で示す</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1 社の預貸残高 × 収益率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4,000 万 × 0.8%</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5,000 万 × 1.0%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6,000 万 × 1.2%</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対象行の取引先属性で差し替え</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シグナル→対話→相談→案件化</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2→40→30→15%</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3→50→40→25%</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4→60→50→30%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4 段階フィードバックで実測</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手数料 ／ 付随融資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300 万 ／ 2,000 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500 万 ／ 3,000 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700 万 ／ 4,000 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料率と実績で差し替え</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立ち上がり（1・2・3 年目）</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20・60・100%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30・70・100%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40・80・100%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仮置き</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費用</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初期 2,800 ＋ 運用 700 × 3 年 = 4,900 万円</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積み上げ直す</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bl>
          </a:graphicData>
        </a:graphic>
      </p:graphicFrame>
      <p:sp>
        <p:nvSpPr>
          <p:cNvPr id="9" name="Text 6"/>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計算式はチームの ROI 試算（参考5）と同じ</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付録 A2　仕組みの共有（外販）：最後の選択肢</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同じ地域で競う銀行には出さない。関係の深さという差を手放さないため。自行の 3 年試算にも混ぜない</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付録</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30</a:t>
            </a:r>
            <a:endParaRPr lang="en-US" sz="1200" dirty="0"/>
          </a:p>
        </p:txBody>
      </p:sp>
      <p:sp>
        <p:nvSpPr>
          <p:cNvPr id="8" name="Shape 6"/>
          <p:cNvSpPr/>
          <p:nvPr/>
        </p:nvSpPr>
        <p:spPr>
          <a:xfrm>
            <a:off x="612648" y="2240280"/>
            <a:ext cx="2640330" cy="173736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95528" y="2377440"/>
            <a:ext cx="2274570" cy="1554480"/>
          </a:xfrm>
          <a:prstGeom prst="rect">
            <a:avLst/>
          </a:prstGeom>
          <a:noFill/>
          <a:ln/>
        </p:spPr>
        <p:txBody>
          <a:bodyPr wrap="square" lIns="0" tIns="0" rIns="0" bIns="0" rtlCol="0" anchor="t"/>
          <a:lstStyle/>
          <a:p>
            <a:pPr indent="0" marL="0">
              <a:lnSpc>
                <a:spcPct val="120000"/>
              </a:lnSpc>
              <a:buNone/>
            </a:pPr>
            <a:r>
              <a:rPr lang="en-US" sz="1300" b="1" dirty="0">
                <a:solidFill>
                  <a:srgbClr val="0017C1"/>
                </a:solidFill>
                <a:latin typeface="Noto Sans JP" pitchFamily="34" charset="0"/>
                <a:ea typeface="Noto Sans JP" pitchFamily="34" charset="-122"/>
                <a:cs typeface="Noto Sans JP" pitchFamily="34" charset="-120"/>
              </a:rPr>
              <a:t>TAM</a:t>
            </a:r>
            <a:endParaRPr lang="en-US" sz="1300" dirty="0"/>
          </a:p>
          <a:p>
            <a:pPr indent="0" marL="0">
              <a:lnSpc>
                <a:spcPct val="120000"/>
              </a:lnSpc>
              <a:buNone/>
            </a:pPr>
            <a:r>
              <a:rPr lang="en-US" sz="2200" b="1" dirty="0">
                <a:solidFill>
                  <a:srgbClr val="1A1A1A"/>
                </a:solidFill>
                <a:latin typeface="Noto Sans JP" pitchFamily="34" charset="0"/>
                <a:ea typeface="Noto Sans JP" pitchFamily="34" charset="-122"/>
                <a:cs typeface="Noto Sans JP" pitchFamily="34" charset="-120"/>
              </a:rPr>
              <a:t>15.7 億円/年</a:t>
            </a:r>
            <a:endParaRPr lang="en-US" sz="1300" dirty="0"/>
          </a:p>
          <a:p>
            <a:pPr indent="0" marL="0">
              <a:lnSpc>
                <a:spcPct val="120000"/>
              </a:lnSpc>
              <a:buNone/>
            </a:pPr>
            <a:r>
              <a:rPr lang="en-US" sz="1100" dirty="0">
                <a:solidFill>
                  <a:srgbClr val="666666"/>
                </a:solidFill>
                <a:latin typeface="Noto Sans JP" pitchFamily="34" charset="0"/>
                <a:ea typeface="Noto Sans JP" pitchFamily="34" charset="-122"/>
                <a:cs typeface="Noto Sans JP" pitchFamily="34" charset="-120"/>
              </a:rPr>
              <a:t>国内の地域金融機関すべて（地銀 99・信金 254・信組 145）</a:t>
            </a:r>
            <a:endParaRPr lang="en-US" sz="1300" dirty="0"/>
          </a:p>
        </p:txBody>
      </p:sp>
      <p:sp>
        <p:nvSpPr>
          <p:cNvPr id="10" name="Shape 8"/>
          <p:cNvSpPr/>
          <p:nvPr/>
        </p:nvSpPr>
        <p:spPr>
          <a:xfrm>
            <a:off x="3390138" y="2240280"/>
            <a:ext cx="2640330" cy="1737360"/>
          </a:xfrm>
          <a:prstGeom prst="rect">
            <a:avLst/>
          </a:prstGeom>
          <a:solidFill>
            <a:srgbClr val="F2F2F2"/>
          </a:solidFill>
          <a:ln w="12700">
            <a:solidFill>
              <a:srgbClr val="F2F2F2"/>
            </a:solidFill>
            <a:prstDash val="solid"/>
          </a:ln>
        </p:spPr>
        <p:txBody>
          <a:bodyPr/>
          <a:p/>
        </p:txBody>
      </p:sp>
      <p:sp>
        <p:nvSpPr>
          <p:cNvPr id="11" name="Text 9"/>
          <p:cNvSpPr txBox="1"/>
          <p:nvPr/>
        </p:nvSpPr>
        <p:spPr>
          <a:xfrm>
            <a:off x="3573018" y="2377440"/>
            <a:ext cx="2274570" cy="1554480"/>
          </a:xfrm>
          <a:prstGeom prst="rect">
            <a:avLst/>
          </a:prstGeom>
          <a:noFill/>
          <a:ln/>
        </p:spPr>
        <p:txBody>
          <a:bodyPr wrap="square" lIns="0" tIns="0" rIns="0" bIns="0" rtlCol="0" anchor="t"/>
          <a:lstStyle/>
          <a:p>
            <a:pPr indent="0" marL="0">
              <a:lnSpc>
                <a:spcPct val="120000"/>
              </a:lnSpc>
              <a:buNone/>
            </a:pPr>
            <a:r>
              <a:rPr lang="en-US" sz="1300" b="1" dirty="0">
                <a:solidFill>
                  <a:srgbClr val="0017C1"/>
                </a:solidFill>
                <a:latin typeface="Noto Sans JP" pitchFamily="34" charset="0"/>
                <a:ea typeface="Noto Sans JP" pitchFamily="34" charset="-122"/>
                <a:cs typeface="Noto Sans JP" pitchFamily="34" charset="-120"/>
              </a:rPr>
              <a:t>SAM</a:t>
            </a:r>
            <a:endParaRPr lang="en-US" sz="1300" dirty="0"/>
          </a:p>
          <a:p>
            <a:pPr indent="0" marL="0">
              <a:lnSpc>
                <a:spcPct val="120000"/>
              </a:lnSpc>
              <a:buNone/>
            </a:pPr>
            <a:r>
              <a:rPr lang="en-US" sz="2200" b="1" dirty="0">
                <a:solidFill>
                  <a:srgbClr val="1A1A1A"/>
                </a:solidFill>
                <a:latin typeface="Noto Sans JP" pitchFamily="34" charset="0"/>
                <a:ea typeface="Noto Sans JP" pitchFamily="34" charset="-122"/>
                <a:cs typeface="Noto Sans JP" pitchFamily="34" charset="-120"/>
              </a:rPr>
              <a:t>13.6 億円/年</a:t>
            </a:r>
            <a:endParaRPr lang="en-US" sz="1300" dirty="0"/>
          </a:p>
          <a:p>
            <a:pPr indent="0" marL="0">
              <a:lnSpc>
                <a:spcPct val="120000"/>
              </a:lnSpc>
              <a:buNone/>
            </a:pPr>
            <a:r>
              <a:rPr lang="en-US" sz="1100" dirty="0">
                <a:solidFill>
                  <a:srgbClr val="666666"/>
                </a:solidFill>
                <a:latin typeface="Noto Sans JP" pitchFamily="34" charset="0"/>
                <a:ea typeface="Noto Sans JP" pitchFamily="34" charset="-122"/>
                <a:cs typeface="Noto Sans JP" pitchFamily="34" charset="-120"/>
              </a:rPr>
              <a:t>法人担当の体制が近い地銀＋信金</a:t>
            </a:r>
            <a:endParaRPr lang="en-US" sz="1300" dirty="0"/>
          </a:p>
        </p:txBody>
      </p:sp>
      <p:sp>
        <p:nvSpPr>
          <p:cNvPr id="12" name="Shape 10"/>
          <p:cNvSpPr/>
          <p:nvPr/>
        </p:nvSpPr>
        <p:spPr>
          <a:xfrm>
            <a:off x="6167628" y="2240280"/>
            <a:ext cx="2640330" cy="1737360"/>
          </a:xfrm>
          <a:prstGeom prst="rect">
            <a:avLst/>
          </a:prstGeom>
          <a:solidFill>
            <a:srgbClr val="F2F2F2"/>
          </a:solidFill>
          <a:ln w="12700">
            <a:solidFill>
              <a:srgbClr val="F2F2F2"/>
            </a:solidFill>
            <a:prstDash val="solid"/>
          </a:ln>
        </p:spPr>
        <p:txBody>
          <a:bodyPr/>
          <a:p/>
        </p:txBody>
      </p:sp>
      <p:sp>
        <p:nvSpPr>
          <p:cNvPr id="13" name="Text 11"/>
          <p:cNvSpPr txBox="1"/>
          <p:nvPr/>
        </p:nvSpPr>
        <p:spPr>
          <a:xfrm>
            <a:off x="6350508" y="2377440"/>
            <a:ext cx="2274570" cy="1554480"/>
          </a:xfrm>
          <a:prstGeom prst="rect">
            <a:avLst/>
          </a:prstGeom>
          <a:noFill/>
          <a:ln/>
        </p:spPr>
        <p:txBody>
          <a:bodyPr wrap="square" lIns="0" tIns="0" rIns="0" bIns="0" rtlCol="0" anchor="t"/>
          <a:lstStyle/>
          <a:p>
            <a:pPr indent="0" marL="0">
              <a:lnSpc>
                <a:spcPct val="120000"/>
              </a:lnSpc>
              <a:buNone/>
            </a:pPr>
            <a:r>
              <a:rPr lang="en-US" sz="1300" b="1" dirty="0">
                <a:solidFill>
                  <a:srgbClr val="0017C1"/>
                </a:solidFill>
                <a:latin typeface="Noto Sans JP" pitchFamily="34" charset="0"/>
                <a:ea typeface="Noto Sans JP" pitchFamily="34" charset="-122"/>
                <a:cs typeface="Noto Sans JP" pitchFamily="34" charset="-120"/>
              </a:rPr>
              <a:t>SOM</a:t>
            </a:r>
            <a:endParaRPr lang="en-US" sz="1300" dirty="0"/>
          </a:p>
          <a:p>
            <a:pPr indent="0" marL="0">
              <a:lnSpc>
                <a:spcPct val="120000"/>
              </a:lnSpc>
              <a:buNone/>
            </a:pPr>
            <a:r>
              <a:rPr lang="en-US" sz="2200" b="1" dirty="0">
                <a:solidFill>
                  <a:srgbClr val="1A1A1A"/>
                </a:solidFill>
                <a:latin typeface="Noto Sans JP" pitchFamily="34" charset="0"/>
                <a:ea typeface="Noto Sans JP" pitchFamily="34" charset="-122"/>
                <a:cs typeface="Noto Sans JP" pitchFamily="34" charset="-120"/>
              </a:rPr>
              <a:t>5,474 万円/年</a:t>
            </a:r>
            <a:endParaRPr lang="en-US" sz="1300" dirty="0"/>
          </a:p>
          <a:p>
            <a:pPr indent="0" marL="0">
              <a:lnSpc>
                <a:spcPct val="120000"/>
              </a:lnSpc>
              <a:buNone/>
            </a:pPr>
            <a:r>
              <a:rPr lang="en-US" sz="1100" dirty="0">
                <a:solidFill>
                  <a:srgbClr val="666666"/>
                </a:solidFill>
                <a:latin typeface="Noto Sans JP" pitchFamily="34" charset="0"/>
                <a:ea typeface="Noto Sans JP" pitchFamily="34" charset="-122"/>
                <a:cs typeface="Noto Sans JP" pitchFamily="34" charset="-120"/>
              </a:rPr>
              <a:t>5 年後の導入シェア 地銀 5%・信金 3%・信組 1%（仮）</a:t>
            </a:r>
            <a:endParaRPr lang="en-US" sz="1300" dirty="0"/>
          </a:p>
        </p:txBody>
      </p:sp>
      <p:sp>
        <p:nvSpPr>
          <p:cNvPr id="14" name="Shape 12"/>
          <p:cNvSpPr/>
          <p:nvPr/>
        </p:nvSpPr>
        <p:spPr>
          <a:xfrm>
            <a:off x="8945118" y="2240280"/>
            <a:ext cx="2640330" cy="1737360"/>
          </a:xfrm>
          <a:prstGeom prst="rect">
            <a:avLst/>
          </a:prstGeom>
          <a:solidFill>
            <a:srgbClr val="F2F2F2"/>
          </a:solidFill>
          <a:ln w="12700">
            <a:solidFill>
              <a:srgbClr val="F2F2F2"/>
            </a:solidFill>
            <a:prstDash val="solid"/>
          </a:ln>
        </p:spPr>
        <p:txBody>
          <a:bodyPr/>
          <a:p/>
        </p:txBody>
      </p:sp>
      <p:sp>
        <p:nvSpPr>
          <p:cNvPr id="15" name="Text 13"/>
          <p:cNvSpPr txBox="1"/>
          <p:nvPr/>
        </p:nvSpPr>
        <p:spPr>
          <a:xfrm>
            <a:off x="9127998" y="2377440"/>
            <a:ext cx="2274570" cy="1554480"/>
          </a:xfrm>
          <a:prstGeom prst="rect">
            <a:avLst/>
          </a:prstGeom>
          <a:noFill/>
          <a:ln/>
        </p:spPr>
        <p:txBody>
          <a:bodyPr wrap="square" lIns="0" tIns="0" rIns="0" bIns="0" rtlCol="0" anchor="t"/>
          <a:lstStyle/>
          <a:p>
            <a:pPr indent="0" marL="0">
              <a:lnSpc>
                <a:spcPct val="120000"/>
              </a:lnSpc>
              <a:buNone/>
            </a:pPr>
            <a:r>
              <a:rPr lang="en-US" sz="1300" b="1" dirty="0">
                <a:solidFill>
                  <a:srgbClr val="0017C1"/>
                </a:solidFill>
                <a:latin typeface="Noto Sans JP" pitchFamily="34" charset="0"/>
                <a:ea typeface="Noto Sans JP" pitchFamily="34" charset="-122"/>
                <a:cs typeface="Noto Sans JP" pitchFamily="34" charset="-120"/>
              </a:rPr>
              <a:t>導入コンサル</a:t>
            </a:r>
            <a:endParaRPr lang="en-US" sz="1300" dirty="0"/>
          </a:p>
          <a:p>
            <a:pPr indent="0" marL="0">
              <a:lnSpc>
                <a:spcPct val="120000"/>
              </a:lnSpc>
              <a:buNone/>
            </a:pPr>
            <a:r>
              <a:rPr lang="en-US" sz="2200" b="1" dirty="0">
                <a:solidFill>
                  <a:srgbClr val="1A1A1A"/>
                </a:solidFill>
                <a:latin typeface="Noto Sans JP" pitchFamily="34" charset="0"/>
                <a:ea typeface="Noto Sans JP" pitchFamily="34" charset="-122"/>
                <a:cs typeface="Noto Sans JP" pitchFamily="34" charset="-120"/>
              </a:rPr>
              <a:t>1.4 億円</a:t>
            </a:r>
            <a:endParaRPr lang="en-US" sz="1300" dirty="0"/>
          </a:p>
          <a:p>
            <a:pPr indent="0" marL="0">
              <a:lnSpc>
                <a:spcPct val="120000"/>
              </a:lnSpc>
              <a:buNone/>
            </a:pPr>
            <a:r>
              <a:rPr lang="en-US" sz="1100" dirty="0">
                <a:solidFill>
                  <a:srgbClr val="666666"/>
                </a:solidFill>
                <a:latin typeface="Noto Sans JP" pitchFamily="34" charset="0"/>
                <a:ea typeface="Noto Sans JP" pitchFamily="34" charset="-122"/>
                <a:cs typeface="Noto Sans JP" pitchFamily="34" charset="-120"/>
              </a:rPr>
              <a:t>SOM 到達までの一時収入</a:t>
            </a:r>
            <a:endParaRPr lang="en-US" sz="1300" dirty="0"/>
          </a:p>
        </p:txBody>
      </p:sp>
      <p:sp>
        <p:nvSpPr>
          <p:cNvPr id="16" name="Text 14"/>
          <p:cNvSpPr txBox="1"/>
          <p:nvPr/>
        </p:nvSpPr>
        <p:spPr>
          <a:xfrm>
            <a:off x="612648" y="4206240"/>
            <a:ext cx="10972800" cy="20116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A"/>
                </a:solidFill>
                <a:latin typeface="Noto Sans JP" pitchFamily="34" charset="0"/>
                <a:ea typeface="Noto Sans JP" pitchFamily="34" charset="-122"/>
                <a:cs typeface="Noto Sans JP" pitchFamily="34" charset="-120"/>
              </a:rPr>
              <a:t>出すとしたら：地域が重ならない金融機関との共同利用（運用費を分け合う）、判断基準を現場の言葉で育てる方法と導入の伴走。他行の顧客データは扱わず、判断基準はその行が自分で書く</a:t>
            </a:r>
            <a:endParaRPr lang="en-US" sz="1300" dirty="0"/>
          </a:p>
          <a:p>
            <a:pPr marL="342900" indent="-342900">
              <a:spcAft>
                <a:spcPts val="800"/>
              </a:spcAft>
              <a:buSzPct val="100000"/>
              <a:buChar char="•"/>
            </a:pPr>
            <a:r>
              <a:rPr lang="en-US" sz="1300" dirty="0">
                <a:solidFill>
                  <a:srgbClr val="1A1A1A"/>
                </a:solidFill>
                <a:latin typeface="Noto Sans JP" pitchFamily="34" charset="0"/>
                <a:ea typeface="Noto Sans JP" pitchFamily="34" charset="-122"/>
                <a:cs typeface="Noto Sans JP" pitchFamily="34" charset="-120"/>
              </a:rPr>
              <a:t>混ぜない理由：外販は体制・営業・契約を伴う別の事業判断。同じ表に足すと自行の投資判断の説得力が薄れる</a:t>
            </a:r>
            <a:endParaRPr lang="en-US" sz="1300" dirty="0"/>
          </a:p>
          <a:p>
            <a:pPr marL="342900" indent="-342900">
              <a:spcAft>
                <a:spcPts val="800"/>
              </a:spcAft>
              <a:buSzPct val="100000"/>
              <a:buChar char="•"/>
            </a:pPr>
            <a:r>
              <a:rPr lang="en-US" sz="1300" dirty="0">
                <a:solidFill>
                  <a:srgbClr val="1A1A1A"/>
                </a:solidFill>
                <a:latin typeface="Noto Sans JP" pitchFamily="34" charset="0"/>
                <a:ea typeface="Noto Sans JP" pitchFamily="34" charset="-122"/>
                <a:cs typeface="Noto Sans JP" pitchFamily="34" charset="-120"/>
              </a:rPr>
              <a:t>競合：SFA・生成 AI 営業支援と M&amp;A プラットフォームは補完。競合は「行内データで予兆を意味づける」層に限る</a:t>
            </a:r>
            <a:endParaRPr lang="en-US" sz="1300" dirty="0"/>
          </a:p>
          <a:p>
            <a:pPr marL="342900" indent="-342900">
              <a:spcAft>
                <a:spcPts val="800"/>
              </a:spcAft>
              <a:buSzPct val="100000"/>
              <a:buChar char="•"/>
            </a:pPr>
            <a:r>
              <a:rPr lang="en-US" sz="1300" dirty="0">
                <a:solidFill>
                  <a:srgbClr val="1A1A1A"/>
                </a:solidFill>
                <a:latin typeface="Noto Sans JP" pitchFamily="34" charset="0"/>
                <a:ea typeface="Noto Sans JP" pitchFamily="34" charset="-122"/>
                <a:cs typeface="Noto Sans JP" pitchFamily="34" charset="-120"/>
              </a:rPr>
              <a:t>単価（地銀 600・信金 300・信組 150 万円/年）とシェアは仮置き。機関数は発表前に再確認</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付録 A3　セキュリティ・個人情報の考え方</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「誰が何を見られるか」と「目的外に使わせない」を先に設計した</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付録</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31</a:t>
            </a:r>
            <a:endParaRPr lang="en-US" sz="1200" dirty="0"/>
          </a:p>
        </p:txBody>
      </p:sp>
      <p:sp>
        <p:nvSpPr>
          <p:cNvPr id="8" name="Shape 6"/>
          <p:cNvSpPr/>
          <p:nvPr/>
        </p:nvSpPr>
        <p:spPr>
          <a:xfrm>
            <a:off x="612648" y="2240280"/>
            <a:ext cx="5349240" cy="123444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95528" y="2377440"/>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見える範囲を役割で絞る</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担当者は自分の担当先（前任者の記録を含む）、支店長は自支店、本部は相談を受けた企業だけ。認証は SFA、認可はツムグ</a:t>
            </a:r>
            <a:endParaRPr lang="en-US" sz="1500" dirty="0"/>
          </a:p>
        </p:txBody>
      </p:sp>
      <p:sp>
        <p:nvSpPr>
          <p:cNvPr id="10" name="Shape 8"/>
          <p:cNvSpPr/>
          <p:nvPr/>
        </p:nvSpPr>
        <p:spPr>
          <a:xfrm>
            <a:off x="6236208" y="2240280"/>
            <a:ext cx="5349240" cy="1234440"/>
          </a:xfrm>
          <a:prstGeom prst="rect">
            <a:avLst/>
          </a:prstGeom>
          <a:solidFill>
            <a:srgbClr val="F2F2F2"/>
          </a:solidFill>
          <a:ln w="12700">
            <a:solidFill>
              <a:srgbClr val="F2F2F2"/>
            </a:solidFill>
            <a:prstDash val="solid"/>
          </a:ln>
        </p:spPr>
        <p:txBody>
          <a:bodyPr/>
          <a:p/>
        </p:txBody>
      </p:sp>
      <p:sp>
        <p:nvSpPr>
          <p:cNvPr id="11" name="Text 9"/>
          <p:cNvSpPr txBox="1"/>
          <p:nvPr/>
        </p:nvSpPr>
        <p:spPr>
          <a:xfrm>
            <a:off x="6419088" y="2377440"/>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相談で開く</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見られない記録は、見られる人に相談してつなぐ。相談を受けた人は、その企業の記録を読めるようになる</a:t>
            </a:r>
            <a:endParaRPr lang="en-US" sz="1500" dirty="0"/>
          </a:p>
        </p:txBody>
      </p:sp>
      <p:sp>
        <p:nvSpPr>
          <p:cNvPr id="12" name="Shape 10"/>
          <p:cNvSpPr/>
          <p:nvPr/>
        </p:nvSpPr>
        <p:spPr>
          <a:xfrm>
            <a:off x="612648" y="3584448"/>
            <a:ext cx="5349240" cy="1234440"/>
          </a:xfrm>
          <a:prstGeom prst="rect">
            <a:avLst/>
          </a:prstGeom>
          <a:solidFill>
            <a:srgbClr val="F2F2F2"/>
          </a:solidFill>
          <a:ln w="12700">
            <a:solidFill>
              <a:srgbClr val="F2F2F2"/>
            </a:solidFill>
            <a:prstDash val="solid"/>
          </a:ln>
        </p:spPr>
        <p:txBody>
          <a:bodyPr/>
          <a:p/>
        </p:txBody>
      </p:sp>
      <p:sp>
        <p:nvSpPr>
          <p:cNvPr id="13" name="Text 11"/>
          <p:cNvSpPr txBox="1"/>
          <p:nvPr/>
        </p:nvSpPr>
        <p:spPr>
          <a:xfrm>
            <a:off x="795528" y="3721608"/>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すべて記録する</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閲覧・検索・相談を監査ログに残し、目的外の利用を後から確かめられる</a:t>
            </a:r>
            <a:endParaRPr lang="en-US" sz="1500" dirty="0"/>
          </a:p>
        </p:txBody>
      </p:sp>
      <p:sp>
        <p:nvSpPr>
          <p:cNvPr id="14" name="Shape 12"/>
          <p:cNvSpPr/>
          <p:nvPr/>
        </p:nvSpPr>
        <p:spPr>
          <a:xfrm>
            <a:off x="6236208" y="3584448"/>
            <a:ext cx="5349240" cy="1234440"/>
          </a:xfrm>
          <a:prstGeom prst="rect">
            <a:avLst/>
          </a:prstGeom>
          <a:solidFill>
            <a:srgbClr val="F2F2F2"/>
          </a:solidFill>
          <a:ln w="12700">
            <a:solidFill>
              <a:srgbClr val="F2F2F2"/>
            </a:solidFill>
            <a:prstDash val="solid"/>
          </a:ln>
        </p:spPr>
        <p:txBody>
          <a:bodyPr/>
          <a:p/>
        </p:txBody>
      </p:sp>
      <p:sp>
        <p:nvSpPr>
          <p:cNvPr id="15" name="Text 13"/>
          <p:cNvSpPr txBox="1"/>
          <p:nvPr/>
        </p:nvSpPr>
        <p:spPr>
          <a:xfrm>
            <a:off x="6419088" y="3721608"/>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与信・評価に使わない</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融資・入出金データとつながない。判定を与信に流さない。点数やランキングを付けない</a:t>
            </a:r>
            <a:endParaRPr lang="en-US" sz="1500" dirty="0"/>
          </a:p>
        </p:txBody>
      </p:sp>
      <p:sp>
        <p:nvSpPr>
          <p:cNvPr id="16" name="Shape 14"/>
          <p:cNvSpPr/>
          <p:nvPr/>
        </p:nvSpPr>
        <p:spPr>
          <a:xfrm>
            <a:off x="612648" y="4928616"/>
            <a:ext cx="5349240" cy="1234440"/>
          </a:xfrm>
          <a:prstGeom prst="rect">
            <a:avLst/>
          </a:prstGeom>
          <a:solidFill>
            <a:srgbClr val="F2F2F2"/>
          </a:solidFill>
          <a:ln w="12700">
            <a:solidFill>
              <a:srgbClr val="F2F2F2"/>
            </a:solidFill>
            <a:prstDash val="solid"/>
          </a:ln>
        </p:spPr>
        <p:txBody>
          <a:bodyPr/>
          <a:p/>
        </p:txBody>
      </p:sp>
      <p:sp>
        <p:nvSpPr>
          <p:cNvPr id="17" name="Text 15"/>
          <p:cNvSpPr txBox="1"/>
          <p:nvPr/>
        </p:nvSpPr>
        <p:spPr>
          <a:xfrm>
            <a:off x="795528" y="5065776"/>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伝え聞きは印を付ける</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「〜らしい」などの伝聞は「未確認」とし、次の訪問で確かめる問いを出す</a:t>
            </a:r>
            <a:endParaRPr lang="en-US" sz="1500" dirty="0"/>
          </a:p>
        </p:txBody>
      </p:sp>
      <p:sp>
        <p:nvSpPr>
          <p:cNvPr id="18" name="Shape 16"/>
          <p:cNvSpPr/>
          <p:nvPr/>
        </p:nvSpPr>
        <p:spPr>
          <a:xfrm>
            <a:off x="6236208" y="4928616"/>
            <a:ext cx="5349240" cy="1234440"/>
          </a:xfrm>
          <a:prstGeom prst="rect">
            <a:avLst/>
          </a:prstGeom>
          <a:solidFill>
            <a:srgbClr val="FBF5E0"/>
          </a:solidFill>
          <a:ln w="12700">
            <a:solidFill>
              <a:srgbClr val="FBF5E0"/>
            </a:solidFill>
            <a:prstDash val="solid"/>
          </a:ln>
        </p:spPr>
        <p:txBody>
          <a:bodyPr/>
          <a:p/>
        </p:txBody>
      </p:sp>
      <p:sp>
        <p:nvSpPr>
          <p:cNvPr id="19" name="Text 17"/>
          <p:cNvSpPr txBox="1"/>
          <p:nvPr/>
        </p:nvSpPr>
        <p:spPr>
          <a:xfrm>
            <a:off x="6419088" y="5065776"/>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まだ決めていないこと</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経営者の健康に関する情報の扱い、顧客情報を LLM に渡すときの行内規程、お客さまへの説明のあり方</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付録 A4　意思決定レビューの想定問答</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判断を問う質問と、仕組みを問う質問の両方に、チームの誰でも答えられるように</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付録</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32</a:t>
            </a:r>
            <a:endParaRPr lang="en-US" sz="1200" dirty="0"/>
          </a:p>
        </p:txBody>
      </p:sp>
      <p:sp>
        <p:nvSpPr>
          <p:cNvPr id="8" name="Shape 6"/>
          <p:cNvSpPr/>
          <p:nvPr/>
        </p:nvSpPr>
        <p:spPr>
          <a:xfrm>
            <a:off x="612648" y="2240280"/>
            <a:ext cx="5349240" cy="914400"/>
          </a:xfrm>
          <a:prstGeom prst="rect">
            <a:avLst/>
          </a:prstGeom>
          <a:solidFill>
            <a:srgbClr val="F2F2F2"/>
          </a:solidFill>
          <a:ln w="12700">
            <a:solidFill>
              <a:srgbClr val="F2F2F2"/>
            </a:solidFill>
            <a:prstDash val="solid"/>
          </a:ln>
        </p:spPr>
        <p:txBody>
          <a:bodyPr/>
          <a:p/>
        </p:txBody>
      </p:sp>
      <p:sp>
        <p:nvSpPr>
          <p:cNvPr id="9" name="Shape 7"/>
          <p:cNvSpPr/>
          <p:nvPr/>
        </p:nvSpPr>
        <p:spPr>
          <a:xfrm>
            <a:off x="722376" y="2350008"/>
            <a:ext cx="685800" cy="274320"/>
          </a:xfrm>
          <a:prstGeom prst="rect">
            <a:avLst/>
          </a:prstGeom>
          <a:solidFill>
            <a:srgbClr val="FBF5E0"/>
          </a:solidFill>
          <a:ln w="12700">
            <a:solidFill>
              <a:srgbClr val="FBF5E0"/>
            </a:solidFill>
            <a:prstDash val="solid"/>
          </a:ln>
        </p:spPr>
        <p:txBody>
          <a:bodyPr/>
          <a:p/>
        </p:txBody>
      </p:sp>
      <p:sp>
        <p:nvSpPr>
          <p:cNvPr id="10" name="Text 8"/>
          <p:cNvSpPr txBox="1"/>
          <p:nvPr/>
        </p:nvSpPr>
        <p:spPr>
          <a:xfrm>
            <a:off x="722376" y="2350008"/>
            <a:ext cx="685800" cy="274320"/>
          </a:xfrm>
          <a:prstGeom prst="rect">
            <a:avLst/>
          </a:prstGeom>
          <a:noFill/>
          <a:ln/>
        </p:spPr>
        <p:txBody>
          <a:bodyPr wrap="square" lIns="0" tIns="0" rIns="0" bIns="0" rtlCol="0" anchor="ctr"/>
          <a:lstStyle/>
          <a:p>
            <a:pPr algn="ctr" indent="0" marL="0">
              <a:buNone/>
            </a:pPr>
            <a:r>
              <a:rPr lang="en-US" sz="1050" b="1" dirty="0">
                <a:solidFill>
                  <a:srgbClr val="806300"/>
                </a:solidFill>
                <a:latin typeface="Noto Sans JP" pitchFamily="34" charset="0"/>
                <a:ea typeface="Noto Sans JP" pitchFamily="34" charset="-122"/>
                <a:cs typeface="Noto Sans JP" pitchFamily="34" charset="-120"/>
              </a:rPr>
              <a:t>判断</a:t>
            </a:r>
            <a:endParaRPr lang="en-US" sz="1050" dirty="0"/>
          </a:p>
        </p:txBody>
      </p:sp>
      <p:sp>
        <p:nvSpPr>
          <p:cNvPr id="11" name="Text 9"/>
          <p:cNvSpPr txBox="1"/>
          <p:nvPr/>
        </p:nvSpPr>
        <p:spPr>
          <a:xfrm>
            <a:off x="1527048" y="232257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なぜ「知らせるか」を LLM に任せない？</a:t>
            </a:r>
            <a:endParaRPr lang="en-US" sz="1300" dirty="0"/>
          </a:p>
        </p:txBody>
      </p:sp>
      <p:sp>
        <p:nvSpPr>
          <p:cNvPr id="12" name="Text 10"/>
          <p:cNvSpPr txBox="1"/>
          <p:nvPr/>
        </p:nvSpPr>
        <p:spPr>
          <a:xfrm>
            <a:off x="749808" y="267919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毎回同じ答えが出て、なぜ知らせたかを示せないと現場の信頼を失う。判断の中身は現場の知見で、それを条件に訳した</a:t>
            </a:r>
            <a:endParaRPr lang="en-US" sz="1100" dirty="0"/>
          </a:p>
        </p:txBody>
      </p:sp>
      <p:sp>
        <p:nvSpPr>
          <p:cNvPr id="13" name="Shape 11"/>
          <p:cNvSpPr/>
          <p:nvPr/>
        </p:nvSpPr>
        <p:spPr>
          <a:xfrm>
            <a:off x="6236208" y="2240280"/>
            <a:ext cx="5349240" cy="914400"/>
          </a:xfrm>
          <a:prstGeom prst="rect">
            <a:avLst/>
          </a:prstGeom>
          <a:solidFill>
            <a:srgbClr val="F2F2F2"/>
          </a:solidFill>
          <a:ln w="12700">
            <a:solidFill>
              <a:srgbClr val="F2F2F2"/>
            </a:solidFill>
            <a:prstDash val="solid"/>
          </a:ln>
        </p:spPr>
        <p:txBody>
          <a:bodyPr/>
          <a:p/>
        </p:txBody>
      </p:sp>
      <p:sp>
        <p:nvSpPr>
          <p:cNvPr id="14" name="Shape 12"/>
          <p:cNvSpPr/>
          <p:nvPr/>
        </p:nvSpPr>
        <p:spPr>
          <a:xfrm>
            <a:off x="6345936" y="2350008"/>
            <a:ext cx="685800" cy="274320"/>
          </a:xfrm>
          <a:prstGeom prst="rect">
            <a:avLst/>
          </a:prstGeom>
          <a:solidFill>
            <a:srgbClr val="FBF5E0"/>
          </a:solidFill>
          <a:ln w="12700">
            <a:solidFill>
              <a:srgbClr val="FBF5E0"/>
            </a:solidFill>
            <a:prstDash val="solid"/>
          </a:ln>
        </p:spPr>
        <p:txBody>
          <a:bodyPr/>
          <a:p/>
        </p:txBody>
      </p:sp>
      <p:sp>
        <p:nvSpPr>
          <p:cNvPr id="15" name="Text 13"/>
          <p:cNvSpPr txBox="1"/>
          <p:nvPr/>
        </p:nvSpPr>
        <p:spPr>
          <a:xfrm>
            <a:off x="6345936" y="2350008"/>
            <a:ext cx="685800" cy="274320"/>
          </a:xfrm>
          <a:prstGeom prst="rect">
            <a:avLst/>
          </a:prstGeom>
          <a:noFill/>
          <a:ln/>
        </p:spPr>
        <p:txBody>
          <a:bodyPr wrap="square" lIns="0" tIns="0" rIns="0" bIns="0" rtlCol="0" anchor="ctr"/>
          <a:lstStyle/>
          <a:p>
            <a:pPr algn="ctr" indent="0" marL="0">
              <a:buNone/>
            </a:pPr>
            <a:r>
              <a:rPr lang="en-US" sz="1050" b="1" dirty="0">
                <a:solidFill>
                  <a:srgbClr val="806300"/>
                </a:solidFill>
                <a:latin typeface="Noto Sans JP" pitchFamily="34" charset="0"/>
                <a:ea typeface="Noto Sans JP" pitchFamily="34" charset="-122"/>
                <a:cs typeface="Noto Sans JP" pitchFamily="34" charset="-120"/>
              </a:rPr>
              <a:t>判断</a:t>
            </a:r>
            <a:endParaRPr lang="en-US" sz="1050" dirty="0"/>
          </a:p>
        </p:txBody>
      </p:sp>
      <p:sp>
        <p:nvSpPr>
          <p:cNvPr id="16" name="Text 14"/>
          <p:cNvSpPr txBox="1"/>
          <p:nvPr/>
        </p:nvSpPr>
        <p:spPr>
          <a:xfrm>
            <a:off x="7150608" y="232257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LLM がもっと正確で安くなったら？</a:t>
            </a:r>
            <a:endParaRPr lang="en-US" sz="1300" dirty="0"/>
          </a:p>
        </p:txBody>
      </p:sp>
      <p:sp>
        <p:nvSpPr>
          <p:cNvPr id="17" name="Text 15"/>
          <p:cNvSpPr txBox="1"/>
          <p:nvPr/>
        </p:nvSpPr>
        <p:spPr>
          <a:xfrm>
            <a:off x="6373368" y="267919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読む・探す・書くは LLM に寄せてよい。「何を予兆とみなすか」は現場の知見として人が持ち続ける</a:t>
            </a:r>
            <a:endParaRPr lang="en-US" sz="1100" dirty="0"/>
          </a:p>
        </p:txBody>
      </p:sp>
      <p:sp>
        <p:nvSpPr>
          <p:cNvPr id="18" name="Shape 16"/>
          <p:cNvSpPr/>
          <p:nvPr/>
        </p:nvSpPr>
        <p:spPr>
          <a:xfrm>
            <a:off x="612648" y="3246120"/>
            <a:ext cx="5349240" cy="914400"/>
          </a:xfrm>
          <a:prstGeom prst="rect">
            <a:avLst/>
          </a:prstGeom>
          <a:solidFill>
            <a:srgbClr val="F2F2F2"/>
          </a:solidFill>
          <a:ln w="12700">
            <a:solidFill>
              <a:srgbClr val="F2F2F2"/>
            </a:solidFill>
            <a:prstDash val="solid"/>
          </a:ln>
        </p:spPr>
        <p:txBody>
          <a:bodyPr/>
          <a:p/>
        </p:txBody>
      </p:sp>
      <p:sp>
        <p:nvSpPr>
          <p:cNvPr id="19" name="Shape 17"/>
          <p:cNvSpPr/>
          <p:nvPr/>
        </p:nvSpPr>
        <p:spPr>
          <a:xfrm>
            <a:off x="722376" y="3355848"/>
            <a:ext cx="685800" cy="274320"/>
          </a:xfrm>
          <a:prstGeom prst="rect">
            <a:avLst/>
          </a:prstGeom>
          <a:solidFill>
            <a:srgbClr val="FBF5E0"/>
          </a:solidFill>
          <a:ln w="12700">
            <a:solidFill>
              <a:srgbClr val="FBF5E0"/>
            </a:solidFill>
            <a:prstDash val="solid"/>
          </a:ln>
        </p:spPr>
        <p:txBody>
          <a:bodyPr/>
          <a:p/>
        </p:txBody>
      </p:sp>
      <p:sp>
        <p:nvSpPr>
          <p:cNvPr id="20" name="Text 18"/>
          <p:cNvSpPr txBox="1"/>
          <p:nvPr/>
        </p:nvSpPr>
        <p:spPr>
          <a:xfrm>
            <a:off x="722376" y="3355848"/>
            <a:ext cx="685800" cy="274320"/>
          </a:xfrm>
          <a:prstGeom prst="rect">
            <a:avLst/>
          </a:prstGeom>
          <a:noFill/>
          <a:ln/>
        </p:spPr>
        <p:txBody>
          <a:bodyPr wrap="square" lIns="0" tIns="0" rIns="0" bIns="0" rtlCol="0" anchor="ctr"/>
          <a:lstStyle/>
          <a:p>
            <a:pPr algn="ctr" indent="0" marL="0">
              <a:buNone/>
            </a:pPr>
            <a:r>
              <a:rPr lang="en-US" sz="1050" b="1" dirty="0">
                <a:solidFill>
                  <a:srgbClr val="806300"/>
                </a:solidFill>
                <a:latin typeface="Noto Sans JP" pitchFamily="34" charset="0"/>
                <a:ea typeface="Noto Sans JP" pitchFamily="34" charset="-122"/>
                <a:cs typeface="Noto Sans JP" pitchFamily="34" charset="-120"/>
              </a:rPr>
              <a:t>判断</a:t>
            </a:r>
            <a:endParaRPr lang="en-US" sz="1050" dirty="0"/>
          </a:p>
        </p:txBody>
      </p:sp>
      <p:sp>
        <p:nvSpPr>
          <p:cNvPr id="21" name="Text 19"/>
          <p:cNvSpPr txBox="1"/>
          <p:nvPr/>
        </p:nvSpPr>
        <p:spPr>
          <a:xfrm>
            <a:off x="1527048" y="332841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買えばいいのでは？ なぜ内製？</a:t>
            </a:r>
            <a:endParaRPr lang="en-US" sz="1300" dirty="0"/>
          </a:p>
        </p:txBody>
      </p:sp>
      <p:sp>
        <p:nvSpPr>
          <p:cNvPr id="22" name="Text 20"/>
          <p:cNvSpPr txBox="1"/>
          <p:nvPr/>
        </p:nvSpPr>
        <p:spPr>
          <a:xfrm>
            <a:off x="749808" y="368503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記録（SFA）と承継先探し（M&amp;A 基盤）は買う。その間の「自行データで予兆を意味づける」部分は外にない</a:t>
            </a:r>
            <a:endParaRPr lang="en-US" sz="1100" dirty="0"/>
          </a:p>
        </p:txBody>
      </p:sp>
      <p:sp>
        <p:nvSpPr>
          <p:cNvPr id="23" name="Shape 21"/>
          <p:cNvSpPr/>
          <p:nvPr/>
        </p:nvSpPr>
        <p:spPr>
          <a:xfrm>
            <a:off x="6236208" y="3246120"/>
            <a:ext cx="5349240" cy="914400"/>
          </a:xfrm>
          <a:prstGeom prst="rect">
            <a:avLst/>
          </a:prstGeom>
          <a:solidFill>
            <a:srgbClr val="F2F2F2"/>
          </a:solidFill>
          <a:ln w="12700">
            <a:solidFill>
              <a:srgbClr val="F2F2F2"/>
            </a:solidFill>
            <a:prstDash val="solid"/>
          </a:ln>
        </p:spPr>
        <p:txBody>
          <a:bodyPr/>
          <a:p/>
        </p:txBody>
      </p:sp>
      <p:sp>
        <p:nvSpPr>
          <p:cNvPr id="24" name="Shape 22"/>
          <p:cNvSpPr/>
          <p:nvPr/>
        </p:nvSpPr>
        <p:spPr>
          <a:xfrm>
            <a:off x="6345936" y="3355848"/>
            <a:ext cx="685800" cy="274320"/>
          </a:xfrm>
          <a:prstGeom prst="rect">
            <a:avLst/>
          </a:prstGeom>
          <a:solidFill>
            <a:srgbClr val="FBF5E0"/>
          </a:solidFill>
          <a:ln w="12700">
            <a:solidFill>
              <a:srgbClr val="FBF5E0"/>
            </a:solidFill>
            <a:prstDash val="solid"/>
          </a:ln>
        </p:spPr>
        <p:txBody>
          <a:bodyPr/>
          <a:p/>
        </p:txBody>
      </p:sp>
      <p:sp>
        <p:nvSpPr>
          <p:cNvPr id="25" name="Text 23"/>
          <p:cNvSpPr txBox="1"/>
          <p:nvPr/>
        </p:nvSpPr>
        <p:spPr>
          <a:xfrm>
            <a:off x="6345936" y="3355848"/>
            <a:ext cx="685800" cy="274320"/>
          </a:xfrm>
          <a:prstGeom prst="rect">
            <a:avLst/>
          </a:prstGeom>
          <a:noFill/>
          <a:ln/>
        </p:spPr>
        <p:txBody>
          <a:bodyPr wrap="square" lIns="0" tIns="0" rIns="0" bIns="0" rtlCol="0" anchor="ctr"/>
          <a:lstStyle/>
          <a:p>
            <a:pPr algn="ctr" indent="0" marL="0">
              <a:buNone/>
            </a:pPr>
            <a:r>
              <a:rPr lang="en-US" sz="1050" b="1" dirty="0">
                <a:solidFill>
                  <a:srgbClr val="806300"/>
                </a:solidFill>
                <a:latin typeface="Noto Sans JP" pitchFamily="34" charset="0"/>
                <a:ea typeface="Noto Sans JP" pitchFamily="34" charset="-122"/>
                <a:cs typeface="Noto Sans JP" pitchFamily="34" charset="-120"/>
              </a:rPr>
              <a:t>判断</a:t>
            </a:r>
            <a:endParaRPr lang="en-US" sz="1050" dirty="0"/>
          </a:p>
        </p:txBody>
      </p:sp>
      <p:sp>
        <p:nvSpPr>
          <p:cNvPr id="26" name="Text 24"/>
          <p:cNvSpPr txBox="1"/>
          <p:nvPr/>
        </p:nvSpPr>
        <p:spPr>
          <a:xfrm>
            <a:off x="7150608" y="332841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結局、業務効率化では？</a:t>
            </a:r>
            <a:endParaRPr lang="en-US" sz="1300" dirty="0"/>
          </a:p>
        </p:txBody>
      </p:sp>
      <p:sp>
        <p:nvSpPr>
          <p:cNvPr id="27" name="Text 25"/>
          <p:cNvSpPr txBox="1"/>
          <p:nvPr/>
        </p:nvSpPr>
        <p:spPr>
          <a:xfrm>
            <a:off x="6373368" y="368503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効率化は効果の約 3 割。残り 7 割は気づきを案件に変える部分で、出力（事例・人・次の一手）が違う</a:t>
            </a:r>
            <a:endParaRPr lang="en-US" sz="1100" dirty="0"/>
          </a:p>
        </p:txBody>
      </p:sp>
      <p:sp>
        <p:nvSpPr>
          <p:cNvPr id="28" name="Shape 26"/>
          <p:cNvSpPr/>
          <p:nvPr/>
        </p:nvSpPr>
        <p:spPr>
          <a:xfrm>
            <a:off x="612648" y="4251960"/>
            <a:ext cx="5349240" cy="914400"/>
          </a:xfrm>
          <a:prstGeom prst="rect">
            <a:avLst/>
          </a:prstGeom>
          <a:solidFill>
            <a:srgbClr val="F2F2F2"/>
          </a:solidFill>
          <a:ln w="12700">
            <a:solidFill>
              <a:srgbClr val="F2F2F2"/>
            </a:solidFill>
            <a:prstDash val="solid"/>
          </a:ln>
        </p:spPr>
        <p:txBody>
          <a:bodyPr/>
          <a:p/>
        </p:txBody>
      </p:sp>
      <p:sp>
        <p:nvSpPr>
          <p:cNvPr id="29" name="Shape 27"/>
          <p:cNvSpPr/>
          <p:nvPr/>
        </p:nvSpPr>
        <p:spPr>
          <a:xfrm>
            <a:off x="722376" y="4361688"/>
            <a:ext cx="685800" cy="274320"/>
          </a:xfrm>
          <a:prstGeom prst="rect">
            <a:avLst/>
          </a:prstGeom>
          <a:solidFill>
            <a:srgbClr val="E8F1FE"/>
          </a:solidFill>
          <a:ln w="12700">
            <a:solidFill>
              <a:srgbClr val="E8F1FE"/>
            </a:solidFill>
            <a:prstDash val="solid"/>
          </a:ln>
        </p:spPr>
        <p:txBody>
          <a:bodyPr/>
          <a:p/>
        </p:txBody>
      </p:sp>
      <p:sp>
        <p:nvSpPr>
          <p:cNvPr id="30" name="Text 28"/>
          <p:cNvSpPr txBox="1"/>
          <p:nvPr/>
        </p:nvSpPr>
        <p:spPr>
          <a:xfrm>
            <a:off x="722376" y="4361688"/>
            <a:ext cx="685800" cy="274320"/>
          </a:xfrm>
          <a:prstGeom prst="rect">
            <a:avLst/>
          </a:prstGeom>
          <a:noFill/>
          <a:ln/>
        </p:spPr>
        <p:txBody>
          <a:bodyPr wrap="square" lIns="0" tIns="0" rIns="0" bIns="0" rtlCol="0" anchor="ctr"/>
          <a:lstStyle/>
          <a:p>
            <a:pPr algn="ctr" indent="0" marL="0">
              <a:buNone/>
            </a:pPr>
            <a:r>
              <a:rPr lang="en-US" sz="1050" b="1" dirty="0">
                <a:solidFill>
                  <a:srgbClr val="0017C1"/>
                </a:solidFill>
                <a:latin typeface="Noto Sans JP" pitchFamily="34" charset="0"/>
                <a:ea typeface="Noto Sans JP" pitchFamily="34" charset="-122"/>
                <a:cs typeface="Noto Sans JP" pitchFamily="34" charset="-120"/>
              </a:rPr>
              <a:t>仕組み</a:t>
            </a:r>
            <a:endParaRPr lang="en-US" sz="1050" dirty="0"/>
          </a:p>
        </p:txBody>
      </p:sp>
      <p:sp>
        <p:nvSpPr>
          <p:cNvPr id="31" name="Text 29"/>
          <p:cNvSpPr txBox="1"/>
          <p:nvPr/>
        </p:nvSpPr>
        <p:spPr>
          <a:xfrm>
            <a:off x="1527048" y="433425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「SFA に登録する」を押すと何が起きる？</a:t>
            </a:r>
            <a:endParaRPr lang="en-US" sz="1300" dirty="0"/>
          </a:p>
        </p:txBody>
      </p:sp>
      <p:sp>
        <p:nvSpPr>
          <p:cNvPr id="32" name="Text 30"/>
          <p:cNvSpPr txBox="1"/>
          <p:nvPr/>
        </p:nvSpPr>
        <p:spPr>
          <a:xfrm>
            <a:off x="749808" y="469087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保存 → 抽出 → 過去 36 か月と照合 → ルールで判定 → 事例・人を検索 → 反応を表示。監査ログにも残る</a:t>
            </a:r>
            <a:endParaRPr lang="en-US" sz="1100" dirty="0"/>
          </a:p>
        </p:txBody>
      </p:sp>
      <p:sp>
        <p:nvSpPr>
          <p:cNvPr id="33" name="Shape 31"/>
          <p:cNvSpPr/>
          <p:nvPr/>
        </p:nvSpPr>
        <p:spPr>
          <a:xfrm>
            <a:off x="6236208" y="4251960"/>
            <a:ext cx="5349240" cy="914400"/>
          </a:xfrm>
          <a:prstGeom prst="rect">
            <a:avLst/>
          </a:prstGeom>
          <a:solidFill>
            <a:srgbClr val="F2F2F2"/>
          </a:solidFill>
          <a:ln w="12700">
            <a:solidFill>
              <a:srgbClr val="F2F2F2"/>
            </a:solidFill>
            <a:prstDash val="solid"/>
          </a:ln>
        </p:spPr>
        <p:txBody>
          <a:bodyPr/>
          <a:p/>
        </p:txBody>
      </p:sp>
      <p:sp>
        <p:nvSpPr>
          <p:cNvPr id="34" name="Shape 32"/>
          <p:cNvSpPr/>
          <p:nvPr/>
        </p:nvSpPr>
        <p:spPr>
          <a:xfrm>
            <a:off x="6345936" y="4361688"/>
            <a:ext cx="685800" cy="274320"/>
          </a:xfrm>
          <a:prstGeom prst="rect">
            <a:avLst/>
          </a:prstGeom>
          <a:solidFill>
            <a:srgbClr val="E8F1FE"/>
          </a:solidFill>
          <a:ln w="12700">
            <a:solidFill>
              <a:srgbClr val="E8F1FE"/>
            </a:solidFill>
            <a:prstDash val="solid"/>
          </a:ln>
        </p:spPr>
        <p:txBody>
          <a:bodyPr/>
          <a:p/>
        </p:txBody>
      </p:sp>
      <p:sp>
        <p:nvSpPr>
          <p:cNvPr id="35" name="Text 33"/>
          <p:cNvSpPr txBox="1"/>
          <p:nvPr/>
        </p:nvSpPr>
        <p:spPr>
          <a:xfrm>
            <a:off x="6345936" y="4361688"/>
            <a:ext cx="685800" cy="274320"/>
          </a:xfrm>
          <a:prstGeom prst="rect">
            <a:avLst/>
          </a:prstGeom>
          <a:noFill/>
          <a:ln/>
        </p:spPr>
        <p:txBody>
          <a:bodyPr wrap="square" lIns="0" tIns="0" rIns="0" bIns="0" rtlCol="0" anchor="ctr"/>
          <a:lstStyle/>
          <a:p>
            <a:pPr algn="ctr" indent="0" marL="0">
              <a:buNone/>
            </a:pPr>
            <a:r>
              <a:rPr lang="en-US" sz="1050" b="1" dirty="0">
                <a:solidFill>
                  <a:srgbClr val="0017C1"/>
                </a:solidFill>
                <a:latin typeface="Noto Sans JP" pitchFamily="34" charset="0"/>
                <a:ea typeface="Noto Sans JP" pitchFamily="34" charset="-122"/>
                <a:cs typeface="Noto Sans JP" pitchFamily="34" charset="-120"/>
              </a:rPr>
              <a:t>仕組み</a:t>
            </a:r>
            <a:endParaRPr lang="en-US" sz="1050" dirty="0"/>
          </a:p>
        </p:txBody>
      </p:sp>
      <p:sp>
        <p:nvSpPr>
          <p:cNvPr id="36" name="Text 34"/>
          <p:cNvSpPr txBox="1"/>
          <p:nvPr/>
        </p:nvSpPr>
        <p:spPr>
          <a:xfrm>
            <a:off x="7150608" y="433425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なぜ太田電装では何も出ない？</a:t>
            </a:r>
            <a:endParaRPr lang="en-US" sz="1300" dirty="0"/>
          </a:p>
        </p:txBody>
      </p:sp>
      <p:sp>
        <p:nvSpPr>
          <p:cNvPr id="37" name="Text 35"/>
          <p:cNvSpPr txBox="1"/>
          <p:nvPr/>
        </p:nvSpPr>
        <p:spPr>
          <a:xfrm>
            <a:off x="6373368" y="469087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予兆が 1 種類だけだから。3 種以上が重なったときだけ知らせる。黙ることも設計</a:t>
            </a:r>
            <a:endParaRPr lang="en-US" sz="1100" dirty="0"/>
          </a:p>
        </p:txBody>
      </p:sp>
      <p:sp>
        <p:nvSpPr>
          <p:cNvPr id="38" name="Shape 36"/>
          <p:cNvSpPr/>
          <p:nvPr/>
        </p:nvSpPr>
        <p:spPr>
          <a:xfrm>
            <a:off x="612648" y="5257800"/>
            <a:ext cx="5349240" cy="914400"/>
          </a:xfrm>
          <a:prstGeom prst="rect">
            <a:avLst/>
          </a:prstGeom>
          <a:solidFill>
            <a:srgbClr val="F2F2F2"/>
          </a:solidFill>
          <a:ln w="12700">
            <a:solidFill>
              <a:srgbClr val="F2F2F2"/>
            </a:solidFill>
            <a:prstDash val="solid"/>
          </a:ln>
        </p:spPr>
        <p:txBody>
          <a:bodyPr/>
          <a:p/>
        </p:txBody>
      </p:sp>
      <p:sp>
        <p:nvSpPr>
          <p:cNvPr id="39" name="Shape 37"/>
          <p:cNvSpPr/>
          <p:nvPr/>
        </p:nvSpPr>
        <p:spPr>
          <a:xfrm>
            <a:off x="722376" y="5367528"/>
            <a:ext cx="685800" cy="274320"/>
          </a:xfrm>
          <a:prstGeom prst="rect">
            <a:avLst/>
          </a:prstGeom>
          <a:solidFill>
            <a:srgbClr val="E8F1FE"/>
          </a:solidFill>
          <a:ln w="12700">
            <a:solidFill>
              <a:srgbClr val="E8F1FE"/>
            </a:solidFill>
            <a:prstDash val="solid"/>
          </a:ln>
        </p:spPr>
        <p:txBody>
          <a:bodyPr/>
          <a:p/>
        </p:txBody>
      </p:sp>
      <p:sp>
        <p:nvSpPr>
          <p:cNvPr id="40" name="Text 38"/>
          <p:cNvSpPr txBox="1"/>
          <p:nvPr/>
        </p:nvSpPr>
        <p:spPr>
          <a:xfrm>
            <a:off x="722376" y="5367528"/>
            <a:ext cx="685800" cy="274320"/>
          </a:xfrm>
          <a:prstGeom prst="rect">
            <a:avLst/>
          </a:prstGeom>
          <a:noFill/>
          <a:ln/>
        </p:spPr>
        <p:txBody>
          <a:bodyPr wrap="square" lIns="0" tIns="0" rIns="0" bIns="0" rtlCol="0" anchor="ctr"/>
          <a:lstStyle/>
          <a:p>
            <a:pPr algn="ctr" indent="0" marL="0">
              <a:buNone/>
            </a:pPr>
            <a:r>
              <a:rPr lang="en-US" sz="1050" b="1" dirty="0">
                <a:solidFill>
                  <a:srgbClr val="0017C1"/>
                </a:solidFill>
                <a:latin typeface="Noto Sans JP" pitchFamily="34" charset="0"/>
                <a:ea typeface="Noto Sans JP" pitchFamily="34" charset="-122"/>
                <a:cs typeface="Noto Sans JP" pitchFamily="34" charset="-120"/>
              </a:rPr>
              <a:t>仕組み</a:t>
            </a:r>
            <a:endParaRPr lang="en-US" sz="1050" dirty="0"/>
          </a:p>
        </p:txBody>
      </p:sp>
      <p:sp>
        <p:nvSpPr>
          <p:cNvPr id="41" name="Text 39"/>
          <p:cNvSpPr txBox="1"/>
          <p:nvPr/>
        </p:nvSpPr>
        <p:spPr>
          <a:xfrm>
            <a:off x="1527048" y="534009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現場の知恵はどう集める？</a:t>
            </a:r>
            <a:endParaRPr lang="en-US" sz="1300" dirty="0"/>
          </a:p>
        </p:txBody>
      </p:sp>
      <p:sp>
        <p:nvSpPr>
          <p:cNvPr id="42" name="Text 40"/>
          <p:cNvSpPr txBox="1"/>
          <p:nvPr/>
        </p:nvSpPr>
        <p:spPr>
          <a:xfrm>
            <a:off x="749808" y="569671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社内チャットの決まったチャンネルの投稿を夜間に取り込む想定（デモは手で用意した 12 件）</a:t>
            </a:r>
            <a:endParaRPr lang="en-US" sz="1100" dirty="0"/>
          </a:p>
        </p:txBody>
      </p:sp>
      <p:sp>
        <p:nvSpPr>
          <p:cNvPr id="43" name="Shape 41"/>
          <p:cNvSpPr/>
          <p:nvPr/>
        </p:nvSpPr>
        <p:spPr>
          <a:xfrm>
            <a:off x="6236208" y="5257800"/>
            <a:ext cx="5349240" cy="914400"/>
          </a:xfrm>
          <a:prstGeom prst="rect">
            <a:avLst/>
          </a:prstGeom>
          <a:solidFill>
            <a:srgbClr val="F2F2F2"/>
          </a:solidFill>
          <a:ln w="12700">
            <a:solidFill>
              <a:srgbClr val="F2F2F2"/>
            </a:solidFill>
            <a:prstDash val="solid"/>
          </a:ln>
        </p:spPr>
        <p:txBody>
          <a:bodyPr/>
          <a:p/>
        </p:txBody>
      </p:sp>
      <p:sp>
        <p:nvSpPr>
          <p:cNvPr id="44" name="Shape 42"/>
          <p:cNvSpPr/>
          <p:nvPr/>
        </p:nvSpPr>
        <p:spPr>
          <a:xfrm>
            <a:off x="6345936" y="5367528"/>
            <a:ext cx="685800" cy="274320"/>
          </a:xfrm>
          <a:prstGeom prst="rect">
            <a:avLst/>
          </a:prstGeom>
          <a:solidFill>
            <a:srgbClr val="E8F1FE"/>
          </a:solidFill>
          <a:ln w="12700">
            <a:solidFill>
              <a:srgbClr val="E8F1FE"/>
            </a:solidFill>
            <a:prstDash val="solid"/>
          </a:ln>
        </p:spPr>
        <p:txBody>
          <a:bodyPr/>
          <a:p/>
        </p:txBody>
      </p:sp>
      <p:sp>
        <p:nvSpPr>
          <p:cNvPr id="45" name="Text 43"/>
          <p:cNvSpPr txBox="1"/>
          <p:nvPr/>
        </p:nvSpPr>
        <p:spPr>
          <a:xfrm>
            <a:off x="6345936" y="5367528"/>
            <a:ext cx="685800" cy="274320"/>
          </a:xfrm>
          <a:prstGeom prst="rect">
            <a:avLst/>
          </a:prstGeom>
          <a:noFill/>
          <a:ln/>
        </p:spPr>
        <p:txBody>
          <a:bodyPr wrap="square" lIns="0" tIns="0" rIns="0" bIns="0" rtlCol="0" anchor="ctr"/>
          <a:lstStyle/>
          <a:p>
            <a:pPr algn="ctr" indent="0" marL="0">
              <a:buNone/>
            </a:pPr>
            <a:r>
              <a:rPr lang="en-US" sz="1050" b="1" dirty="0">
                <a:solidFill>
                  <a:srgbClr val="0017C1"/>
                </a:solidFill>
                <a:latin typeface="Noto Sans JP" pitchFamily="34" charset="0"/>
                <a:ea typeface="Noto Sans JP" pitchFamily="34" charset="-122"/>
                <a:cs typeface="Noto Sans JP" pitchFamily="34" charset="-120"/>
              </a:rPr>
              <a:t>仕組み</a:t>
            </a:r>
            <a:endParaRPr lang="en-US" sz="1050" dirty="0"/>
          </a:p>
        </p:txBody>
      </p:sp>
      <p:sp>
        <p:nvSpPr>
          <p:cNvPr id="46" name="Text 44"/>
          <p:cNvSpPr txBox="1"/>
          <p:nvPr/>
        </p:nvSpPr>
        <p:spPr>
          <a:xfrm>
            <a:off x="7150608" y="534009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与信に使わないと価値が減る？</a:t>
            </a:r>
            <a:endParaRPr lang="en-US" sz="1300" dirty="0"/>
          </a:p>
        </p:txBody>
      </p:sp>
      <p:sp>
        <p:nvSpPr>
          <p:cNvPr id="47" name="Text 45"/>
          <p:cNvSpPr txBox="1"/>
          <p:nvPr/>
        </p:nvSpPr>
        <p:spPr>
          <a:xfrm>
            <a:off x="6373368" y="569671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逆。与信に使えば現場は書かなくなる。切り離すことが、記録が集まる条件</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522</Words>
  <Application>Microsoft Office PowerPoint</Application>
  <PresentationFormat>ワイド画面</PresentationFormat>
  <Paragraphs>116</Paragraphs>
  <Slides>11</Slides>
  <Notes>10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11</vt:i4>
      </vt:variant>
    </vt:vector>
  </HeadingPairs>
  <TitlesOfParts>
    <vt:vector size="14" baseType="lpstr">
      <vt:lpstr>Noto Sans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大輝 篠原</cp:lastModifiedBy>
  <cp:revision>2</cp:revision>
  <dcterms:created xsi:type="dcterms:W3CDTF">2026-10-02T15:21:00Z</dcterms:created>
  <dcterms:modified xsi:type="dcterms:W3CDTF">2026-10-02T16:06:26Z</dcterms:modified>
</cp:coreProperties>
</file>