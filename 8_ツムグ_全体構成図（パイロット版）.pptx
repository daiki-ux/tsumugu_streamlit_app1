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6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801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3B8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個人の習作 ／ パイロット版（Streamlit）／ 2026-10-01 時点のコード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ツムグ 全体構成図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889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DED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日報を登録すると、ツムグが過去の記録・社内の事例・相談できる人を照らし合わせて、SFA の画面の中に反応を返す。その組み立てを 4 枚で説明します。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5B6B7F"/>
          </a:solidFill>
          <a:ln w="12700">
            <a:solidFill>
              <a:srgbClr val="5B6B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87552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SFA の画面（模擬）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56916" y="406908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8FB6E0"/>
          </a:solidFill>
          <a:ln w="12700">
            <a:solidFill>
              <a:srgbClr val="8FB6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12948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ツムグの処理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5092" y="406908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0A94A"/>
          </a:solidFill>
          <a:ln w="12700">
            <a:solidFill>
              <a:srgbClr val="E0A9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21124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02936" y="406908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CC6B5"/>
          </a:solidFill>
          <a:ln w="12700">
            <a:solidFill>
              <a:srgbClr val="6CC6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58968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AI（LLM・無くても動く）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598664" y="406908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E58A82"/>
          </a:solidFill>
          <a:ln w="12700">
            <a:solidFill>
              <a:srgbClr val="E58A8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54696" y="40416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DEDE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つながないもの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3B8C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全体の構成　② 日報 1 件が登録されたとき　③ ファイルの役割　④ パイロット版と本番の違い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436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93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本番（Salesforce 版）の設計は 2_ツムグ_アーキテクチャ を参照。データはすべて架空の合成データです。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全体の構成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上から「使う人 → 画面 → 処理 → データ」。右は外とのつながり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07415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ツムグ 全体構成図（パイロット版）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32588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使う人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行員を選ぶ＝ログインの代わり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91640" y="1325880"/>
            <a:ext cx="170307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83080" y="1389888"/>
            <a:ext cx="15201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法人担当者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担当先（前任者の記録も）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86150" y="1325880"/>
            <a:ext cx="170307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77590" y="1389888"/>
            <a:ext cx="15201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支店長・上長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自支店の全担当先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280660" y="1325880"/>
            <a:ext cx="170307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72100" y="1389888"/>
            <a:ext cx="15201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本部 事業承継支援室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相談を受けた企業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075170" y="1325880"/>
            <a:ext cx="170307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66610" y="1389888"/>
            <a:ext cx="15201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部長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2057400"/>
            <a:ext cx="0" cy="256032"/>
          </a:xfrm>
          <a:prstGeom prst="line">
            <a:avLst/>
          </a:prstGeom>
          <a:noFill/>
          <a:ln w="25400">
            <a:solidFill>
              <a:srgbClr val="2F5D8A"/>
            </a:solidFill>
            <a:prstDash val="solid"/>
            <a:headEnd type="triangl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1188720" y="208483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5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見る・日報を書く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31720"/>
            <a:ext cx="8412480" cy="1024128"/>
          </a:xfrm>
          <a:prstGeom prst="roundRect">
            <a:avLst>
              <a:gd name="adj" fmla="val 7143"/>
            </a:avLst>
          </a:prstGeom>
          <a:solidFill>
            <a:srgbClr val="EEF0F3"/>
          </a:solidFill>
          <a:ln w="15875">
            <a:solidFill>
              <a:srgbClr val="5B6B7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2423160"/>
            <a:ext cx="1051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SFA を模した 5 画面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691640" y="2423160"/>
            <a:ext cx="13441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783080" y="2487168"/>
            <a:ext cx="1161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取引先（訪問前）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予兆と根拠・次の世代につなぎたいもの・会話のヒント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27248" y="2423160"/>
            <a:ext cx="13441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18688" y="2487168"/>
            <a:ext cx="1161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日報（訪問後）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業務報告＋音声・AI で整える・下書き → 反応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62856" y="2423160"/>
            <a:ext cx="13441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54296" y="2487168"/>
            <a:ext cx="1161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対話の状況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支店長向け。点数ではなく段階で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98464" y="2423160"/>
            <a:ext cx="13441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89904" y="2487168"/>
            <a:ext cx="1161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本部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相談・くり返し出ている話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34072" y="2423160"/>
            <a:ext cx="1344168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25512" y="2487168"/>
            <a:ext cx="1161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評価・監査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パイロットのアンケート集計・監査ログ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005840" y="3355848"/>
            <a:ext cx="0" cy="256032"/>
          </a:xfrm>
          <a:prstGeom prst="line">
            <a:avLst/>
          </a:prstGeom>
          <a:noFill/>
          <a:ln w="25400">
            <a:solidFill>
              <a:srgbClr val="2F5D8A"/>
            </a:solidFill>
            <a:prstDash val="solid"/>
            <a:headEnd type="triangle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1188720" y="338328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5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日報を登録する ／ 反応を返す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630168"/>
            <a:ext cx="8412480" cy="1572768"/>
          </a:xfrm>
          <a:prstGeom prst="roundRect">
            <a:avLst>
              <a:gd name="adj" fmla="val 4651"/>
            </a:avLst>
          </a:prstGeom>
          <a:solidFill>
            <a:srgbClr val="E4EDF6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66928" y="3721608"/>
            <a:ext cx="1051560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処理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tsumugu.py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設定は rules.json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91640" y="3721608"/>
            <a:ext cx="4057193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783080" y="3785616"/>
            <a:ext cx="38743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反応層（日報 1 件ごと）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抽出 → ③ 照合 → ④ 判定 → ⑤ 検索 → ⑥ 人軸 → ⑦ 次の一手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②④⑦ は LLM を使える。キーが無ければ辞書・if 文・定型文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40273" y="3721608"/>
            <a:ext cx="2937967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31713" y="3785616"/>
            <a:ext cx="27550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ナレッジ層（手動で回す）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⓪ 収集 crawler.py → 貯める → 索引 ranking.py（TF-IDF）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691640" y="4453128"/>
            <a:ext cx="4057193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783080" y="4517136"/>
            <a:ext cx="38743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訪問前のまとめ（取引先を開いたとき）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 36 か月の予兆の一覧、次の世代につなぎたいもの（雇用・取引・技術と担い手）、会話のヒント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40273" y="4453128"/>
            <a:ext cx="2937967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31713" y="4517136"/>
            <a:ext cx="275508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日報の入力補助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音声の文字起こし、言いよどみを除いた整理案、下書きの保存と読み込み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05840" y="5202936"/>
            <a:ext cx="0" cy="256032"/>
          </a:xfrm>
          <a:prstGeom prst="line">
            <a:avLst/>
          </a:prstGeom>
          <a:noFill/>
          <a:ln w="25400">
            <a:solidFill>
              <a:srgbClr val="2F5D8A"/>
            </a:solidFill>
            <a:prstDash val="solid"/>
            <a:headEnd type="triangle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1188720" y="523036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F5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読む・書く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5477256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BF1DC"/>
          </a:solidFill>
          <a:ln w="15875">
            <a:solidFill>
              <a:srgbClr val="B8791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6928" y="5568696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SQLite 1 ファイル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data/tsumugu.db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691640" y="5568696"/>
            <a:ext cx="134416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783080" y="5632704"/>
            <a:ext cx="11612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行内データ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companies contacts staff assignments consultations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127248" y="5568696"/>
            <a:ext cx="134416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218688" y="5632704"/>
            <a:ext cx="11612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posts post_tags post_drafts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62856" y="5568696"/>
            <a:ext cx="134416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654296" y="5632704"/>
            <a:ext cx="11612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knowledge sources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998464" y="5568696"/>
            <a:ext cx="134416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089904" y="5632704"/>
            <a:ext cx="11612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判定と反応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signals candidate_tags feedback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434072" y="5568696"/>
            <a:ext cx="1344168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D8D9D3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525512" y="5632704"/>
            <a:ext cx="11612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監査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audit_logs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645566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公開：非公開の GitHub リポジトリ nonsmoker-code/tsumugu-pilot-sketch → Streamlit Community Cloud（main にマージすると反映）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144000" y="1234440"/>
            <a:ext cx="258775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B8791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253728" y="1307592"/>
            <a:ext cx="2368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B8791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最初に 1 回 取り込む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合成データ（架空）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 社・日報 79 件・行員 10 人・社内ナレッジ 24 件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convert_source_data.py → data.json → DB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9144000" y="2532888"/>
            <a:ext cx="2587752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9253728" y="2606040"/>
            <a:ext cx="2368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F5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⓪ 収集で取りに行く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公的なサイト 9 ページ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中小機構（支援制度・手引き）7、国税庁（事業承継税制）2。外部の事例記事は集めない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144000" y="3831336"/>
            <a:ext cx="2587752" cy="1188720"/>
          </a:xfrm>
          <a:prstGeom prst="roundRect">
            <a:avLst>
              <a:gd name="adj" fmla="val 6154"/>
            </a:avLst>
          </a:prstGeom>
          <a:solidFill>
            <a:srgbClr val="E0F2EE"/>
          </a:solidFill>
          <a:ln w="15875">
            <a:solidFill>
              <a:srgbClr val="2A8577"/>
            </a:solidFill>
            <a:prstDash val="dash"/>
          </a:ln>
        </p:spPr>
      </p:sp>
      <p:sp>
        <p:nvSpPr>
          <p:cNvPr id="61" name="Text 59"/>
          <p:cNvSpPr txBox="1"/>
          <p:nvPr/>
        </p:nvSpPr>
        <p:spPr>
          <a:xfrm>
            <a:off x="9253728" y="3904488"/>
            <a:ext cx="2368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2A8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任意（キーがあるときだけ）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LLM（OpenAI）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抽出・理由文・次の一手・技術名・文字起こし・日報の整理。キーが無ければ用意した結果で模擬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9144000" y="5129784"/>
            <a:ext cx="2587752" cy="1188720"/>
          </a:xfrm>
          <a:prstGeom prst="roundRect">
            <a:avLst>
              <a:gd name="adj" fmla="val 6154"/>
            </a:avLst>
          </a:prstGeom>
          <a:solidFill>
            <a:srgbClr val="F8E5E3"/>
          </a:solidFill>
          <a:ln w="15875">
            <a:solidFill>
              <a:srgbClr val="B5443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253728" y="5202936"/>
            <a:ext cx="236829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b="1" dirty="0">
                <a:solidFill>
                  <a:srgbClr val="B544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つながない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融資・格付け・人事評価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判定の結果を流さない。記録を評価に使わない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日報 1 件が登録されたとき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tsumugu.run() の順番どおり。緑は LLM を使える工程（キーが無くても動く）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07415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ツムグ 全体構成図（パイロット版）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500922" cy="2514600"/>
          </a:xfrm>
          <a:prstGeom prst="roundRect">
            <a:avLst>
              <a:gd name="adj" fmla="val 4874"/>
            </a:avLst>
          </a:prstGeom>
          <a:solidFill>
            <a:srgbClr val="E4EDF6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53896"/>
            <a:ext cx="384048" cy="384048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481328"/>
            <a:ext cx="860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1984248"/>
            <a:ext cx="1281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日報を記録に加える。同じ内容の二重登録は除き、下書きは消す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" y="3337560"/>
            <a:ext cx="1281466" cy="0"/>
          </a:xfrm>
          <a:prstGeom prst="line">
            <a:avLst/>
          </a:prstGeom>
          <a:noFill/>
          <a:ln w="9525">
            <a:solidFill>
              <a:srgbClr val="D8D9D3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566928" y="3410712"/>
            <a:ext cx="1281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posts ／ 監査ログ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86138" y="1325880"/>
            <a:ext cx="1500922" cy="2514600"/>
          </a:xfrm>
          <a:prstGeom prst="roundRect">
            <a:avLst>
              <a:gd name="adj" fmla="val 4874"/>
            </a:avLst>
          </a:prstGeom>
          <a:solidFill>
            <a:srgbClr val="E0F2EE"/>
          </a:solidFill>
          <a:ln w="15875">
            <a:solidFill>
              <a:srgbClr val="2A8577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195866" y="1453896"/>
            <a:ext cx="384048" cy="384048"/>
          </a:xfrm>
          <a:prstGeom prst="ellipse">
            <a:avLst/>
          </a:prstGeom>
          <a:solidFill>
            <a:srgbClr val="2A8577"/>
          </a:solidFill>
          <a:ln w="12700">
            <a:solidFill>
              <a:srgbClr val="2A857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95866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653066" y="1481328"/>
            <a:ext cx="860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抽出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195866" y="1984248"/>
            <a:ext cx="1281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文から予兆の言い回しを拾う。「らしい」など伝え聞きは「未確認」の印を付ける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95866" y="3337560"/>
            <a:ext cx="1281466" cy="0"/>
          </a:xfrm>
          <a:prstGeom prst="line">
            <a:avLst/>
          </a:prstGeom>
          <a:noFill/>
          <a:ln w="9525">
            <a:solidFill>
              <a:srgbClr val="D8D9D3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2195866" y="3410712"/>
            <a:ext cx="1281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言い回し辞書（LLM 任意）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15077" y="1325880"/>
            <a:ext cx="1500922" cy="2514600"/>
          </a:xfrm>
          <a:prstGeom prst="roundRect">
            <a:avLst>
              <a:gd name="adj" fmla="val 4874"/>
            </a:avLst>
          </a:prstGeom>
          <a:solidFill>
            <a:srgbClr val="E4EDF6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24805" y="1453896"/>
            <a:ext cx="384048" cy="384048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24805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82005" y="1481328"/>
            <a:ext cx="860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照合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824805" y="1984248"/>
            <a:ext cx="1281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 36 か月の記録と担当交代を並べ、予兆ごとに いつ・誰が・何回 をまとめる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24805" y="3337560"/>
            <a:ext cx="1281466" cy="0"/>
          </a:xfrm>
          <a:prstGeom prst="line">
            <a:avLst/>
          </a:prstGeom>
          <a:noFill/>
          <a:ln w="9525">
            <a:solidFill>
              <a:srgbClr val="D8D9D3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3824805" y="3410712"/>
            <a:ext cx="1281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pandas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344015" y="1325880"/>
            <a:ext cx="1500922" cy="2514600"/>
          </a:xfrm>
          <a:prstGeom prst="roundRect">
            <a:avLst>
              <a:gd name="adj" fmla="val 4874"/>
            </a:avLst>
          </a:prstGeom>
          <a:solidFill>
            <a:srgbClr val="E0F2EE"/>
          </a:solidFill>
          <a:ln w="15875">
            <a:solidFill>
              <a:srgbClr val="2A8577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5453743" y="1453896"/>
            <a:ext cx="384048" cy="384048"/>
          </a:xfrm>
          <a:prstGeom prst="ellipse">
            <a:avLst/>
          </a:prstGeom>
          <a:solidFill>
            <a:srgbClr val="2A8577"/>
          </a:solidFill>
          <a:ln w="12700">
            <a:solidFill>
              <a:srgbClr val="2A857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53743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910943" y="1481328"/>
            <a:ext cx="860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53743" y="1984248"/>
            <a:ext cx="1281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種類の違う予兆が 3 つ以上重なり、うち 2 系統が直近 12 か月に出たときだけ知らせる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53743" y="3337560"/>
            <a:ext cx="1281466" cy="0"/>
          </a:xfrm>
          <a:prstGeom prst="line">
            <a:avLst/>
          </a:prstGeom>
          <a:noFill/>
          <a:ln w="9525">
            <a:solidFill>
              <a:srgbClr val="D8D9D3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5453743" y="3410712"/>
            <a:ext cx="1281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 文（理由文は LLM 任意）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72953" y="1325880"/>
            <a:ext cx="1500922" cy="2514600"/>
          </a:xfrm>
          <a:prstGeom prst="roundRect">
            <a:avLst>
              <a:gd name="adj" fmla="val 4874"/>
            </a:avLst>
          </a:prstGeom>
          <a:solidFill>
            <a:srgbClr val="E4EDF6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82681" y="1453896"/>
            <a:ext cx="384048" cy="384048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82681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539881" y="1481328"/>
            <a:ext cx="860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検索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082681" y="1984248"/>
            <a:ext cx="1281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社内の支援事例、現場の知恵、公的な支援制度・法令から近いものを選ぶ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082681" y="3337560"/>
            <a:ext cx="1281466" cy="0"/>
          </a:xfrm>
          <a:prstGeom prst="line">
            <a:avLst/>
          </a:prstGeom>
          <a:noFill/>
          <a:ln w="9525">
            <a:solidFill>
              <a:srgbClr val="D8D9D3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7082681" y="3410712"/>
            <a:ext cx="1281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ranking.py（TF-IDF）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601891" y="1325880"/>
            <a:ext cx="1500922" cy="2514600"/>
          </a:xfrm>
          <a:prstGeom prst="roundRect">
            <a:avLst>
              <a:gd name="adj" fmla="val 4874"/>
            </a:avLst>
          </a:prstGeom>
          <a:solidFill>
            <a:srgbClr val="E4EDF6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11619" y="1453896"/>
            <a:ext cx="384048" cy="384048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711619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168819" y="1481328"/>
            <a:ext cx="860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人軸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8711619" y="1984248"/>
            <a:ext cx="1281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前任者・似た事例の担当者・相談を受けた人。外部の専門家は種類と行内の窓口だけ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8711619" y="3337560"/>
            <a:ext cx="1281466" cy="0"/>
          </a:xfrm>
          <a:prstGeom prst="line">
            <a:avLst/>
          </a:prstGeom>
          <a:noFill/>
          <a:ln w="9525">
            <a:solidFill>
              <a:srgbClr val="D8D9D3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8711619" y="3410712"/>
            <a:ext cx="1281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担当履歴・相談記録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0230830" y="1325880"/>
            <a:ext cx="1500922" cy="2514600"/>
          </a:xfrm>
          <a:prstGeom prst="roundRect">
            <a:avLst>
              <a:gd name="adj" fmla="val 4874"/>
            </a:avLst>
          </a:prstGeom>
          <a:solidFill>
            <a:srgbClr val="E0F2EE"/>
          </a:solidFill>
          <a:ln w="15875">
            <a:solidFill>
              <a:srgbClr val="2A8577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0340558" y="1453896"/>
            <a:ext cx="384048" cy="384048"/>
          </a:xfrm>
          <a:prstGeom prst="ellipse">
            <a:avLst/>
          </a:prstGeom>
          <a:solidFill>
            <a:srgbClr val="2A8577"/>
          </a:solidFill>
          <a:ln w="12700">
            <a:solidFill>
              <a:srgbClr val="2A8577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340558" y="1453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10797758" y="1481328"/>
            <a:ext cx="8608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次の一手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10340558" y="1984248"/>
            <a:ext cx="128146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お客さまに確かめる会話のヒントと、行内での準備を作る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10340558" y="3337560"/>
            <a:ext cx="1281466" cy="0"/>
          </a:xfrm>
          <a:prstGeom prst="line">
            <a:avLst/>
          </a:prstGeom>
          <a:noFill/>
          <a:ln w="9525">
            <a:solidFill>
              <a:srgbClr val="D8D9D3"/>
            </a:solidFill>
            <a:prstDash val="dash"/>
          </a:ln>
        </p:spPr>
      </p:sp>
      <p:sp>
        <p:nvSpPr>
          <p:cNvPr id="53" name="Text 51"/>
          <p:cNvSpPr txBox="1"/>
          <p:nvPr/>
        </p:nvSpPr>
        <p:spPr>
          <a:xfrm>
            <a:off x="10340558" y="3410712"/>
            <a:ext cx="12814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定型文（LLM 任意）</a:t>
            </a:r>
            <a:endParaRPr lang="en-US" sz="8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D8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担当者に返る反応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57200" y="4480560"/>
            <a:ext cx="21524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48640" y="4544568"/>
            <a:ext cx="196961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判定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状態・次の世代につなぎたいもの・理由・重なった予兆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737714" y="4480560"/>
            <a:ext cx="21524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829154" y="4544568"/>
            <a:ext cx="196961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次にすること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会話のヒント・行内での準備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018227" y="4480560"/>
            <a:ext cx="21524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109667" y="4544568"/>
            <a:ext cx="196961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相談する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直接相談する／上司に相談する・そのほかの相談先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298741" y="4480560"/>
            <a:ext cx="21524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2F5D8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390181" y="4544568"/>
            <a:ext cx="196961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参考にする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社内の支援事例・現場の知恵・公的な支援制度・法令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579254" y="4480560"/>
            <a:ext cx="215249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7A4EA3"/>
            </a:solidFill>
            <a:prstDash val="dash"/>
          </a:ln>
        </p:spPr>
      </p:sp>
      <p:sp>
        <p:nvSpPr>
          <p:cNvPr id="64" name="Text 62"/>
          <p:cNvSpPr txBox="1"/>
          <p:nvPr/>
        </p:nvSpPr>
        <p:spPr>
          <a:xfrm>
            <a:off x="9670694" y="4544568"/>
            <a:ext cx="196961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パイロット用アンケート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対話を始めた／本部に相談した／案件になった／今回は見送り → feedback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反応の 4 段階：1 予兆は出ていません ／ 2 過去に関連する記録があります ／ 3 これまでにない変化が続いています（担当者には「くり返し出ている話」）／ 4 支援の検討が必要かもしれません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ファイルの役割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 nonsmoker-code/tsumugu-pilot-sketch の中身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07415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ツムグ 全体構成図（パイロット版）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696712"/>
                <a:gridCol w="2560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B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ファイル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B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役割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B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使うもの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app.py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画面。役割ごとの 5 画面、デモ ①〜⑦、日報の入力補助、反応の表示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Streamlit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tsumugu.py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処理の本体。②〜⑦、訪問前のまとめ、次の世代につなぎたいもの、文字起こし・整理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pandas ／ OpenAI（任意）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ranking.py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ナレッジの検索エンジン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scikit-learn（TF-IDF）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crawler.py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公的なサイトを取りに行き、ナレッジの行にする。生 HTML は data/raw/ に保存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requests ／ BeautifulSoup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database.py ／ schema.sql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DB の作成・取り込み・読み書き・監査ログ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SQLite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rules.json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予兆の定義と言い回し、発火の条件、反応の言葉、収集先、使ってはいけない言葉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設定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data.json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DB に入れる行内データ（合成データから変換）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docs/knowhow.json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現場の知恵 12 件（社内チャットから集める想定の手書き版）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データ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docs/value_extractions.json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docs/voice_samples.json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LLM が無いときに使う、用意した結果（技術名と担い手、文字起こしと整理）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LLM の模擬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tests/test_tsumugu.py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抽出・判定・検索などのテスト 24 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pytest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パイロット版と本番の違い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本番は 2_ アーキテクチャ・1_ 設計書の想定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8074152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ツムグ 全体構成図（パイロット版）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57881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B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項目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B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パイロット版（いま）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B5568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本番の想定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画面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Streamlit で SFA を模した画面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Salesforce の中にツムグの表示領域を持つ。日報の書き方はこれまで通り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ログイン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サイドバーで行員を選ぶ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SFA のログインと権限をそのまま使う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行内データ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架空の合成データ（10 社）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SFA の日報・顧客マスタ、行員・担当履歴、案件記録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AI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キーが無ければ用意した結果で模擬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LLM で抽出・文字起こし・整理（日報の下書きは SFA の既製機能）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現場の知恵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手で用意した 12 件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社内チャットの決まったチャンネルから夜間に取り込む（Q-07）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公開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Streamlit Community Cloud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637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行内の環境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9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03520"/>
            <a:ext cx="3636264" cy="1051560"/>
          </a:xfrm>
          <a:prstGeom prst="roundRect">
            <a:avLst>
              <a:gd name="adj" fmla="val 6957"/>
            </a:avLst>
          </a:prstGeom>
          <a:solidFill>
            <a:srgbClr val="F8E5E3"/>
          </a:solidFill>
          <a:ln w="15875">
            <a:solidFill>
              <a:srgbClr val="B544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367528"/>
            <a:ext cx="34533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融資・与信とつながない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判定の結果を与信のシステムに流さない。点数やランキングを付けない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76344" y="5303520"/>
            <a:ext cx="3636264" cy="1051560"/>
          </a:xfrm>
          <a:prstGeom prst="roundRect">
            <a:avLst>
              <a:gd name="adj" fmla="val 6957"/>
            </a:avLst>
          </a:prstGeom>
          <a:solidFill>
            <a:srgbClr val="F8E5E3"/>
          </a:solidFill>
          <a:ln w="15875">
            <a:solidFill>
              <a:srgbClr val="B544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67784" y="5367528"/>
            <a:ext cx="34533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人事評価に使わない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日報の記録やツムグの反応を、書いた人の評価に使わない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095488" y="5303520"/>
            <a:ext cx="3636264" cy="1051560"/>
          </a:xfrm>
          <a:prstGeom prst="roundRect">
            <a:avLst>
              <a:gd name="adj" fmla="val 6957"/>
            </a:avLst>
          </a:prstGeom>
          <a:solidFill>
            <a:srgbClr val="F8E5E3"/>
          </a:solidFill>
          <a:ln w="15875">
            <a:solidFill>
              <a:srgbClr val="B544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6928" y="5367528"/>
            <a:ext cx="345338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63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すべて記録する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556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閲覧・検索・相談を監査ログに残し、目的外の利用を後から確かめられる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44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ツムグがしない約束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ツムグ 全体構成図（パイロット版）</dc:title>
  <dc:subject>PptxGenJS Presentation</dc:subject>
  <dc:creator>PptxGenJS</dc:creator>
  <cp:lastModifiedBy>PptxGenJS</cp:lastModifiedBy>
  <cp:revision>1</cp:revision>
  <dcterms:created xsi:type="dcterms:W3CDTF">2026-09-30T15:49:09Z</dcterms:created>
  <dcterms:modified xsi:type="dcterms:W3CDTF">2026-09-30T15:49:09Z</dcterms:modified>
</cp:coreProperties>
</file>